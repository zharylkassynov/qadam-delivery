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a015aa657149bc" /><Relationship Type="http://schemas.openxmlformats.org/officeDocument/2006/relationships/extended-properties" Target="/docProps/app.xml" Id="R29a12629fd654875" /><Relationship Type="http://schemas.openxmlformats.org/officeDocument/2006/relationships/officeDocument" Target="/ppt/presentation.xml" Id="Ra7870af600fb4263" /></Relationships>
</file>

<file path=ppt/presentation.xml><?xml version="1.0" encoding="utf-8"?>
<p:presentation xmlns:p="http://schemas.openxmlformats.org/presentationml/2006/main">
  <p:sldMasterIdLst>
    <p:sldMasterId xmlns:r="http://schemas.openxmlformats.org/officeDocument/2006/relationships" id="2147483648" r:id="Rc4fad8f6f4b8439c"/>
  </p:sldMasterIdLst>
  <p:notesMasterIdLst>
    <p:notesMasterId xmlns:r="http://schemas.openxmlformats.org/officeDocument/2006/relationships" r:id="Rf34b15a747eb453f"/>
  </p:notesMasterIdLst>
  <p:sldIdLst>
    <p:sldId xmlns:r="http://schemas.openxmlformats.org/officeDocument/2006/relationships" id="256" r:id="R9ba85b75cc8b4e0f"/>
    <p:sldId xmlns:r="http://schemas.openxmlformats.org/officeDocument/2006/relationships" id="257" r:id="R74108ccdcc0e411e"/>
    <p:sldId xmlns:r="http://schemas.openxmlformats.org/officeDocument/2006/relationships" id="258" r:id="R84c8b6f873a945e9"/>
    <p:sldId xmlns:r="http://schemas.openxmlformats.org/officeDocument/2006/relationships" id="259" r:id="R03013e09cc39418c"/>
    <p:sldId xmlns:r="http://schemas.openxmlformats.org/officeDocument/2006/relationships" id="260" r:id="Raf8eb388ec1f48c2"/>
    <p:sldId xmlns:r="http://schemas.openxmlformats.org/officeDocument/2006/relationships" id="261" r:id="Rcaa535589f344fe2"/>
    <p:sldId xmlns:r="http://schemas.openxmlformats.org/officeDocument/2006/relationships" id="262" r:id="Re213df43d5c0450e"/>
    <p:sldId xmlns:r="http://schemas.openxmlformats.org/officeDocument/2006/relationships" id="263" r:id="Re73b1ca5eb4944a2"/>
    <p:sldId xmlns:r="http://schemas.openxmlformats.org/officeDocument/2006/relationships" id="264" r:id="Rf739aa0694c3463f"/>
    <p:sldId xmlns:r="http://schemas.openxmlformats.org/officeDocument/2006/relationships" id="265" r:id="Ree3490703a7d46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f93fa65e198473b" /><Relationship Type="http://schemas.openxmlformats.org/officeDocument/2006/relationships/slideMaster" Target="/ppt/slideMasters/slideMaster1.xml" Id="Rc4fad8f6f4b8439c" /><Relationship Type="http://schemas.openxmlformats.org/officeDocument/2006/relationships/notesMaster" Target="/ppt/notesMasters/notesMaster1.xml" Id="Rf34b15a747eb453f" /><Relationship Type="http://schemas.openxmlformats.org/officeDocument/2006/relationships/presProps" Target="/ppt/presProps.xml" Id="Ra3352c1fe2d644c9" /><Relationship Type="http://schemas.openxmlformats.org/officeDocument/2006/relationships/tableStyles" Target="/ppt/tableStyles.xml" Id="R0ece8ff632b9477b" /><Relationship Type="http://schemas.openxmlformats.org/officeDocument/2006/relationships/slide" Target="/ppt/slides/slide1.xml" Id="R9ba85b75cc8b4e0f" /><Relationship Type="http://schemas.openxmlformats.org/officeDocument/2006/relationships/slide" Target="/ppt/slides/slide2.xml" Id="R74108ccdcc0e411e" /><Relationship Type="http://schemas.openxmlformats.org/officeDocument/2006/relationships/slide" Target="/ppt/slides/slide3.xml" Id="R84c8b6f873a945e9" /><Relationship Type="http://schemas.openxmlformats.org/officeDocument/2006/relationships/slide" Target="/ppt/slides/slide4.xml" Id="R03013e09cc39418c" /><Relationship Type="http://schemas.openxmlformats.org/officeDocument/2006/relationships/slide" Target="/ppt/slides/slide5.xml" Id="Raf8eb388ec1f48c2" /><Relationship Type="http://schemas.openxmlformats.org/officeDocument/2006/relationships/slide" Target="/ppt/slides/slide6.xml" Id="Rcaa535589f344fe2" /><Relationship Type="http://schemas.openxmlformats.org/officeDocument/2006/relationships/slide" Target="/ppt/slides/slide7.xml" Id="Re213df43d5c0450e" /><Relationship Type="http://schemas.openxmlformats.org/officeDocument/2006/relationships/slide" Target="/ppt/slides/slide8.xml" Id="Re73b1ca5eb4944a2" /><Relationship Type="http://schemas.openxmlformats.org/officeDocument/2006/relationships/slide" Target="/ppt/slides/slide9.xml" Id="Rf739aa0694c3463f" /><Relationship Type="http://schemas.openxmlformats.org/officeDocument/2006/relationships/slide" Target="/ppt/slides/slide10.xml" Id="Ree3490703a7d46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baa006fda04b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02b6951b184351" /><Relationship Type="http://schemas.openxmlformats.org/officeDocument/2006/relationships/notesMaster" Target="/ppt/notesMasters/notesMaster1.xml" Id="Rc5e00478582f4a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a356bf7cb6434c" /><Relationship Type="http://schemas.openxmlformats.org/officeDocument/2006/relationships/notesMaster" Target="/ppt/notesMasters/notesMaster1.xml" Id="R3d067203a1f640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24f025c96b43c7" /><Relationship Type="http://schemas.openxmlformats.org/officeDocument/2006/relationships/notesMaster" Target="/ppt/notesMasters/notesMaster1.xml" Id="Ree8ebc543769436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456d06efd840d1" /><Relationship Type="http://schemas.openxmlformats.org/officeDocument/2006/relationships/notesMaster" Target="/ppt/notesMasters/notesMaster1.xml" Id="R9bb2e8e6589a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8d37f80025644ad" /><Relationship Type="http://schemas.openxmlformats.org/officeDocument/2006/relationships/notesMaster" Target="/ppt/notesMasters/notesMaster1.xml" Id="R52c6fb277d6249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c20b71c241f4978" /><Relationship Type="http://schemas.openxmlformats.org/officeDocument/2006/relationships/notesMaster" Target="/ppt/notesMasters/notesMaster1.xml" Id="R431689b628a546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ff35c9e684404c" /><Relationship Type="http://schemas.openxmlformats.org/officeDocument/2006/relationships/notesMaster" Target="/ppt/notesMasters/notesMaster1.xml" Id="R931893ad071e43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f3c51989b1b4119" /><Relationship Type="http://schemas.openxmlformats.org/officeDocument/2006/relationships/notesMaster" Target="/ppt/notesMasters/notesMaster1.xml" Id="Ra683eb3b1e6b4a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b9b300cc3e4b6a" /><Relationship Type="http://schemas.openxmlformats.org/officeDocument/2006/relationships/notesMaster" Target="/ppt/notesMasters/notesMaster1.xml" Id="R885c082093504c5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87dbdcc99f4f85" /><Relationship Type="http://schemas.openxmlformats.org/officeDocument/2006/relationships/notesMaster" Target="/ppt/notesMasters/notesMaster1.xml" Id="Rc4373aeb13154f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We are presenting Qadam Delivery, a local delivery platform designed mainly as a Telegram Mini App. Our initial business focus is small shops in Almaty. Our primary research so far has focused on couriers. We interviewed approximately eight to ten couriers and registered couriers on our platform. Today, we will explain what this early evidence shows, introduce our market assumptions, and describe the next tests needed before scaling.</a:t>
            </a:r>
          </a:p>
          <a:p xmlns:a="http://schemas.openxmlformats.org/drawingml/2006/main">
            <a:r>
              <a:t/>
            </a:r>
          </a:p>
          <a:p xmlns:a="http://schemas.openxmlformats.org/drawingml/2006/main">
            <a:r>
              <a:t>Sources and evidence status:</a:t>
            </a:r>
          </a:p>
          <a:p xmlns:a="http://schemas.openxmlformats.org/drawingml/2006/main">
            <a:r>
              <a:t>PROJECT_BRIEF.md; README.md. Interview and registration facts: project team, approximately 8–10 couriers, reported 23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target paying customer is a small shop owner or administrator who arranges delivery to a buyer. We initially consider flower shops, gift shops, and small sellers using social media. Our hypothesis is that coordinating deliveries takes time. For example, forty monthly deliveries at ten minutes of coordination each would require about six point seven hours. These are working assumptions. We still need customer interviews and measurements to establish how serious this problem is for businesses.</a:t>
            </a:r>
          </a:p>
          <a:p xmlns:a="http://schemas.openxmlformats.org/drawingml/2006/main">
            <a:r>
              <a:t/>
            </a:r>
          </a:p>
          <a:p xmlns:a="http://schemas.openxmlformats.org/drawingml/2006/main">
            <a:r>
              <a:t>Sources and evidence status:</a:t>
            </a:r>
          </a:p>
          <a:p xmlns:a="http://schemas.openxmlformats.org/drawingml/2006/main">
            <a:r>
              <a:t>PROJECT_BRIEF.md. Coordination time and order frequency are illustrative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started with the courier side of the platform. We interviewed approximately eight to ten couriers and registered couriers on Qadam. This gave us direct contact with potential delivery partners and an initial group to involve in testing. Our sample size is approximate. For the next research round, we will apply The Mom Test principles by asking about specific past deliveries, actual payouts, travel costs, and rejected orders. These follow-up questions will help us turn conversations into more detailed evidence.</a:t>
            </a:r>
          </a:p>
          <a:p xmlns:a="http://schemas.openxmlformats.org/drawingml/2006/main">
            <a:r>
              <a:t/>
            </a:r>
          </a:p>
          <a:p xmlns:a="http://schemas.openxmlformats.org/drawingml/2006/main">
            <a:r>
              <a:t>Sources and evidence status:</a:t>
            </a:r>
          </a:p>
          <a:p xmlns:a="http://schemas.openxmlformats.org/drawingml/2006/main">
            <a:r>
              <a:t>Project team: approximately 8–10 couriers interviewed and courier registration completed. Follow-up method: https://www.momtestbook.com/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strongest evidence at this stage is that courier interviews took place and that we registered couriers on the platform. Registration gives us an initial group to invite into operational testing. Our next task is to observe actual behavior: when couriers are available, whether they accept suitable orders, and whether they return after their first delivery. Customer demand also needs separate research. We have not interviewed businesses yet, so willingness to pay and order frequency remain open questions.</a:t>
            </a:r>
          </a:p>
          <a:p xmlns:a="http://schemas.openxmlformats.org/drawingml/2006/main">
            <a:r>
              <a:t/>
            </a:r>
          </a:p>
          <a:p xmlns:a="http://schemas.openxmlformats.org/drawingml/2006/main">
            <a:r>
              <a:t>Sources and evidence status:</a:t>
            </a:r>
          </a:p>
          <a:p xmlns:a="http://schemas.openxmlformats.org/drawingml/2006/main">
            <a:r>
              <a:t>Project team report. No interview quotations or quantified themes are available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market context, we used official data from Kazakhstan’s Bureau of National Statistics. Retail e-commerce turnover increased from approximately one point nine six trillion tenge in 2022 to three point seven seven trillion in 2025. The compound annual growth rate is about twenty-four point three percent over three years. This calculation measures nominal goods turnover. It provides context for delivery needs, while the growth rate of courier services and demand for Qadam require separate analysis.</a:t>
            </a:r>
          </a:p>
          <a:p xmlns:a="http://schemas.openxmlformats.org/drawingml/2006/main">
            <a:r>
              <a:t/>
            </a:r>
          </a:p>
          <a:p xmlns:a="http://schemas.openxmlformats.org/drawingml/2006/main">
            <a:r>
              <a:t>Sources and evidence status:</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MVP provides a practical workflow for the next tests. A customer creates a delivery request, a courier accepts it, and the courier updates its status through completion. The platform stores orders and restores their history after reopening. The current interface uses Russian, which suits our initial local demo. The business pilot can use the existing customer workflow. Location updates require an open application and permission, so the map shows the courier’s last reported position and its update time.</a:t>
            </a:r>
          </a:p>
          <a:p xmlns:a="http://schemas.openxmlformats.org/drawingml/2006/main">
            <a:r>
              <a:t/>
            </a:r>
          </a:p>
          <a:p xmlns:a="http://schemas.openxmlformats.org/drawingml/2006/main">
            <a:r>
              <a:t>Sources and evidence status:</a:t>
            </a:r>
          </a:p>
          <a:p xmlns:a="http://schemas.openxmlformats.org/drawingml/2006/main">
            <a:r>
              <a:t>README.md; PROJECT_BRIEF.md. Actual product screenshot: https://qadam-delivery.vercel.app/, 23 October 2026. Map attribution: Geoapify, OpenMapTiles and OpenStreetMap.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penetration describes how many target customers already use digital delivery alternatives. The official fourteen point three percent figure measures online sales within national retail turnover. We need a different measure for Qadam: the share of eligible businesses using a digital delivery service. We would divide that number by all surveyed businesses in the target segment. Since our interviews covered couriers only, we cannot calculate this business-side rate yet. Courier registration is a separate onboarding indicator.</a:t>
            </a:r>
          </a:p>
          <a:p xmlns:a="http://schemas.openxmlformats.org/drawingml/2006/main">
            <a:r>
              <a:t/>
            </a:r>
          </a:p>
          <a:p xmlns:a="http://schemas.openxmlformats.org/drawingml/2006/main">
            <a:r>
              <a:t>Sources and evidence status:</a:t>
            </a:r>
          </a:p>
          <a:p xmlns:a="http://schemas.openxmlformats.org/drawingml/2006/main">
            <a:r>
              <a:t>https://stat.gov.kz/ru/industries/economy/local-market/publications/346330/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estimated the opportunity with a bottom-up scenario. We assume ten thousand eligible businesses across Kazakhstan, fifteen hundred accessible businesses in Almaty, and an initial target of fifty active businesses within one to two years. We also assume forty deliveries per business per month and three hundred tenge in platform revenue per delivery. This gives a TAM of one point four four billion tenge, a SAM of two hundred sixteen million, and a SOM of seven point two million per year. These are assumptions about annual platform revenue before expenses.</a:t>
            </a:r>
          </a:p>
          <a:p xmlns:a="http://schemas.openxmlformats.org/drawingml/2006/main">
            <a:r>
              <a:t/>
            </a:r>
          </a:p>
          <a:p xmlns:a="http://schemas.openxmlformats.org/drawingml/2006/main">
            <a:r>
              <a:t>Sources and evidence status:</a:t>
            </a:r>
          </a:p>
          <a:p xmlns:a="http://schemas.openxmlformats.org/drawingml/2006/main">
            <a:r>
              <a:t>Illustrative bottom-up model. All eligible business counts, activity and platform revenue assumptions require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also checked how sensitive the model is to activity and pricing. With fifty businesses, the conservative scenario gives three million tenge annually, the base scenario gives seven point two million, and the high scenario gives twelve point six million. The base case requires two thousand deliveries per month. Reaching this volume will depend on customer acquisition, retention, and reliable courier availability. Our registrations provide a starting point, and operational testing will establish how much delivery capacity that group can actually provide.</a:t>
            </a:r>
          </a:p>
          <a:p xmlns:a="http://schemas.openxmlformats.org/drawingml/2006/main">
            <a:r>
              <a:t/>
            </a:r>
          </a:p>
          <a:p xmlns:a="http://schemas.openxmlformats.org/drawingml/2006/main">
            <a:r>
              <a:t>Sources and evidence status:</a:t>
            </a:r>
          </a:p>
          <a:p xmlns:a="http://schemas.openxmlformats.org/drawingml/2006/main">
            <a:r>
              <a:t>Illustrative sensitivity and acquisition scenarios. No claimed sales forecast or measured courier capacity.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proposed step is a four-week pilot with five businesses and registered couriers, aiming for fifty completed deliveries. We will track paid participation, repeat orders, coordination time, and deliveries completed within an agreed window. We will also calculate contribution after variable costs. Our early progress is direct contact with couriers and registration on Qadam. The next stage will connect that supply to real customer orders and test whether the service creates enough value for both sides. Thank you. We are ready for your questions.</a:t>
            </a:r>
          </a:p>
          <a:p xmlns:a="http://schemas.openxmlformats.org/drawingml/2006/main">
            <a:r>
              <a:t/>
            </a:r>
          </a:p>
          <a:p xmlns:a="http://schemas.openxmlformats.org/drawingml/2006/main">
            <a:r>
              <a:t>Sources and evidence status:</a:t>
            </a:r>
          </a:p>
          <a:p xmlns:a="http://schemas.openxmlformats.org/drawingml/2006/main">
            <a:r>
              <a:t>Proposed pilot design and success thresholds. These are future targets, not completed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67049434434b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e409eeb646e4b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12d069b0ea84dc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c5a642fc8df49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525501141d248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a76a9940d943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1B0A03-6181-46E8-9017-7BC988792E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49DDDE-ACF6-4453-AF73-108E069CDD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816CEEE-5D06-4E51-93E0-F43111AE266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7A9DE-C1FB-4EA5-B650-0A9A912E7DC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899FC62-0019-4DC2-8B54-000EE8AC75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F3F919-A2E2-4B79-8E2A-359B1DA6290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6ECE751-3580-47C0-A73D-693DB55306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92A48BC-B291-4056-8BE7-986C430C14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7858A8-EFB7-4C24-B828-9C87030566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DF8791-8462-4F64-A12A-4109F862BA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cca6b194694597" /><Relationship Type="http://schemas.openxmlformats.org/officeDocument/2006/relationships/slideLayout" Target="/ppt/slideLayouts/slideLayout1.xml" Id="Rcbdeaf2d4c3f4dfc" /><Relationship Type="http://schemas.openxmlformats.org/officeDocument/2006/relationships/slideLayout" Target="/ppt/slideLayouts/slideLayout2.xml" Id="R7e2874c74b6c4f1c" /><Relationship Type="http://schemas.openxmlformats.org/officeDocument/2006/relationships/slideLayout" Target="/ppt/slideLayouts/slideLayout3.xml" Id="Rccc0c854c3164bac" /><Relationship Type="http://schemas.openxmlformats.org/officeDocument/2006/relationships/slideLayout" Target="/ppt/slideLayouts/slideLayout4.xml" Id="R39a50447978f4286" /><Relationship Type="http://schemas.openxmlformats.org/officeDocument/2006/relationships/slideLayout" Target="/ppt/slideLayouts/slideLayout5.xml" Id="R8013f0f15bdf4abe" /><Relationship Type="http://schemas.openxmlformats.org/officeDocument/2006/relationships/slideLayout" Target="/ppt/slideLayouts/slideLayout6.xml" Id="Rb4556c63e50443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deaf2d4c3f4dfc"/>
    <p:sldLayoutId xmlns:r="http://schemas.openxmlformats.org/officeDocument/2006/relationships" id="2147483650" r:id="R7e2874c74b6c4f1c"/>
    <p:sldLayoutId xmlns:r="http://schemas.openxmlformats.org/officeDocument/2006/relationships" id="2147483651" r:id="Rccc0c854c3164bac"/>
    <p:sldLayoutId xmlns:r="http://schemas.openxmlformats.org/officeDocument/2006/relationships" id="2147483652" r:id="R39a50447978f4286"/>
    <p:sldLayoutId xmlns:r="http://schemas.openxmlformats.org/officeDocument/2006/relationships" id="2147483653" r:id="R8013f0f15bdf4abe"/>
    <p:sldLayoutId xmlns:r="http://schemas.openxmlformats.org/officeDocument/2006/relationships" id="2147483654" r:id="Rb4556c63e50443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6653aa5ea3d415e" /><Relationship Type="http://schemas.openxmlformats.org/officeDocument/2006/relationships/notesSlide" Target="/ppt/notesSlides/notesSlide1.xml" Id="R68b1f58d7aaf44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845e774a5604de5" /><Relationship Type="http://schemas.openxmlformats.org/officeDocument/2006/relationships/notesSlide" Target="/ppt/notesSlides/notesSlide2.xml" Id="R3104963039c1464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1b8efdf10b4f40" /><Relationship Type="http://schemas.openxmlformats.org/officeDocument/2006/relationships/notesSlide" Target="/ppt/notesSlides/notesSlide3.xml" Id="R7b6cd46e212540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c26c9adf224d77" /><Relationship Type="http://schemas.openxmlformats.org/officeDocument/2006/relationships/notesSlide" Target="/ppt/notesSlides/notesSlide4.xml" Id="R9f3624eee63e4e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cda8eb76c964dfc" /><Relationship Type="http://schemas.openxmlformats.org/officeDocument/2006/relationships/chart" Target="/ppt/slides/charts/chart1.xml" Id="Rc4facb04d13f4d7f" /><Relationship Type="http://schemas.openxmlformats.org/officeDocument/2006/relationships/notesSlide" Target="/ppt/notesSlides/notesSlide5.xml" Id="Re974ebd3336445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407842da7146ac" /><Relationship Type="http://schemas.openxmlformats.org/officeDocument/2006/relationships/image" Target="/ppt/media/image.jpeg" Id="R3f47def60df84f7d" /><Relationship Type="http://schemas.openxmlformats.org/officeDocument/2006/relationships/notesSlide" Target="/ppt/notesSlides/notesSlide6.xml" Id="Rbc963bd533cd49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8e3a2c1433e45ff" /><Relationship Type="http://schemas.openxmlformats.org/officeDocument/2006/relationships/notesSlide" Target="/ppt/notesSlides/notesSlide7.xml" Id="Rc8e0cec1effe47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cb0dad758940ec" /><Relationship Type="http://schemas.openxmlformats.org/officeDocument/2006/relationships/notesSlide" Target="/ppt/notesSlides/notesSlide8.xml" Id="Rc124f27a158243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adec66ccf64353" /><Relationship Type="http://schemas.openxmlformats.org/officeDocument/2006/relationships/notesSlide" Target="/ppt/notesSlides/notesSlide9.xml" Id="R67f11b381e18402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dda475760084982" /><Relationship Type="http://schemas.openxmlformats.org/officeDocument/2006/relationships/notesSlide" Target="/ppt/notesSlides/notesSlide10.xml" Id="R61c3a5015c4143c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Retail e-commerce</c:v>
          </c:tx>
          <c:spPr>
            <a:solidFill xmlns:a="http://schemas.openxmlformats.org/drawingml/2006/main">
              <a:srgbClr val="2855DF"/>
            </a:solidFill>
          </c:spPr>
          <c:invertIfNegative val="0"/>
          <c:cat>
            <c:numRef>
              <c:f>'Chart Data'!$A$2:$A$5</c:f>
              <c:numCache>
                <c:formatCode>General</c:formatCode>
                <c:ptCount val="4"/>
                <c:pt idx="0">
                  <c:v>2022</c:v>
                </c:pt>
                <c:pt idx="1">
                  <c:v>2023</c:v>
                </c:pt>
                <c:pt idx="2">
                  <c:v>2024</c:v>
                </c:pt>
                <c:pt idx="3">
                  <c:v>2025</c:v>
                </c:pt>
              </c:numCache>
            </c:numRef>
          </c:cat>
          <c:val>
            <c:numRef>
              <c:f>'Chart Data'!$B$2:$B$5</c:f>
              <c:numCache>
                <c:formatCode>0.00</c:formatCode>
                <c:ptCount val="4"/>
                <c:pt idx="0">
                  <c:v>1.9634932</c:v>
                </c:pt>
                <c:pt idx="1">
                  <c:v>2.4398215</c:v>
                </c:pt>
                <c:pt idx="2">
                  <c:v>3.1563722</c:v>
                </c:pt>
                <c:pt idx="3">
                  <c:v>3.7688218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3243"/>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D2DE"/>
            </a:solidFill>
          </a:ln>
        </c:spPr>
        <c:txPr>
          <a:bodyPr xmlns:a="http://schemas.openxmlformats.org/drawingml/2006/main" anchorCtr="1"/>
          <a:lstStyle xmlns:a="http://schemas.openxmlformats.org/drawingml/2006/main"/>
          <a:p xmlns:a="http://schemas.openxmlformats.org/drawingml/2006/main">
            <a:pPr>
              <a:defRPr sz="1800">
                <a:solidFill>
                  <a:srgbClr val="143243"/>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9525">
              <a:solidFill>
                <a:srgbClr val="DFE6EC"/>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86C78"/>
                </a:solidFill>
                <a:latin typeface="Arial"/>
                <a:ea typeface="Arial"/>
                <a:cs typeface="Aria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3243"/>
        </a:solidFill>
      </p:bgPr>
    </p:bg>
    <p:spTree>
      <p:nvGrpSpPr>
        <p:cNvPr id="1" name=""/>
        <p:cNvGrpSpPr/>
        <p:nvPr/>
      </p:nvGrpSpPr>
      <p:grpSpPr>
        <a:xfrm xmlns:a="http://schemas.openxmlformats.org/drawingml/2006/main"/>
      </p:grpSpPr>
      <p:sp>
        <p:nvSpPr>
          <p:cNvPr id="6" name="Qadam Delivery">
            <a:extLst xmlns:a="http://schemas.openxmlformats.org/drawingml/2006/main">
              <a:ext uri="{FF2B5EF4-FFF2-40B4-BE49-F238E27FC236}">
                <a16:creationId xmlns:a16="http://schemas.microsoft.com/office/drawing/2014/main" id="{C645F896-E6D5-42BC-A6CB-BCD076D95A71}"/>
              </a:ext>
            </a:extLst>
          </p:cNvPr>
          <p:cNvSpPr>
            <a:spLocks xmlns:a="http://schemas.openxmlformats.org/drawingml/2006/main" noGrp="1"/>
          </p:cNvSpPr>
          <p:nvPr/>
        </p:nvSpPr>
        <p:spPr>
          <a:xfrm xmlns:a="http://schemas.openxmlformats.org/drawingml/2006/main">
            <a:off x="609600" y="5905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vl1pPr algn="l">
              <a:defRPr sz="5700" b="1">
                <a:solidFill>
                  <a:srgbClr val="FFFFFF"/>
                </a:solidFill>
                <a:latin typeface="Arial"/>
                <a:ea typeface="Arial"/>
                <a:cs typeface="Arial"/>
              </a:defRPr>
            </a:lvl1pPr>
            <a:lvl2pPr algn="l">
              <a:defRPr sz="5700" b="1">
                <a:solidFill>
                  <a:srgbClr val="FFFFFF"/>
                </a:solidFill>
                <a:latin typeface="Arial"/>
                <a:ea typeface="Arial"/>
                <a:cs typeface="Arial"/>
              </a:defRPr>
            </a:lvl2pPr>
            <a:lvl3pPr algn="l">
              <a:defRPr sz="5700" b="1">
                <a:solidFill>
                  <a:srgbClr val="FFFFFF"/>
                </a:solidFill>
                <a:latin typeface="Arial"/>
                <a:ea typeface="Arial"/>
                <a:cs typeface="Arial"/>
              </a:defRPr>
            </a:lvl3pPr>
            <a:lvl4pPr algn="l">
              <a:defRPr sz="5700" b="1">
                <a:solidFill>
                  <a:srgbClr val="FFFFFF"/>
                </a:solidFill>
                <a:latin typeface="Arial"/>
                <a:ea typeface="Arial"/>
                <a:cs typeface="Arial"/>
              </a:defRPr>
            </a:lvl4pPr>
            <a:lvl5pPr algn="l">
              <a:defRPr sz="5700" b="1">
                <a:solidFill>
                  <a:srgbClr val="FFFFFF"/>
                </a:solidFill>
                <a:latin typeface="Arial"/>
                <a:ea typeface="Arial"/>
                <a:cs typeface="Arial"/>
              </a:defRPr>
            </a:lvl5pPr>
            <a:lvl6pPr algn="l">
              <a:defRPr sz="5700" b="1">
                <a:solidFill>
                  <a:srgbClr val="FFFFFF"/>
                </a:solidFill>
                <a:latin typeface="Arial"/>
                <a:ea typeface="Arial"/>
                <a:cs typeface="Arial"/>
              </a:defRPr>
            </a:lvl6pPr>
            <a:lvl7pPr algn="l">
              <a:defRPr sz="5700" b="1">
                <a:solidFill>
                  <a:srgbClr val="FFFFFF"/>
                </a:solidFill>
                <a:latin typeface="Arial"/>
                <a:ea typeface="Arial"/>
                <a:cs typeface="Arial"/>
              </a:defRPr>
            </a:lvl7pPr>
            <a:lvl8pPr algn="l">
              <a:defRPr sz="5700" b="1">
                <a:solidFill>
                  <a:srgbClr val="FFFFFF"/>
                </a:solidFill>
                <a:latin typeface="Arial"/>
                <a:ea typeface="Arial"/>
                <a:cs typeface="Arial"/>
              </a:defRPr>
            </a:lvl8pPr>
            <a:lvl9pPr algn="l">
              <a:defRPr sz="5700" b="1">
                <a:solidFill>
                  <a:srgbClr val="FFFFFF"/>
                </a:solidFill>
                <a:latin typeface="Arial"/>
                <a:ea typeface="Arial"/>
                <a:cs typeface="Arial"/>
              </a:defRPr>
            </a:lvl9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Qadam Delivery</a:t>
            </a:r>
          </a:p>
        </p:txBody>
      </p:sp>
      <p:sp>
        <p:nvSpPr>
          <p:cNvPr id="2" name="Local delivery for small businesses&#10;in Almaty through Telegram">
            <a:extLst xmlns:a="http://schemas.openxmlformats.org/drawingml/2006/main">
              <a:ext uri="{FF2B5EF4-FFF2-40B4-BE49-F238E27FC236}">
                <a16:creationId xmlns:a16="http://schemas.microsoft.com/office/drawing/2014/main" id="{7FD9CF86-9691-49DA-A567-E213B7DAD860}"/>
              </a:ext>
            </a:extLst>
          </p:cNvPr>
          <p:cNvSpPr>
            <a:spLocks xmlns:a="http://schemas.openxmlformats.org/drawingml/2006/main" noGrp="1"/>
          </p:cNvSpPr>
          <p:nvPr/>
        </p:nvSpPr>
        <p:spPr>
          <a:xfrm xmlns:a="http://schemas.openxmlformats.org/drawingml/2006/main">
            <a:off x="647700" y="2266950"/>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FFFFFF"/>
                </a:solidFill>
                <a:latin typeface="Arial"/>
                <a:ea typeface="Arial"/>
                <a:cs typeface="Arial"/>
              </a:defRPr>
            </a:defPPr>
            <a:lvl1pPr algn="l">
              <a:defRPr sz="3600" b="0">
                <a:solidFill>
                  <a:srgbClr val="FFFFFF"/>
                </a:solidFill>
                <a:latin typeface="Arial"/>
                <a:ea typeface="Arial"/>
                <a:cs typeface="Arial"/>
              </a:defRPr>
            </a:lvl1pPr>
            <a:lvl2pPr algn="l">
              <a:defRPr sz="3600" b="0">
                <a:solidFill>
                  <a:srgbClr val="FFFFFF"/>
                </a:solidFill>
                <a:latin typeface="Arial"/>
                <a:ea typeface="Arial"/>
                <a:cs typeface="Arial"/>
              </a:defRPr>
            </a:lvl2pPr>
            <a:lvl3pPr algn="l">
              <a:defRPr sz="3600" b="0">
                <a:solidFill>
                  <a:srgbClr val="FFFFFF"/>
                </a:solidFill>
                <a:latin typeface="Arial"/>
                <a:ea typeface="Arial"/>
                <a:cs typeface="Arial"/>
              </a:defRPr>
            </a:lvl3pPr>
            <a:lvl4pPr algn="l">
              <a:defRPr sz="3600" b="0">
                <a:solidFill>
                  <a:srgbClr val="FFFFFF"/>
                </a:solidFill>
                <a:latin typeface="Arial"/>
                <a:ea typeface="Arial"/>
                <a:cs typeface="Arial"/>
              </a:defRPr>
            </a:lvl4pPr>
            <a:lvl5pPr algn="l">
              <a:defRPr sz="3600" b="0">
                <a:solidFill>
                  <a:srgbClr val="FFFFFF"/>
                </a:solidFill>
                <a:latin typeface="Arial"/>
                <a:ea typeface="Arial"/>
                <a:cs typeface="Arial"/>
              </a:defRPr>
            </a:lvl5pPr>
            <a:lvl6pPr algn="l">
              <a:defRPr sz="3600" b="0">
                <a:solidFill>
                  <a:srgbClr val="FFFFFF"/>
                </a:solidFill>
                <a:latin typeface="Arial"/>
                <a:ea typeface="Arial"/>
                <a:cs typeface="Arial"/>
              </a:defRPr>
            </a:lvl6pPr>
            <a:lvl7pPr algn="l">
              <a:defRPr sz="3600" b="0">
                <a:solidFill>
                  <a:srgbClr val="FFFFFF"/>
                </a:solidFill>
                <a:latin typeface="Arial"/>
                <a:ea typeface="Arial"/>
                <a:cs typeface="Arial"/>
              </a:defRPr>
            </a:lvl7pPr>
            <a:lvl8pPr algn="l">
              <a:defRPr sz="3600" b="0">
                <a:solidFill>
                  <a:srgbClr val="FFFFFF"/>
                </a:solidFill>
                <a:latin typeface="Arial"/>
                <a:ea typeface="Arial"/>
                <a:cs typeface="Arial"/>
              </a:defRPr>
            </a:lvl8pPr>
            <a:lvl9pPr algn="l">
              <a:defRPr sz="3600" b="0">
                <a:solidFill>
                  <a:srgbClr val="FFFFFF"/>
                </a:solidFill>
                <a:latin typeface="Arial"/>
                <a:ea typeface="Arial"/>
                <a:cs typeface="Arial"/>
              </a:defRPr>
            </a:lvl9pPr>
          </a:lstStyle>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Local delivery for small businesses</a:t>
            </a:r>
          </a:p>
          <a:p xmlns:a="http://schemas.openxmlformats.org/drawingml/2006/main">
            <a:pPr algn="l">
              <a:defRPr sz="3600" b="0">
                <a:solidFill>
                  <a:srgbClr val="FFFFFF"/>
                </a:solidFill>
                <a:latin typeface="Arial"/>
                <a:ea typeface="Arial"/>
                <a:cs typeface="Arial"/>
              </a:defRPr>
            </a:pPr>
            <a:r>
              <a:rPr sz="3600" b="0">
                <a:solidFill>
                  <a:srgbClr val="FFFFFF"/>
                </a:solidFill>
                <a:latin typeface="Arial"/>
                <a:ea typeface="Arial"/>
                <a:cs typeface="Arial"/>
              </a:rPr>
              <a:t>in Almaty through Telegram</a:t>
            </a:r>
          </a:p>
        </p:txBody>
      </p:sp>
      <p:sp>
        <p:nvSpPr>
          <p:cNvPr id="3" name="Primary Market Research&#10;&amp; Opportunity Defense">
            <a:extLst xmlns:a="http://schemas.openxmlformats.org/drawingml/2006/main">
              <a:ext uri="{FF2B5EF4-FFF2-40B4-BE49-F238E27FC236}">
                <a16:creationId xmlns:a16="http://schemas.microsoft.com/office/drawing/2014/main" id="{811C598D-CC0F-49BB-B9C4-482357FEBD6A}"/>
              </a:ext>
            </a:extLst>
          </p:cNvPr>
          <p:cNvSpPr>
            <a:spLocks xmlns:a="http://schemas.openxmlformats.org/drawingml/2006/main" noGrp="1"/>
          </p:cNvSpPr>
          <p:nvPr/>
        </p:nvSpPr>
        <p:spPr>
          <a:xfrm xmlns:a="http://schemas.openxmlformats.org/drawingml/2006/main">
            <a:off x="647700" y="419100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B8CCDF"/>
                </a:solidFill>
                <a:latin typeface="Arial"/>
                <a:ea typeface="Arial"/>
                <a:cs typeface="Arial"/>
              </a:defRPr>
            </a:defPPr>
            <a:lvl1pPr algn="l">
              <a:defRPr sz="2250" b="0">
                <a:solidFill>
                  <a:srgbClr val="B8CCDF"/>
                </a:solidFill>
                <a:latin typeface="Arial"/>
                <a:ea typeface="Arial"/>
                <a:cs typeface="Arial"/>
              </a:defRPr>
            </a:lvl1pPr>
            <a:lvl2pPr algn="l">
              <a:defRPr sz="2250" b="0">
                <a:solidFill>
                  <a:srgbClr val="B8CCDF"/>
                </a:solidFill>
                <a:latin typeface="Arial"/>
                <a:ea typeface="Arial"/>
                <a:cs typeface="Arial"/>
              </a:defRPr>
            </a:lvl2pPr>
            <a:lvl3pPr algn="l">
              <a:defRPr sz="2250" b="0">
                <a:solidFill>
                  <a:srgbClr val="B8CCDF"/>
                </a:solidFill>
                <a:latin typeface="Arial"/>
                <a:ea typeface="Arial"/>
                <a:cs typeface="Arial"/>
              </a:defRPr>
            </a:lvl3pPr>
            <a:lvl4pPr algn="l">
              <a:defRPr sz="2250" b="0">
                <a:solidFill>
                  <a:srgbClr val="B8CCDF"/>
                </a:solidFill>
                <a:latin typeface="Arial"/>
                <a:ea typeface="Arial"/>
                <a:cs typeface="Arial"/>
              </a:defRPr>
            </a:lvl4pPr>
            <a:lvl5pPr algn="l">
              <a:defRPr sz="2250" b="0">
                <a:solidFill>
                  <a:srgbClr val="B8CCDF"/>
                </a:solidFill>
                <a:latin typeface="Arial"/>
                <a:ea typeface="Arial"/>
                <a:cs typeface="Arial"/>
              </a:defRPr>
            </a:lvl5pPr>
            <a:lvl6pPr algn="l">
              <a:defRPr sz="2250" b="0">
                <a:solidFill>
                  <a:srgbClr val="B8CCDF"/>
                </a:solidFill>
                <a:latin typeface="Arial"/>
                <a:ea typeface="Arial"/>
                <a:cs typeface="Arial"/>
              </a:defRPr>
            </a:lvl6pPr>
            <a:lvl7pPr algn="l">
              <a:defRPr sz="2250" b="0">
                <a:solidFill>
                  <a:srgbClr val="B8CCDF"/>
                </a:solidFill>
                <a:latin typeface="Arial"/>
                <a:ea typeface="Arial"/>
                <a:cs typeface="Arial"/>
              </a:defRPr>
            </a:lvl7pPr>
            <a:lvl8pPr algn="l">
              <a:defRPr sz="2250" b="0">
                <a:solidFill>
                  <a:srgbClr val="B8CCDF"/>
                </a:solidFill>
                <a:latin typeface="Arial"/>
                <a:ea typeface="Arial"/>
                <a:cs typeface="Arial"/>
              </a:defRPr>
            </a:lvl8pPr>
            <a:lvl9pPr algn="l">
              <a:defRPr sz="2250" b="0">
                <a:solidFill>
                  <a:srgbClr val="B8CCDF"/>
                </a:solidFill>
                <a:latin typeface="Arial"/>
                <a:ea typeface="Arial"/>
                <a:cs typeface="Arial"/>
              </a:defRPr>
            </a:lvl9pPr>
          </a:lstStyle>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Primary Market Research</a:t>
            </a:r>
          </a:p>
          <a:p xmlns:a="http://schemas.openxmlformats.org/drawingml/2006/main">
            <a:pPr algn="l">
              <a:defRPr sz="2250" b="0">
                <a:solidFill>
                  <a:srgbClr val="B8CCDF"/>
                </a:solidFill>
                <a:latin typeface="Arial"/>
                <a:ea typeface="Arial"/>
                <a:cs typeface="Arial"/>
              </a:defRPr>
            </a:pPr>
            <a:r>
              <a:rPr sz="2250" b="0">
                <a:solidFill>
                  <a:srgbClr val="B8CCDF"/>
                </a:solidFill>
                <a:latin typeface="Arial"/>
                <a:ea typeface="Arial"/>
                <a:cs typeface="Arial"/>
              </a:rPr>
              <a:t>&amp; Opportunity Defense</a:t>
            </a:r>
          </a:p>
        </p:txBody>
      </p:sp>
      <p:sp>
        <p:nvSpPr>
          <p:cNvPr id="4" name="Task 3 / Midterm defense / October 2026">
            <a:extLst xmlns:a="http://schemas.openxmlformats.org/drawingml/2006/main">
              <a:ext uri="{FF2B5EF4-FFF2-40B4-BE49-F238E27FC236}">
                <a16:creationId xmlns:a16="http://schemas.microsoft.com/office/drawing/2014/main" id="{857A6AC7-7E0E-4E1D-8254-DF34ACC3659C}"/>
              </a:ext>
            </a:extLst>
          </p:cNvPr>
          <p:cNvSpPr>
            <a:spLocks xmlns:a="http://schemas.openxmlformats.org/drawingml/2006/main" noGrp="1"/>
          </p:cNvSpPr>
          <p:nvPr/>
        </p:nvSpPr>
        <p:spPr>
          <a:xfrm xmlns:a="http://schemas.openxmlformats.org/drawingml/2006/main">
            <a:off x="647700" y="5657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B8CCDF"/>
                </a:solidFill>
                <a:latin typeface="Arial"/>
                <a:ea typeface="Arial"/>
                <a:cs typeface="Arial"/>
              </a:defRPr>
            </a:defPPr>
            <a:lvl1pPr algn="l">
              <a:defRPr sz="1650" b="0">
                <a:solidFill>
                  <a:srgbClr val="B8CCDF"/>
                </a:solidFill>
                <a:latin typeface="Arial"/>
                <a:ea typeface="Arial"/>
                <a:cs typeface="Arial"/>
              </a:defRPr>
            </a:lvl1pPr>
            <a:lvl2pPr algn="l">
              <a:defRPr sz="1650" b="0">
                <a:solidFill>
                  <a:srgbClr val="B8CCDF"/>
                </a:solidFill>
                <a:latin typeface="Arial"/>
                <a:ea typeface="Arial"/>
                <a:cs typeface="Arial"/>
              </a:defRPr>
            </a:lvl2pPr>
            <a:lvl3pPr algn="l">
              <a:defRPr sz="1650" b="0">
                <a:solidFill>
                  <a:srgbClr val="B8CCDF"/>
                </a:solidFill>
                <a:latin typeface="Arial"/>
                <a:ea typeface="Arial"/>
                <a:cs typeface="Arial"/>
              </a:defRPr>
            </a:lvl3pPr>
            <a:lvl4pPr algn="l">
              <a:defRPr sz="1650" b="0">
                <a:solidFill>
                  <a:srgbClr val="B8CCDF"/>
                </a:solidFill>
                <a:latin typeface="Arial"/>
                <a:ea typeface="Arial"/>
                <a:cs typeface="Arial"/>
              </a:defRPr>
            </a:lvl4pPr>
            <a:lvl5pPr algn="l">
              <a:defRPr sz="1650" b="0">
                <a:solidFill>
                  <a:srgbClr val="B8CCDF"/>
                </a:solidFill>
                <a:latin typeface="Arial"/>
                <a:ea typeface="Arial"/>
                <a:cs typeface="Arial"/>
              </a:defRPr>
            </a:lvl5pPr>
            <a:lvl6pPr algn="l">
              <a:defRPr sz="1650" b="0">
                <a:solidFill>
                  <a:srgbClr val="B8CCDF"/>
                </a:solidFill>
                <a:latin typeface="Arial"/>
                <a:ea typeface="Arial"/>
                <a:cs typeface="Arial"/>
              </a:defRPr>
            </a:lvl6pPr>
            <a:lvl7pPr algn="l">
              <a:defRPr sz="1650" b="0">
                <a:solidFill>
                  <a:srgbClr val="B8CCDF"/>
                </a:solidFill>
                <a:latin typeface="Arial"/>
                <a:ea typeface="Arial"/>
                <a:cs typeface="Arial"/>
              </a:defRPr>
            </a:lvl7pPr>
            <a:lvl8pPr algn="l">
              <a:defRPr sz="1650" b="0">
                <a:solidFill>
                  <a:srgbClr val="B8CCDF"/>
                </a:solidFill>
                <a:latin typeface="Arial"/>
                <a:ea typeface="Arial"/>
                <a:cs typeface="Arial"/>
              </a:defRPr>
            </a:lvl8pPr>
            <a:lvl9pPr algn="l">
              <a:defRPr sz="1650" b="0">
                <a:solidFill>
                  <a:srgbClr val="B8CCDF"/>
                </a:solidFill>
                <a:latin typeface="Arial"/>
                <a:ea typeface="Arial"/>
                <a:cs typeface="Arial"/>
              </a:defRPr>
            </a:lvl9pPr>
          </a:lstStyle>
          <a:p xmlns:a="http://schemas.openxmlformats.org/drawingml/2006/main">
            <a:pPr algn="l">
              <a:defRPr sz="1650" b="0">
                <a:solidFill>
                  <a:srgbClr val="B8CCDF"/>
                </a:solidFill>
                <a:latin typeface="Arial"/>
                <a:ea typeface="Arial"/>
                <a:cs typeface="Arial"/>
              </a:defRPr>
            </a:pPr>
            <a:r>
              <a:rPr sz="1650" b="0">
                <a:solidFill>
                  <a:srgbClr val="B8CCDF"/>
                </a:solidFill>
                <a:latin typeface="Arial"/>
                <a:ea typeface="Arial"/>
                <a:cs typeface="Arial"/>
              </a:rPr>
              <a:t>Task 3 / Midterm defense / October 2026</a:t>
            </a:r>
          </a:p>
        </p:txBody>
      </p:sp>
      <p:sp>
        <p:nvSpPr>
          <p:cNvPr id="5" name="Early courier interviews and registration. Market figures include">
            <a:extLst xmlns:a="http://schemas.openxmlformats.org/drawingml/2006/main">
              <a:ext uri="{FF2B5EF4-FFF2-40B4-BE49-F238E27FC236}">
                <a16:creationId xmlns:a16="http://schemas.microsoft.com/office/drawing/2014/main" id="{5B48915B-4B0C-453E-9DF9-160C700EF1E2}"/>
              </a:ext>
            </a:extLst>
          </p:cNvPr>
          <p:cNvSpPr>
            <a:spLocks xmlns:a="http://schemas.openxmlformats.org/drawingml/2006/main" noGrp="1"/>
          </p:cNvSpPr>
          <p:nvPr/>
        </p:nvSpPr>
        <p:spPr>
          <a:xfrm xmlns:a="http://schemas.openxmlformats.org/drawingml/2006/main">
            <a:off x="647700" y="62198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8CCDF"/>
                </a:solidFill>
                <a:latin typeface="Arial"/>
                <a:ea typeface="Arial"/>
                <a:cs typeface="Arial"/>
              </a:defRPr>
            </a:defPPr>
            <a:lvl1pPr algn="l">
              <a:defRPr sz="1500" b="0">
                <a:solidFill>
                  <a:srgbClr val="B8CCDF"/>
                </a:solidFill>
                <a:latin typeface="Arial"/>
                <a:ea typeface="Arial"/>
                <a:cs typeface="Arial"/>
              </a:defRPr>
            </a:lvl1pPr>
            <a:lvl2pPr algn="l">
              <a:defRPr sz="1500" b="0">
                <a:solidFill>
                  <a:srgbClr val="B8CCDF"/>
                </a:solidFill>
                <a:latin typeface="Arial"/>
                <a:ea typeface="Arial"/>
                <a:cs typeface="Arial"/>
              </a:defRPr>
            </a:lvl2pPr>
            <a:lvl3pPr algn="l">
              <a:defRPr sz="1500" b="0">
                <a:solidFill>
                  <a:srgbClr val="B8CCDF"/>
                </a:solidFill>
                <a:latin typeface="Arial"/>
                <a:ea typeface="Arial"/>
                <a:cs typeface="Arial"/>
              </a:defRPr>
            </a:lvl3pPr>
            <a:lvl4pPr algn="l">
              <a:defRPr sz="1500" b="0">
                <a:solidFill>
                  <a:srgbClr val="B8CCDF"/>
                </a:solidFill>
                <a:latin typeface="Arial"/>
                <a:ea typeface="Arial"/>
                <a:cs typeface="Arial"/>
              </a:defRPr>
            </a:lvl4pPr>
            <a:lvl5pPr algn="l">
              <a:defRPr sz="1500" b="0">
                <a:solidFill>
                  <a:srgbClr val="B8CCDF"/>
                </a:solidFill>
                <a:latin typeface="Arial"/>
                <a:ea typeface="Arial"/>
                <a:cs typeface="Arial"/>
              </a:defRPr>
            </a:lvl5pPr>
            <a:lvl6pPr algn="l">
              <a:defRPr sz="1500" b="0">
                <a:solidFill>
                  <a:srgbClr val="B8CCDF"/>
                </a:solidFill>
                <a:latin typeface="Arial"/>
                <a:ea typeface="Arial"/>
                <a:cs typeface="Arial"/>
              </a:defRPr>
            </a:lvl6pPr>
            <a:lvl7pPr algn="l">
              <a:defRPr sz="1500" b="0">
                <a:solidFill>
                  <a:srgbClr val="B8CCDF"/>
                </a:solidFill>
                <a:latin typeface="Arial"/>
                <a:ea typeface="Arial"/>
                <a:cs typeface="Arial"/>
              </a:defRPr>
            </a:lvl7pPr>
            <a:lvl8pPr algn="l">
              <a:defRPr sz="1500" b="0">
                <a:solidFill>
                  <a:srgbClr val="B8CCDF"/>
                </a:solidFill>
                <a:latin typeface="Arial"/>
                <a:ea typeface="Arial"/>
                <a:cs typeface="Arial"/>
              </a:defRPr>
            </a:lvl8pPr>
            <a:lvl9pPr algn="l">
              <a:defRPr sz="1500" b="0">
                <a:solidFill>
                  <a:srgbClr val="B8CCDF"/>
                </a:solidFill>
                <a:latin typeface="Arial"/>
                <a:ea typeface="Arial"/>
                <a:cs typeface="Arial"/>
              </a:defRPr>
            </a:lvl9pPr>
          </a:lstStyle>
          <a:p xmlns:a="http://schemas.openxmlformats.org/drawingml/2006/main">
            <a:pPr algn="l">
              <a:defRPr sz="1500" b="0">
                <a:solidFill>
                  <a:srgbClr val="B8CCDF"/>
                </a:solidFill>
                <a:latin typeface="Arial"/>
                <a:ea typeface="Arial"/>
                <a:cs typeface="Arial"/>
              </a:defRPr>
            </a:pPr>
            <a:r>
              <a:rPr sz="1500" b="0">
                <a:solidFill>
                  <a:srgbClr val="B8CCDF"/>
                </a:solidFill>
                <a:latin typeface="Arial"/>
                <a:ea typeface="Arial"/>
                <a:cs typeface="Arial"/>
              </a:rPr>
              <a:t>Early courier interviews and registration. Market figures include assumptions.</a:t>
            </a:r>
          </a:p>
        </p:txBody>
      </p:sp>
    </p:spTree>
    <p:extLst>
      <p:ext uri="{BB962C8B-B14F-4D97-AF65-F5344CB8AC3E}">
        <p14:creationId xmlns:p14="http://schemas.microsoft.com/office/powerpoint/2010/main" val="14124942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ur first customer: a small shop in Almaty">
            <a:extLst xmlns:a="http://schemas.openxmlformats.org/drawingml/2006/main">
              <a:ext uri="{FF2B5EF4-FFF2-40B4-BE49-F238E27FC236}">
                <a16:creationId xmlns:a16="http://schemas.microsoft.com/office/drawing/2014/main" id="{39558F07-D6C6-4AA1-9943-ED8679B73F1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Our first customer: a small shop in Almaty</a:t>
            </a:r>
          </a:p>
        </p:txBody>
      </p:sp>
      <p:sp>
        <p:nvSpPr>
          <p:cNvPr id="2" name="A business-side hypothesis to test in a B2B pilot">
            <a:extLst xmlns:a="http://schemas.openxmlformats.org/drawingml/2006/main">
              <a:ext uri="{FF2B5EF4-FFF2-40B4-BE49-F238E27FC236}">
                <a16:creationId xmlns:a16="http://schemas.microsoft.com/office/drawing/2014/main" id="{EFC33852-E9DD-48FB-95EC-FAC6D1237D92}"/>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 business-side hypothesis to test in a B2B pilot</a:t>
            </a:r>
          </a:p>
        </p:txBody>
      </p:sp>
      <p:sp>
        <p:nvSpPr>
          <p:cNvPr id="3" name="Qadam Delivery">
            <a:extLst xmlns:a="http://schemas.openxmlformats.org/drawingml/2006/main">
              <a:ext uri="{FF2B5EF4-FFF2-40B4-BE49-F238E27FC236}">
                <a16:creationId xmlns:a16="http://schemas.microsoft.com/office/drawing/2014/main" id="{64987EB3-AA9F-4215-A223-5D02C1FFF73B}"/>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2">
            <a:extLst xmlns:a="http://schemas.openxmlformats.org/drawingml/2006/main">
              <a:ext uri="{FF2B5EF4-FFF2-40B4-BE49-F238E27FC236}">
                <a16:creationId xmlns:a16="http://schemas.microsoft.com/office/drawing/2014/main" id="{E14DA740-1ABA-4A25-BB89-9B1BD02C3A0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02</a:t>
            </a:r>
          </a:p>
        </p:txBody>
      </p:sp>
      <p:sp>
        <p:nvSpPr>
          <p:cNvPr id="5" name="Who makes the decision">
            <a:extLst xmlns:a="http://schemas.openxmlformats.org/drawingml/2006/main">
              <a:ext uri="{FF2B5EF4-FFF2-40B4-BE49-F238E27FC236}">
                <a16:creationId xmlns:a16="http://schemas.microsoft.com/office/drawing/2014/main" id="{E1AE54B6-87BF-4EA3-A49E-FAFD80DED2FB}"/>
              </a:ext>
            </a:extLst>
          </p:cNvPr>
          <p:cNvSpPr>
            <a:spLocks xmlns:a="http://schemas.openxmlformats.org/drawingml/2006/main" noGrp="1"/>
          </p:cNvSpPr>
          <p:nvPr/>
        </p:nvSpPr>
        <p:spPr>
          <a:xfrm xmlns:a="http://schemas.openxmlformats.org/drawingml/2006/main">
            <a:off x="609600" y="220980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Who makes the decision</a:t>
            </a:r>
          </a:p>
        </p:txBody>
      </p:sp>
      <p:sp>
        <p:nvSpPr>
          <p:cNvPr id="6" name="A shop owner or administrator&#10;who arranges delivery to the buyer.">
            <a:extLst xmlns:a="http://schemas.openxmlformats.org/drawingml/2006/main">
              <a:ext uri="{FF2B5EF4-FFF2-40B4-BE49-F238E27FC236}">
                <a16:creationId xmlns:a16="http://schemas.microsoft.com/office/drawing/2014/main" id="{1E7C1CEC-4D63-4616-A179-6428A4644E0F}"/>
              </a:ext>
            </a:extLst>
          </p:cNvPr>
          <p:cNvSpPr>
            <a:spLocks xmlns:a="http://schemas.openxmlformats.org/drawingml/2006/main" noGrp="1"/>
          </p:cNvSpPr>
          <p:nvPr/>
        </p:nvSpPr>
        <p:spPr>
          <a:xfrm xmlns:a="http://schemas.openxmlformats.org/drawingml/2006/main">
            <a:off x="609600" y="2647950"/>
            <a:ext cx="6000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A shop owner or administrator</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who arranges delivery to the buyer.</a:t>
            </a:r>
          </a:p>
        </p:txBody>
      </p:sp>
      <p:sp>
        <p:nvSpPr>
          <p:cNvPr id="7" name="Initial customer segment">
            <a:extLst xmlns:a="http://schemas.openxmlformats.org/drawingml/2006/main">
              <a:ext uri="{FF2B5EF4-FFF2-40B4-BE49-F238E27FC236}">
                <a16:creationId xmlns:a16="http://schemas.microsoft.com/office/drawing/2014/main" id="{3E1921F2-19FF-48EB-BE1E-13232D2439E3}"/>
              </a:ext>
            </a:extLst>
          </p:cNvPr>
          <p:cNvSpPr>
            <a:spLocks xmlns:a="http://schemas.openxmlformats.org/drawingml/2006/main" noGrp="1"/>
          </p:cNvSpPr>
          <p:nvPr/>
        </p:nvSpPr>
        <p:spPr>
          <a:xfrm xmlns:a="http://schemas.openxmlformats.org/drawingml/2006/main">
            <a:off x="609600" y="37433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Initial customer segment</a:t>
            </a:r>
          </a:p>
        </p:txBody>
      </p:sp>
      <p:sp>
        <p:nvSpPr>
          <p:cNvPr id="8" name="Flower and gift shops, and small sellers&#10;who take orders through ">
            <a:extLst xmlns:a="http://schemas.openxmlformats.org/drawingml/2006/main">
              <a:ext uri="{FF2B5EF4-FFF2-40B4-BE49-F238E27FC236}">
                <a16:creationId xmlns:a16="http://schemas.microsoft.com/office/drawing/2014/main" id="{E24E19EA-8AFA-4E04-9AAA-6516BF9937C9}"/>
              </a:ext>
            </a:extLst>
          </p:cNvPr>
          <p:cNvSpPr>
            <a:spLocks xmlns:a="http://schemas.openxmlformats.org/drawingml/2006/main" noGrp="1"/>
          </p:cNvSpPr>
          <p:nvPr/>
        </p:nvSpPr>
        <p:spPr>
          <a:xfrm xmlns:a="http://schemas.openxmlformats.org/drawingml/2006/main">
            <a:off x="609600" y="4181475"/>
            <a:ext cx="604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3243"/>
                </a:solidFill>
                <a:latin typeface="Arial"/>
                <a:ea typeface="Arial"/>
                <a:cs typeface="Arial"/>
              </a:defRPr>
            </a:defPPr>
            <a:lvl1pPr algn="l">
              <a:defRPr sz="2025" b="0">
                <a:solidFill>
                  <a:srgbClr val="143243"/>
                </a:solidFill>
                <a:latin typeface="Arial"/>
                <a:ea typeface="Arial"/>
                <a:cs typeface="Arial"/>
              </a:defRPr>
            </a:lvl1pPr>
            <a:lvl2pPr algn="l">
              <a:defRPr sz="2025" b="0">
                <a:solidFill>
                  <a:srgbClr val="143243"/>
                </a:solidFill>
                <a:latin typeface="Arial"/>
                <a:ea typeface="Arial"/>
                <a:cs typeface="Arial"/>
              </a:defRPr>
            </a:lvl2pPr>
            <a:lvl3pPr algn="l">
              <a:defRPr sz="2025" b="0">
                <a:solidFill>
                  <a:srgbClr val="143243"/>
                </a:solidFill>
                <a:latin typeface="Arial"/>
                <a:ea typeface="Arial"/>
                <a:cs typeface="Arial"/>
              </a:defRPr>
            </a:lvl3pPr>
            <a:lvl4pPr algn="l">
              <a:defRPr sz="2025" b="0">
                <a:solidFill>
                  <a:srgbClr val="143243"/>
                </a:solidFill>
                <a:latin typeface="Arial"/>
                <a:ea typeface="Arial"/>
                <a:cs typeface="Arial"/>
              </a:defRPr>
            </a:lvl4pPr>
            <a:lvl5pPr algn="l">
              <a:defRPr sz="2025" b="0">
                <a:solidFill>
                  <a:srgbClr val="143243"/>
                </a:solidFill>
                <a:latin typeface="Arial"/>
                <a:ea typeface="Arial"/>
                <a:cs typeface="Arial"/>
              </a:defRPr>
            </a:lvl5pPr>
            <a:lvl6pPr algn="l">
              <a:defRPr sz="2025" b="0">
                <a:solidFill>
                  <a:srgbClr val="143243"/>
                </a:solidFill>
                <a:latin typeface="Arial"/>
                <a:ea typeface="Arial"/>
                <a:cs typeface="Arial"/>
              </a:defRPr>
            </a:lvl6pPr>
            <a:lvl7pPr algn="l">
              <a:defRPr sz="2025" b="0">
                <a:solidFill>
                  <a:srgbClr val="143243"/>
                </a:solidFill>
                <a:latin typeface="Arial"/>
                <a:ea typeface="Arial"/>
                <a:cs typeface="Arial"/>
              </a:defRPr>
            </a:lvl7pPr>
            <a:lvl8pPr algn="l">
              <a:defRPr sz="2025" b="0">
                <a:solidFill>
                  <a:srgbClr val="143243"/>
                </a:solidFill>
                <a:latin typeface="Arial"/>
                <a:ea typeface="Arial"/>
                <a:cs typeface="Arial"/>
              </a:defRPr>
            </a:lvl8pPr>
            <a:lvl9pPr algn="l">
              <a:defRPr sz="2025" b="0">
                <a:solidFill>
                  <a:srgbClr val="143243"/>
                </a:solidFill>
                <a:latin typeface="Arial"/>
                <a:ea typeface="Arial"/>
                <a:cs typeface="Arial"/>
              </a:defRPr>
            </a:lvl9pPr>
          </a:lstStyle>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Flower and gift shops, and small sellers</a:t>
            </a:r>
          </a:p>
          <a:p xmlns:a="http://schemas.openxmlformats.org/drawingml/2006/main">
            <a:pPr algn="l">
              <a:defRPr sz="2025" b="0">
                <a:solidFill>
                  <a:srgbClr val="143243"/>
                </a:solidFill>
                <a:latin typeface="Arial"/>
                <a:ea typeface="Arial"/>
                <a:cs typeface="Arial"/>
              </a:defRPr>
            </a:pPr>
            <a:r>
              <a:rPr sz="2025" b="0">
                <a:solidFill>
                  <a:srgbClr val="143243"/>
                </a:solidFill>
                <a:latin typeface="Arial"/>
                <a:ea typeface="Arial"/>
                <a:cs typeface="Arial"/>
              </a:rPr>
              <a:t>who take orders through social media.</a:t>
            </a:r>
          </a:p>
        </p:txBody>
      </p:sp>
      <p:sp>
        <p:nvSpPr>
          <p:cNvPr id="9" name="6.7">
            <a:extLst xmlns:a="http://schemas.openxmlformats.org/drawingml/2006/main">
              <a:ext uri="{FF2B5EF4-FFF2-40B4-BE49-F238E27FC236}">
                <a16:creationId xmlns:a16="http://schemas.microsoft.com/office/drawing/2014/main" id="{0E92D4BF-950E-4A5B-BD94-261C363F9DE4}"/>
              </a:ext>
            </a:extLst>
          </p:cNvPr>
          <p:cNvSpPr>
            <a:spLocks xmlns:a="http://schemas.openxmlformats.org/drawingml/2006/main" noGrp="1"/>
          </p:cNvSpPr>
          <p:nvPr/>
        </p:nvSpPr>
        <p:spPr>
          <a:xfrm xmlns:a="http://schemas.openxmlformats.org/drawingml/2006/main">
            <a:off x="7781925" y="2152650"/>
            <a:ext cx="3429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800" b="1">
                <a:solidFill>
                  <a:srgbClr val="2855DF"/>
                </a:solidFill>
                <a:latin typeface="Arial"/>
                <a:ea typeface="Arial"/>
                <a:cs typeface="Arial"/>
              </a:defRPr>
            </a:defPPr>
            <a:lvl1pPr algn="l">
              <a:defRPr sz="7800" b="1">
                <a:solidFill>
                  <a:srgbClr val="2855DF"/>
                </a:solidFill>
                <a:latin typeface="Arial"/>
                <a:ea typeface="Arial"/>
                <a:cs typeface="Arial"/>
              </a:defRPr>
            </a:lvl1pPr>
            <a:lvl2pPr algn="l">
              <a:defRPr sz="7800" b="1">
                <a:solidFill>
                  <a:srgbClr val="2855DF"/>
                </a:solidFill>
                <a:latin typeface="Arial"/>
                <a:ea typeface="Arial"/>
                <a:cs typeface="Arial"/>
              </a:defRPr>
            </a:lvl2pPr>
            <a:lvl3pPr algn="l">
              <a:defRPr sz="7800" b="1">
                <a:solidFill>
                  <a:srgbClr val="2855DF"/>
                </a:solidFill>
                <a:latin typeface="Arial"/>
                <a:ea typeface="Arial"/>
                <a:cs typeface="Arial"/>
              </a:defRPr>
            </a:lvl3pPr>
            <a:lvl4pPr algn="l">
              <a:defRPr sz="7800" b="1">
                <a:solidFill>
                  <a:srgbClr val="2855DF"/>
                </a:solidFill>
                <a:latin typeface="Arial"/>
                <a:ea typeface="Arial"/>
                <a:cs typeface="Arial"/>
              </a:defRPr>
            </a:lvl4pPr>
            <a:lvl5pPr algn="l">
              <a:defRPr sz="7800" b="1">
                <a:solidFill>
                  <a:srgbClr val="2855DF"/>
                </a:solidFill>
                <a:latin typeface="Arial"/>
                <a:ea typeface="Arial"/>
                <a:cs typeface="Arial"/>
              </a:defRPr>
            </a:lvl5pPr>
            <a:lvl6pPr algn="l">
              <a:defRPr sz="7800" b="1">
                <a:solidFill>
                  <a:srgbClr val="2855DF"/>
                </a:solidFill>
                <a:latin typeface="Arial"/>
                <a:ea typeface="Arial"/>
                <a:cs typeface="Arial"/>
              </a:defRPr>
            </a:lvl6pPr>
            <a:lvl7pPr algn="l">
              <a:defRPr sz="7800" b="1">
                <a:solidFill>
                  <a:srgbClr val="2855DF"/>
                </a:solidFill>
                <a:latin typeface="Arial"/>
                <a:ea typeface="Arial"/>
                <a:cs typeface="Arial"/>
              </a:defRPr>
            </a:lvl7pPr>
            <a:lvl8pPr algn="l">
              <a:defRPr sz="7800" b="1">
                <a:solidFill>
                  <a:srgbClr val="2855DF"/>
                </a:solidFill>
                <a:latin typeface="Arial"/>
                <a:ea typeface="Arial"/>
                <a:cs typeface="Arial"/>
              </a:defRPr>
            </a:lvl8pPr>
            <a:lvl9pPr algn="l">
              <a:defRPr sz="7800" b="1">
                <a:solidFill>
                  <a:srgbClr val="2855DF"/>
                </a:solidFill>
                <a:latin typeface="Arial"/>
                <a:ea typeface="Arial"/>
                <a:cs typeface="Arial"/>
              </a:defRPr>
            </a:lvl9pPr>
          </a:lstStyle>
          <a:p xmlns:a="http://schemas.openxmlformats.org/drawingml/2006/main">
            <a:pPr algn="l">
              <a:defRPr sz="7800" b="1">
                <a:solidFill>
                  <a:srgbClr val="2855DF"/>
                </a:solidFill>
                <a:latin typeface="Arial"/>
                <a:ea typeface="Arial"/>
                <a:cs typeface="Arial"/>
              </a:defRPr>
            </a:pPr>
            <a:r>
              <a:rPr sz="7800" b="1">
                <a:solidFill>
                  <a:srgbClr val="2855DF"/>
                </a:solidFill>
                <a:latin typeface="Arial"/>
                <a:ea typeface="Arial"/>
                <a:cs typeface="Arial"/>
              </a:rPr>
              <a:t>6.7</a:t>
            </a:r>
          </a:p>
        </p:txBody>
      </p:sp>
      <p:sp>
        <p:nvSpPr>
          <p:cNvPr id="10" name="hours of coordination per month">
            <a:extLst xmlns:a="http://schemas.openxmlformats.org/drawingml/2006/main">
              <a:ext uri="{FF2B5EF4-FFF2-40B4-BE49-F238E27FC236}">
                <a16:creationId xmlns:a16="http://schemas.microsoft.com/office/drawing/2014/main" id="{4D854AD7-1E99-4402-A078-786EFC35143F}"/>
              </a:ext>
            </a:extLst>
          </p:cNvPr>
          <p:cNvSpPr>
            <a:spLocks xmlns:a="http://schemas.openxmlformats.org/drawingml/2006/main" noGrp="1"/>
          </p:cNvSpPr>
          <p:nvPr/>
        </p:nvSpPr>
        <p:spPr>
          <a:xfrm xmlns:a="http://schemas.openxmlformats.org/drawingml/2006/main">
            <a:off x="7620000" y="350520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hours of coordination per month</a:t>
            </a:r>
          </a:p>
        </p:txBody>
      </p:sp>
      <p:sp>
        <p:nvSpPr>
          <p:cNvPr id="11" name="40 deliveries × 10 minutes ÷ 60">
            <a:extLst xmlns:a="http://schemas.openxmlformats.org/drawingml/2006/main">
              <a:ext uri="{FF2B5EF4-FFF2-40B4-BE49-F238E27FC236}">
                <a16:creationId xmlns:a16="http://schemas.microsoft.com/office/drawing/2014/main" id="{BD92EDAA-A480-4B77-8B16-AB6117BE9DD7}"/>
              </a:ext>
            </a:extLst>
          </p:cNvPr>
          <p:cNvSpPr>
            <a:spLocks xmlns:a="http://schemas.openxmlformats.org/drawingml/2006/main" noGrp="1"/>
          </p:cNvSpPr>
          <p:nvPr/>
        </p:nvSpPr>
        <p:spPr>
          <a:xfrm xmlns:a="http://schemas.openxmlformats.org/drawingml/2006/main">
            <a:off x="7620000" y="434340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40 deliveries × 10 minutes ÷ 60</a:t>
            </a:r>
          </a:p>
        </p:txBody>
      </p:sp>
      <p:sp>
        <p:nvSpPr>
          <p:cNvPr id="12" name="Assumption: time spent finding a courier, sharing addresses and c">
            <a:extLst xmlns:a="http://schemas.openxmlformats.org/drawingml/2006/main">
              <a:ext uri="{FF2B5EF4-FFF2-40B4-BE49-F238E27FC236}">
                <a16:creationId xmlns:a16="http://schemas.microsoft.com/office/drawing/2014/main" id="{75210FCA-7339-4873-896C-1BF872CD633F}"/>
              </a:ext>
            </a:extLst>
          </p:cNvPr>
          <p:cNvSpPr>
            <a:spLocks xmlns:a="http://schemas.openxmlformats.org/drawingml/2006/main" noGrp="1"/>
          </p:cNvSpPr>
          <p:nvPr/>
        </p:nvSpPr>
        <p:spPr>
          <a:xfrm xmlns:a="http://schemas.openxmlformats.org/drawingml/2006/main">
            <a:off x="609600" y="54673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65A12"/>
                </a:solidFill>
                <a:latin typeface="Arial"/>
                <a:ea typeface="Arial"/>
                <a:cs typeface="Arial"/>
              </a:defRPr>
            </a:defPPr>
            <a:lvl1pPr algn="l">
              <a:defRPr sz="1725" b="0">
                <a:solidFill>
                  <a:srgbClr val="965A12"/>
                </a:solidFill>
                <a:latin typeface="Arial"/>
                <a:ea typeface="Arial"/>
                <a:cs typeface="Arial"/>
              </a:defRPr>
            </a:lvl1pPr>
            <a:lvl2pPr algn="l">
              <a:defRPr sz="1725" b="0">
                <a:solidFill>
                  <a:srgbClr val="965A12"/>
                </a:solidFill>
                <a:latin typeface="Arial"/>
                <a:ea typeface="Arial"/>
                <a:cs typeface="Arial"/>
              </a:defRPr>
            </a:lvl2pPr>
            <a:lvl3pPr algn="l">
              <a:defRPr sz="1725" b="0">
                <a:solidFill>
                  <a:srgbClr val="965A12"/>
                </a:solidFill>
                <a:latin typeface="Arial"/>
                <a:ea typeface="Arial"/>
                <a:cs typeface="Arial"/>
              </a:defRPr>
            </a:lvl3pPr>
            <a:lvl4pPr algn="l">
              <a:defRPr sz="1725" b="0">
                <a:solidFill>
                  <a:srgbClr val="965A12"/>
                </a:solidFill>
                <a:latin typeface="Arial"/>
                <a:ea typeface="Arial"/>
                <a:cs typeface="Arial"/>
              </a:defRPr>
            </a:lvl4pPr>
            <a:lvl5pPr algn="l">
              <a:defRPr sz="1725" b="0">
                <a:solidFill>
                  <a:srgbClr val="965A12"/>
                </a:solidFill>
                <a:latin typeface="Arial"/>
                <a:ea typeface="Arial"/>
                <a:cs typeface="Arial"/>
              </a:defRPr>
            </a:lvl5pPr>
            <a:lvl6pPr algn="l">
              <a:defRPr sz="1725" b="0">
                <a:solidFill>
                  <a:srgbClr val="965A12"/>
                </a:solidFill>
                <a:latin typeface="Arial"/>
                <a:ea typeface="Arial"/>
                <a:cs typeface="Arial"/>
              </a:defRPr>
            </a:lvl6pPr>
            <a:lvl7pPr algn="l">
              <a:defRPr sz="1725" b="0">
                <a:solidFill>
                  <a:srgbClr val="965A12"/>
                </a:solidFill>
                <a:latin typeface="Arial"/>
                <a:ea typeface="Arial"/>
                <a:cs typeface="Arial"/>
              </a:defRPr>
            </a:lvl7pPr>
            <a:lvl8pPr algn="l">
              <a:defRPr sz="1725" b="0">
                <a:solidFill>
                  <a:srgbClr val="965A12"/>
                </a:solidFill>
                <a:latin typeface="Arial"/>
                <a:ea typeface="Arial"/>
                <a:cs typeface="Arial"/>
              </a:defRPr>
            </a:lvl8pPr>
            <a:lvl9pPr algn="l">
              <a:defRPr sz="1725" b="0">
                <a:solidFill>
                  <a:srgbClr val="965A12"/>
                </a:solidFill>
                <a:latin typeface="Arial"/>
                <a:ea typeface="Arial"/>
                <a:cs typeface="Arial"/>
              </a:defRPr>
            </a:lvl9pPr>
          </a:lstStyle>
          <a:p xmlns:a="http://schemas.openxmlformats.org/drawingml/2006/main">
            <a:pPr algn="l">
              <a:defRPr sz="1725" b="0">
                <a:solidFill>
                  <a:srgbClr val="965A12"/>
                </a:solidFill>
                <a:latin typeface="Arial"/>
                <a:ea typeface="Arial"/>
                <a:cs typeface="Arial"/>
              </a:defRPr>
            </a:pPr>
            <a:r>
              <a:rPr sz="1725" b="0">
                <a:solidFill>
                  <a:srgbClr val="965A12"/>
                </a:solidFill>
                <a:latin typeface="Arial"/>
                <a:ea typeface="Arial"/>
                <a:cs typeface="Arial"/>
              </a:rPr>
              <a:t>Assumption: time spent finding a courier, sharing addresses and checking order status.</a:t>
            </a:r>
          </a:p>
        </p:txBody>
      </p:sp>
    </p:spTree>
    <p:extLst>
      <p:ext uri="{BB962C8B-B14F-4D97-AF65-F5344CB8AC3E}">
        <p14:creationId xmlns:p14="http://schemas.microsoft.com/office/powerpoint/2010/main" val="3976940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Primary research: courier interviews">
            <a:extLst xmlns:a="http://schemas.openxmlformats.org/drawingml/2006/main">
              <a:ext uri="{FF2B5EF4-FFF2-40B4-BE49-F238E27FC236}">
                <a16:creationId xmlns:a16="http://schemas.microsoft.com/office/drawing/2014/main" id="{CDE17172-1AAF-4A7A-975D-22F90C084793}"/>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Primary research: courier interviews</a:t>
            </a:r>
          </a:p>
        </p:txBody>
      </p:sp>
      <p:sp>
        <p:nvSpPr>
          <p:cNvPr id="2" name="Completed interviews and registration. Follow-up questions appear">
            <a:extLst xmlns:a="http://schemas.openxmlformats.org/drawingml/2006/main">
              <a:ext uri="{FF2B5EF4-FFF2-40B4-BE49-F238E27FC236}">
                <a16:creationId xmlns:a16="http://schemas.microsoft.com/office/drawing/2014/main" id="{E0FBE7F4-52FA-4940-B224-C421BA632B61}"/>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Completed interviews and registration. Follow-up questions appear on the right.</a:t>
            </a:r>
          </a:p>
        </p:txBody>
      </p:sp>
      <p:sp>
        <p:nvSpPr>
          <p:cNvPr id="3" name="Qadam Delivery">
            <a:extLst xmlns:a="http://schemas.openxmlformats.org/drawingml/2006/main">
              <a:ext uri="{FF2B5EF4-FFF2-40B4-BE49-F238E27FC236}">
                <a16:creationId xmlns:a16="http://schemas.microsoft.com/office/drawing/2014/main" id="{FECE1472-4D47-4F5E-9CE8-8F735D88913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3">
            <a:extLst xmlns:a="http://schemas.openxmlformats.org/drawingml/2006/main">
              <a:ext uri="{FF2B5EF4-FFF2-40B4-BE49-F238E27FC236}">
                <a16:creationId xmlns:a16="http://schemas.microsoft.com/office/drawing/2014/main" id="{5558BAF3-F369-402F-96D2-0B69ADCC6FF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03</a:t>
            </a:r>
          </a:p>
        </p:txBody>
      </p:sp>
      <p:sp>
        <p:nvSpPr>
          <p:cNvPr id="5" name="8–10">
            <a:extLst xmlns:a="http://schemas.openxmlformats.org/drawingml/2006/main">
              <a:ext uri="{FF2B5EF4-FFF2-40B4-BE49-F238E27FC236}">
                <a16:creationId xmlns:a16="http://schemas.microsoft.com/office/drawing/2014/main" id="{6595C916-3ADE-4FEB-BA4F-7410788D6879}"/>
              </a:ext>
            </a:extLst>
          </p:cNvPr>
          <p:cNvSpPr>
            <a:spLocks xmlns:a="http://schemas.openxmlformats.org/drawingml/2006/main" noGrp="1"/>
          </p:cNvSpPr>
          <p:nvPr/>
        </p:nvSpPr>
        <p:spPr>
          <a:xfrm xmlns:a="http://schemas.openxmlformats.org/drawingml/2006/main">
            <a:off x="609600" y="2190750"/>
            <a:ext cx="266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855DF"/>
                </a:solidFill>
                <a:latin typeface="Arial"/>
                <a:ea typeface="Arial"/>
                <a:cs typeface="Arial"/>
              </a:defRPr>
            </a:defPPr>
            <a:lvl1pPr algn="l">
              <a:defRPr sz="6300" b="1">
                <a:solidFill>
                  <a:srgbClr val="2855DF"/>
                </a:solidFill>
                <a:latin typeface="Arial"/>
                <a:ea typeface="Arial"/>
                <a:cs typeface="Arial"/>
              </a:defRPr>
            </a:lvl1pPr>
            <a:lvl2pPr algn="l">
              <a:defRPr sz="6300" b="1">
                <a:solidFill>
                  <a:srgbClr val="2855DF"/>
                </a:solidFill>
                <a:latin typeface="Arial"/>
                <a:ea typeface="Arial"/>
                <a:cs typeface="Arial"/>
              </a:defRPr>
            </a:lvl2pPr>
            <a:lvl3pPr algn="l">
              <a:defRPr sz="6300" b="1">
                <a:solidFill>
                  <a:srgbClr val="2855DF"/>
                </a:solidFill>
                <a:latin typeface="Arial"/>
                <a:ea typeface="Arial"/>
                <a:cs typeface="Arial"/>
              </a:defRPr>
            </a:lvl3pPr>
            <a:lvl4pPr algn="l">
              <a:defRPr sz="6300" b="1">
                <a:solidFill>
                  <a:srgbClr val="2855DF"/>
                </a:solidFill>
                <a:latin typeface="Arial"/>
                <a:ea typeface="Arial"/>
                <a:cs typeface="Arial"/>
              </a:defRPr>
            </a:lvl4pPr>
            <a:lvl5pPr algn="l">
              <a:defRPr sz="6300" b="1">
                <a:solidFill>
                  <a:srgbClr val="2855DF"/>
                </a:solidFill>
                <a:latin typeface="Arial"/>
                <a:ea typeface="Arial"/>
                <a:cs typeface="Arial"/>
              </a:defRPr>
            </a:lvl5pPr>
            <a:lvl6pPr algn="l">
              <a:defRPr sz="6300" b="1">
                <a:solidFill>
                  <a:srgbClr val="2855DF"/>
                </a:solidFill>
                <a:latin typeface="Arial"/>
                <a:ea typeface="Arial"/>
                <a:cs typeface="Arial"/>
              </a:defRPr>
            </a:lvl6pPr>
            <a:lvl7pPr algn="l">
              <a:defRPr sz="6300" b="1">
                <a:solidFill>
                  <a:srgbClr val="2855DF"/>
                </a:solidFill>
                <a:latin typeface="Arial"/>
                <a:ea typeface="Arial"/>
                <a:cs typeface="Arial"/>
              </a:defRPr>
            </a:lvl7pPr>
            <a:lvl8pPr algn="l">
              <a:defRPr sz="6300" b="1">
                <a:solidFill>
                  <a:srgbClr val="2855DF"/>
                </a:solidFill>
                <a:latin typeface="Arial"/>
                <a:ea typeface="Arial"/>
                <a:cs typeface="Arial"/>
              </a:defRPr>
            </a:lvl8pPr>
            <a:lvl9pPr algn="l">
              <a:defRPr sz="6300" b="1">
                <a:solidFill>
                  <a:srgbClr val="2855DF"/>
                </a:solidFill>
                <a:latin typeface="Arial"/>
                <a:ea typeface="Arial"/>
                <a:cs typeface="Arial"/>
              </a:defRPr>
            </a:lvl9pPr>
          </a:lstStyle>
          <a:p xmlns:a="http://schemas.openxmlformats.org/drawingml/2006/main">
            <a:pPr algn="l">
              <a:defRPr sz="6300" b="1">
                <a:solidFill>
                  <a:srgbClr val="2855DF"/>
                </a:solidFill>
                <a:latin typeface="Arial"/>
                <a:ea typeface="Arial"/>
                <a:cs typeface="Arial"/>
              </a:defRPr>
            </a:pPr>
            <a:r>
              <a:rPr sz="6300" b="1">
                <a:solidFill>
                  <a:srgbClr val="2855DF"/>
                </a:solidFill>
                <a:latin typeface="Arial"/>
                <a:ea typeface="Arial"/>
                <a:cs typeface="Arial"/>
              </a:rPr>
              <a:t>8–10</a:t>
            </a:r>
          </a:p>
        </p:txBody>
      </p:sp>
      <p:sp>
        <p:nvSpPr>
          <p:cNvPr id="6" name="couriers interviewed (approx.)">
            <a:extLst xmlns:a="http://schemas.openxmlformats.org/drawingml/2006/main">
              <a:ext uri="{FF2B5EF4-FFF2-40B4-BE49-F238E27FC236}">
                <a16:creationId xmlns:a16="http://schemas.microsoft.com/office/drawing/2014/main" id="{F864664B-9F4D-4BEF-9FAB-849CB1224EFD}"/>
              </a:ext>
            </a:extLst>
          </p:cNvPr>
          <p:cNvSpPr>
            <a:spLocks xmlns:a="http://schemas.openxmlformats.org/drawingml/2006/main" noGrp="1"/>
          </p:cNvSpPr>
          <p:nvPr/>
        </p:nvSpPr>
        <p:spPr>
          <a:xfrm xmlns:a="http://schemas.openxmlformats.org/drawingml/2006/main">
            <a:off x="609600" y="325755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couriers interviewed (approx.)</a:t>
            </a:r>
          </a:p>
        </p:txBody>
      </p:sp>
      <p:sp>
        <p:nvSpPr>
          <p:cNvPr id="7" name="Qualitative research focused on&#10;potential delivery partners.">
            <a:extLst xmlns:a="http://schemas.openxmlformats.org/drawingml/2006/main">
              <a:ext uri="{FF2B5EF4-FFF2-40B4-BE49-F238E27FC236}">
                <a16:creationId xmlns:a16="http://schemas.microsoft.com/office/drawing/2014/main" id="{29567367-7E3E-481A-BEA6-CB2BE567F215}"/>
              </a:ext>
            </a:extLst>
          </p:cNvPr>
          <p:cNvSpPr>
            <a:spLocks xmlns:a="http://schemas.openxmlformats.org/drawingml/2006/main" noGrp="1"/>
          </p:cNvSpPr>
          <p:nvPr/>
        </p:nvSpPr>
        <p:spPr>
          <a:xfrm xmlns:a="http://schemas.openxmlformats.org/drawingml/2006/main">
            <a:off x="609600" y="3781425"/>
            <a:ext cx="4143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86C78"/>
                </a:solidFill>
                <a:latin typeface="Arial"/>
                <a:ea typeface="Arial"/>
                <a:cs typeface="Arial"/>
              </a:defRPr>
            </a:defPPr>
            <a:lvl1pPr algn="l">
              <a:defRPr sz="1875" b="0">
                <a:solidFill>
                  <a:srgbClr val="586C78"/>
                </a:solidFill>
                <a:latin typeface="Arial"/>
                <a:ea typeface="Arial"/>
                <a:cs typeface="Arial"/>
              </a:defRPr>
            </a:lvl1pPr>
            <a:lvl2pPr algn="l">
              <a:defRPr sz="1875" b="0">
                <a:solidFill>
                  <a:srgbClr val="586C78"/>
                </a:solidFill>
                <a:latin typeface="Arial"/>
                <a:ea typeface="Arial"/>
                <a:cs typeface="Arial"/>
              </a:defRPr>
            </a:lvl2pPr>
            <a:lvl3pPr algn="l">
              <a:defRPr sz="1875" b="0">
                <a:solidFill>
                  <a:srgbClr val="586C78"/>
                </a:solidFill>
                <a:latin typeface="Arial"/>
                <a:ea typeface="Arial"/>
                <a:cs typeface="Arial"/>
              </a:defRPr>
            </a:lvl3pPr>
            <a:lvl4pPr algn="l">
              <a:defRPr sz="1875" b="0">
                <a:solidFill>
                  <a:srgbClr val="586C78"/>
                </a:solidFill>
                <a:latin typeface="Arial"/>
                <a:ea typeface="Arial"/>
                <a:cs typeface="Arial"/>
              </a:defRPr>
            </a:lvl4pPr>
            <a:lvl5pPr algn="l">
              <a:defRPr sz="1875" b="0">
                <a:solidFill>
                  <a:srgbClr val="586C78"/>
                </a:solidFill>
                <a:latin typeface="Arial"/>
                <a:ea typeface="Arial"/>
                <a:cs typeface="Arial"/>
              </a:defRPr>
            </a:lvl5pPr>
            <a:lvl6pPr algn="l">
              <a:defRPr sz="1875" b="0">
                <a:solidFill>
                  <a:srgbClr val="586C78"/>
                </a:solidFill>
                <a:latin typeface="Arial"/>
                <a:ea typeface="Arial"/>
                <a:cs typeface="Arial"/>
              </a:defRPr>
            </a:lvl6pPr>
            <a:lvl7pPr algn="l">
              <a:defRPr sz="1875" b="0">
                <a:solidFill>
                  <a:srgbClr val="586C78"/>
                </a:solidFill>
                <a:latin typeface="Arial"/>
                <a:ea typeface="Arial"/>
                <a:cs typeface="Arial"/>
              </a:defRPr>
            </a:lvl7pPr>
            <a:lvl8pPr algn="l">
              <a:defRPr sz="1875" b="0">
                <a:solidFill>
                  <a:srgbClr val="586C78"/>
                </a:solidFill>
                <a:latin typeface="Arial"/>
                <a:ea typeface="Arial"/>
                <a:cs typeface="Arial"/>
              </a:defRPr>
            </a:lvl8pPr>
            <a:lvl9pPr algn="l">
              <a:defRPr sz="1875" b="0">
                <a:solidFill>
                  <a:srgbClr val="586C78"/>
                </a:solidFill>
                <a:latin typeface="Arial"/>
                <a:ea typeface="Arial"/>
                <a:cs typeface="Arial"/>
              </a:defRPr>
            </a:lvl9pPr>
          </a:lstStyle>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Qualitative research focused on</a:t>
            </a:r>
          </a:p>
          <a:p xmlns:a="http://schemas.openxmlformats.org/drawingml/2006/main">
            <a:pPr algn="l">
              <a:defRPr sz="1875" b="0">
                <a:solidFill>
                  <a:srgbClr val="586C78"/>
                </a:solidFill>
                <a:latin typeface="Arial"/>
                <a:ea typeface="Arial"/>
                <a:cs typeface="Arial"/>
              </a:defRPr>
            </a:pPr>
            <a:r>
              <a:rPr sz="1875" b="0">
                <a:solidFill>
                  <a:srgbClr val="586C78"/>
                </a:solidFill>
                <a:latin typeface="Arial"/>
                <a:ea typeface="Arial"/>
                <a:cs typeface="Arial"/>
              </a:rPr>
              <a:t>potential delivery partners.</a:t>
            </a:r>
          </a:p>
        </p:txBody>
      </p:sp>
      <p:sp>
        <p:nvSpPr>
          <p:cNvPr id="8" name="Couriers registered on Qadam">
            <a:extLst xmlns:a="http://schemas.openxmlformats.org/drawingml/2006/main">
              <a:ext uri="{FF2B5EF4-FFF2-40B4-BE49-F238E27FC236}">
                <a16:creationId xmlns:a16="http://schemas.microsoft.com/office/drawing/2014/main" id="{CD3CEB79-0154-4097-9AF9-9D5844C006C3}"/>
              </a:ext>
            </a:extLst>
          </p:cNvPr>
          <p:cNvSpPr>
            <a:spLocks xmlns:a="http://schemas.openxmlformats.org/drawingml/2006/main" noGrp="1"/>
          </p:cNvSpPr>
          <p:nvPr/>
        </p:nvSpPr>
        <p:spPr>
          <a:xfrm xmlns:a="http://schemas.openxmlformats.org/drawingml/2006/main">
            <a:off x="609600" y="5105400"/>
            <a:ext cx="419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Couriers registered on Qadam</a:t>
            </a:r>
          </a:p>
        </p:txBody>
      </p:sp>
      <p:sp>
        <p:nvSpPr>
          <p:cNvPr id="9" name="An early step in building local supply">
            <a:extLst xmlns:a="http://schemas.openxmlformats.org/drawingml/2006/main">
              <a:ext uri="{FF2B5EF4-FFF2-40B4-BE49-F238E27FC236}">
                <a16:creationId xmlns:a16="http://schemas.microsoft.com/office/drawing/2014/main" id="{84720F44-6183-4EAC-A348-33C961E35DB9}"/>
              </a:ext>
            </a:extLst>
          </p:cNvPr>
          <p:cNvSpPr>
            <a:spLocks xmlns:a="http://schemas.openxmlformats.org/drawingml/2006/main" noGrp="1"/>
          </p:cNvSpPr>
          <p:nvPr/>
        </p:nvSpPr>
        <p:spPr>
          <a:xfrm xmlns:a="http://schemas.openxmlformats.org/drawingml/2006/main">
            <a:off x="609600" y="55626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An early step in building local supply</a:t>
            </a:r>
          </a:p>
        </p:txBody>
      </p:sp>
      <p:sp>
        <p:nvSpPr>
          <p:cNvPr id="10" name="01">
            <a:extLst xmlns:a="http://schemas.openxmlformats.org/drawingml/2006/main">
              <a:ext uri="{FF2B5EF4-FFF2-40B4-BE49-F238E27FC236}">
                <a16:creationId xmlns:a16="http://schemas.microsoft.com/office/drawing/2014/main" id="{20880F43-D651-4420-B31C-524504024E6C}"/>
              </a:ext>
            </a:extLst>
          </p:cNvPr>
          <p:cNvSpPr>
            <a:spLocks xmlns:a="http://schemas.openxmlformats.org/drawingml/2006/main" noGrp="1"/>
          </p:cNvSpPr>
          <p:nvPr/>
        </p:nvSpPr>
        <p:spPr>
          <a:xfrm xmlns:a="http://schemas.openxmlformats.org/drawingml/2006/main">
            <a:off x="5410200" y="22098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01</a:t>
            </a:r>
          </a:p>
        </p:txBody>
      </p:sp>
      <p:sp>
        <p:nvSpPr>
          <p:cNvPr id="11" name="Describe your last completed delivery.">
            <a:extLst xmlns:a="http://schemas.openxmlformats.org/drawingml/2006/main">
              <a:ext uri="{FF2B5EF4-FFF2-40B4-BE49-F238E27FC236}">
                <a16:creationId xmlns:a16="http://schemas.microsoft.com/office/drawing/2014/main" id="{BF19C1F4-2034-4187-BC87-89BC31539762}"/>
              </a:ext>
            </a:extLst>
          </p:cNvPr>
          <p:cNvSpPr>
            <a:spLocks xmlns:a="http://schemas.openxmlformats.org/drawingml/2006/main" noGrp="1"/>
          </p:cNvSpPr>
          <p:nvPr/>
        </p:nvSpPr>
        <p:spPr>
          <a:xfrm xmlns:a="http://schemas.openxmlformats.org/drawingml/2006/main">
            <a:off x="6057900" y="22098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Describe your last completed delivery.</a:t>
            </a:r>
          </a:p>
        </p:txBody>
      </p:sp>
      <p:sp>
        <p:nvSpPr>
          <p:cNvPr id="12" name="02">
            <a:extLst xmlns:a="http://schemas.openxmlformats.org/drawingml/2006/main">
              <a:ext uri="{FF2B5EF4-FFF2-40B4-BE49-F238E27FC236}">
                <a16:creationId xmlns:a16="http://schemas.microsoft.com/office/drawing/2014/main" id="{8C75B133-1377-4A76-A0D4-57C78D939B6C}"/>
              </a:ext>
            </a:extLst>
          </p:cNvPr>
          <p:cNvSpPr>
            <a:spLocks xmlns:a="http://schemas.openxmlformats.org/drawingml/2006/main" noGrp="1"/>
          </p:cNvSpPr>
          <p:nvPr/>
        </p:nvSpPr>
        <p:spPr>
          <a:xfrm xmlns:a="http://schemas.openxmlformats.org/drawingml/2006/main">
            <a:off x="5410200" y="292417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02</a:t>
            </a:r>
          </a:p>
        </p:txBody>
      </p:sp>
      <p:sp>
        <p:nvSpPr>
          <p:cNvPr id="13" name="How did you find that order?">
            <a:extLst xmlns:a="http://schemas.openxmlformats.org/drawingml/2006/main">
              <a:ext uri="{FF2B5EF4-FFF2-40B4-BE49-F238E27FC236}">
                <a16:creationId xmlns:a16="http://schemas.microsoft.com/office/drawing/2014/main" id="{EE76685E-12CD-4113-8A81-0CA0CAFD4AD8}"/>
              </a:ext>
            </a:extLst>
          </p:cNvPr>
          <p:cNvSpPr>
            <a:spLocks xmlns:a="http://schemas.openxmlformats.org/drawingml/2006/main" noGrp="1"/>
          </p:cNvSpPr>
          <p:nvPr/>
        </p:nvSpPr>
        <p:spPr>
          <a:xfrm xmlns:a="http://schemas.openxmlformats.org/drawingml/2006/main">
            <a:off x="6057900" y="292417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How did you find that order?</a:t>
            </a:r>
          </a:p>
        </p:txBody>
      </p:sp>
      <p:sp>
        <p:nvSpPr>
          <p:cNvPr id="14" name="03">
            <a:extLst xmlns:a="http://schemas.openxmlformats.org/drawingml/2006/main">
              <a:ext uri="{FF2B5EF4-FFF2-40B4-BE49-F238E27FC236}">
                <a16:creationId xmlns:a16="http://schemas.microsoft.com/office/drawing/2014/main" id="{B705771D-65C7-42E4-B7F8-5144E94302ED}"/>
              </a:ext>
            </a:extLst>
          </p:cNvPr>
          <p:cNvSpPr>
            <a:spLocks xmlns:a="http://schemas.openxmlformats.org/drawingml/2006/main" noGrp="1"/>
          </p:cNvSpPr>
          <p:nvPr/>
        </p:nvSpPr>
        <p:spPr>
          <a:xfrm xmlns:a="http://schemas.openxmlformats.org/drawingml/2006/main">
            <a:off x="5410200" y="363855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03</a:t>
            </a:r>
          </a:p>
        </p:txBody>
      </p:sp>
      <p:sp>
        <p:nvSpPr>
          <p:cNvPr id="15" name="What were the payout and travel costs?">
            <a:extLst xmlns:a="http://schemas.openxmlformats.org/drawingml/2006/main">
              <a:ext uri="{FF2B5EF4-FFF2-40B4-BE49-F238E27FC236}">
                <a16:creationId xmlns:a16="http://schemas.microsoft.com/office/drawing/2014/main" id="{40CD38BA-A194-4BE5-A1FE-9B818153BE40}"/>
              </a:ext>
            </a:extLst>
          </p:cNvPr>
          <p:cNvSpPr>
            <a:spLocks xmlns:a="http://schemas.openxmlformats.org/drawingml/2006/main" noGrp="1"/>
          </p:cNvSpPr>
          <p:nvPr/>
        </p:nvSpPr>
        <p:spPr>
          <a:xfrm xmlns:a="http://schemas.openxmlformats.org/drawingml/2006/main">
            <a:off x="6057900" y="363855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What were the payout and travel costs?</a:t>
            </a:r>
          </a:p>
        </p:txBody>
      </p:sp>
      <p:sp>
        <p:nvSpPr>
          <p:cNvPr id="16" name="04">
            <a:extLst xmlns:a="http://schemas.openxmlformats.org/drawingml/2006/main">
              <a:ext uri="{FF2B5EF4-FFF2-40B4-BE49-F238E27FC236}">
                <a16:creationId xmlns:a16="http://schemas.microsoft.com/office/drawing/2014/main" id="{F3373676-7635-4984-9B76-F323CBC2E0A1}"/>
              </a:ext>
            </a:extLst>
          </p:cNvPr>
          <p:cNvSpPr>
            <a:spLocks xmlns:a="http://schemas.openxmlformats.org/drawingml/2006/main" noGrp="1"/>
          </p:cNvSpPr>
          <p:nvPr/>
        </p:nvSpPr>
        <p:spPr>
          <a:xfrm xmlns:a="http://schemas.openxmlformats.org/drawingml/2006/main">
            <a:off x="5410200" y="4352925"/>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04</a:t>
            </a:r>
          </a:p>
        </p:txBody>
      </p:sp>
      <p:sp>
        <p:nvSpPr>
          <p:cNvPr id="17" name="When did you last wait without orders?">
            <a:extLst xmlns:a="http://schemas.openxmlformats.org/drawingml/2006/main">
              <a:ext uri="{FF2B5EF4-FFF2-40B4-BE49-F238E27FC236}">
                <a16:creationId xmlns:a16="http://schemas.microsoft.com/office/drawing/2014/main" id="{82D89ED3-55A6-423A-8387-692E63897B7E}"/>
              </a:ext>
            </a:extLst>
          </p:cNvPr>
          <p:cNvSpPr>
            <a:spLocks xmlns:a="http://schemas.openxmlformats.org/drawingml/2006/main" noGrp="1"/>
          </p:cNvSpPr>
          <p:nvPr/>
        </p:nvSpPr>
        <p:spPr>
          <a:xfrm xmlns:a="http://schemas.openxmlformats.org/drawingml/2006/main">
            <a:off x="6057900" y="4352925"/>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When did you last wait without orders?</a:t>
            </a:r>
          </a:p>
        </p:txBody>
      </p:sp>
      <p:sp>
        <p:nvSpPr>
          <p:cNvPr id="18" name="05">
            <a:extLst xmlns:a="http://schemas.openxmlformats.org/drawingml/2006/main">
              <a:ext uri="{FF2B5EF4-FFF2-40B4-BE49-F238E27FC236}">
                <a16:creationId xmlns:a16="http://schemas.microsoft.com/office/drawing/2014/main" id="{EB02D5F8-B440-4E2A-AF69-47322BD3D89C}"/>
              </a:ext>
            </a:extLst>
          </p:cNvPr>
          <p:cNvSpPr>
            <a:spLocks xmlns:a="http://schemas.openxmlformats.org/drawingml/2006/main" noGrp="1"/>
          </p:cNvSpPr>
          <p:nvPr/>
        </p:nvSpPr>
        <p:spPr>
          <a:xfrm xmlns:a="http://schemas.openxmlformats.org/drawingml/2006/main">
            <a:off x="5410200" y="5067300"/>
            <a:ext cx="533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855DF"/>
                </a:solidFill>
                <a:latin typeface="Arial"/>
                <a:ea typeface="Arial"/>
                <a:cs typeface="Arial"/>
              </a:defRPr>
            </a:defPPr>
            <a:lvl1pPr algn="l">
              <a:defRPr sz="1875" b="1">
                <a:solidFill>
                  <a:srgbClr val="2855DF"/>
                </a:solidFill>
                <a:latin typeface="Arial"/>
                <a:ea typeface="Arial"/>
                <a:cs typeface="Arial"/>
              </a:defRPr>
            </a:lvl1pPr>
            <a:lvl2pPr algn="l">
              <a:defRPr sz="1875" b="1">
                <a:solidFill>
                  <a:srgbClr val="2855DF"/>
                </a:solidFill>
                <a:latin typeface="Arial"/>
                <a:ea typeface="Arial"/>
                <a:cs typeface="Arial"/>
              </a:defRPr>
            </a:lvl2pPr>
            <a:lvl3pPr algn="l">
              <a:defRPr sz="1875" b="1">
                <a:solidFill>
                  <a:srgbClr val="2855DF"/>
                </a:solidFill>
                <a:latin typeface="Arial"/>
                <a:ea typeface="Arial"/>
                <a:cs typeface="Arial"/>
              </a:defRPr>
            </a:lvl3pPr>
            <a:lvl4pPr algn="l">
              <a:defRPr sz="1875" b="1">
                <a:solidFill>
                  <a:srgbClr val="2855DF"/>
                </a:solidFill>
                <a:latin typeface="Arial"/>
                <a:ea typeface="Arial"/>
                <a:cs typeface="Arial"/>
              </a:defRPr>
            </a:lvl4pPr>
            <a:lvl5pPr algn="l">
              <a:defRPr sz="1875" b="1">
                <a:solidFill>
                  <a:srgbClr val="2855DF"/>
                </a:solidFill>
                <a:latin typeface="Arial"/>
                <a:ea typeface="Arial"/>
                <a:cs typeface="Arial"/>
              </a:defRPr>
            </a:lvl5pPr>
            <a:lvl6pPr algn="l">
              <a:defRPr sz="1875" b="1">
                <a:solidFill>
                  <a:srgbClr val="2855DF"/>
                </a:solidFill>
                <a:latin typeface="Arial"/>
                <a:ea typeface="Arial"/>
                <a:cs typeface="Arial"/>
              </a:defRPr>
            </a:lvl6pPr>
            <a:lvl7pPr algn="l">
              <a:defRPr sz="1875" b="1">
                <a:solidFill>
                  <a:srgbClr val="2855DF"/>
                </a:solidFill>
                <a:latin typeface="Arial"/>
                <a:ea typeface="Arial"/>
                <a:cs typeface="Arial"/>
              </a:defRPr>
            </a:lvl7pPr>
            <a:lvl8pPr algn="l">
              <a:defRPr sz="1875" b="1">
                <a:solidFill>
                  <a:srgbClr val="2855DF"/>
                </a:solidFill>
                <a:latin typeface="Arial"/>
                <a:ea typeface="Arial"/>
                <a:cs typeface="Arial"/>
              </a:defRPr>
            </a:lvl8pPr>
            <a:lvl9pPr algn="l">
              <a:defRPr sz="1875" b="1">
                <a:solidFill>
                  <a:srgbClr val="2855DF"/>
                </a:solidFill>
                <a:latin typeface="Arial"/>
                <a:ea typeface="Arial"/>
                <a:cs typeface="Arial"/>
              </a:defRPr>
            </a:lvl9pPr>
          </a:lstStyle>
          <a:p xmlns:a="http://schemas.openxmlformats.org/drawingml/2006/main">
            <a:pPr algn="l">
              <a:defRPr sz="1875" b="1">
                <a:solidFill>
                  <a:srgbClr val="2855DF"/>
                </a:solidFill>
                <a:latin typeface="Arial"/>
                <a:ea typeface="Arial"/>
                <a:cs typeface="Arial"/>
              </a:defRPr>
            </a:pPr>
            <a:r>
              <a:rPr sz="1875" b="1">
                <a:solidFill>
                  <a:srgbClr val="2855DF"/>
                </a:solidFill>
                <a:latin typeface="Arial"/>
                <a:ea typeface="Arial"/>
                <a:cs typeface="Arial"/>
              </a:rPr>
              <a:t>05</a:t>
            </a:r>
          </a:p>
        </p:txBody>
      </p:sp>
      <p:sp>
        <p:nvSpPr>
          <p:cNvPr id="19" name="Which orders have you declined, and why?">
            <a:extLst xmlns:a="http://schemas.openxmlformats.org/drawingml/2006/main">
              <a:ext uri="{FF2B5EF4-FFF2-40B4-BE49-F238E27FC236}">
                <a16:creationId xmlns:a16="http://schemas.microsoft.com/office/drawing/2014/main" id="{5CA2CDDB-177B-407C-AC38-332FD734A82A}"/>
              </a:ext>
            </a:extLst>
          </p:cNvPr>
          <p:cNvSpPr>
            <a:spLocks xmlns:a="http://schemas.openxmlformats.org/drawingml/2006/main" noGrp="1"/>
          </p:cNvSpPr>
          <p:nvPr/>
        </p:nvSpPr>
        <p:spPr>
          <a:xfrm xmlns:a="http://schemas.openxmlformats.org/drawingml/2006/main">
            <a:off x="6057900" y="5067300"/>
            <a:ext cx="542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Which orders have you declined, and why?</a:t>
            </a:r>
          </a:p>
        </p:txBody>
      </p:sp>
    </p:spTree>
    <p:extLst>
      <p:ext uri="{BB962C8B-B14F-4D97-AF65-F5344CB8AC3E}">
        <p14:creationId xmlns:p14="http://schemas.microsoft.com/office/powerpoint/2010/main" val="203297598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arly evidence from the courier side">
            <a:extLst xmlns:a="http://schemas.openxmlformats.org/drawingml/2006/main">
              <a:ext uri="{FF2B5EF4-FFF2-40B4-BE49-F238E27FC236}">
                <a16:creationId xmlns:a16="http://schemas.microsoft.com/office/drawing/2014/main" id="{F6F8004F-2C52-4819-91F1-E6932F25320B}"/>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Early evidence from the courier side</a:t>
            </a:r>
          </a:p>
        </p:txBody>
      </p:sp>
      <p:sp>
        <p:nvSpPr>
          <p:cNvPr id="2" name="Research scope: courier interviews and registration on the platfo">
            <a:extLst xmlns:a="http://schemas.openxmlformats.org/drawingml/2006/main">
              <a:ext uri="{FF2B5EF4-FFF2-40B4-BE49-F238E27FC236}">
                <a16:creationId xmlns:a16="http://schemas.microsoft.com/office/drawing/2014/main" id="{1D352C79-828D-44B2-8447-448BBB425BC8}"/>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Research scope: courier interviews and registration on the platform</a:t>
            </a:r>
          </a:p>
        </p:txBody>
      </p:sp>
      <p:sp>
        <p:nvSpPr>
          <p:cNvPr id="3" name="Qadam Delivery">
            <a:extLst xmlns:a="http://schemas.openxmlformats.org/drawingml/2006/main">
              <a:ext uri="{FF2B5EF4-FFF2-40B4-BE49-F238E27FC236}">
                <a16:creationId xmlns:a16="http://schemas.microsoft.com/office/drawing/2014/main" id="{AD1C8DFE-160D-451F-AB89-562704CAC4DD}"/>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4">
            <a:extLst xmlns:a="http://schemas.openxmlformats.org/drawingml/2006/main">
              <a:ext uri="{FF2B5EF4-FFF2-40B4-BE49-F238E27FC236}">
                <a16:creationId xmlns:a16="http://schemas.microsoft.com/office/drawing/2014/main" id="{F742472D-8138-47C0-8B85-06B68E6CBE0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3B844540-B9ED-4831-BDA3-5F900B1BA9FE}"/>
              </a:ext>
            </a:extLst>
          </p:cNvPr>
          <p:cNvGraphicFramePr/>
          <p:nvPr/>
        </p:nvGraphicFramePr>
        <p:xfrm>
          <a:off xmlns:a="http://schemas.openxmlformats.org/drawingml/2006/main" x="609600" y="2095500"/>
          <a:ext xmlns:a="http://schemas.openxmlformats.org/drawingml/2006/main" cx="10972800" cy="3429000"/>
        </p:xfrm>
        <a:graphic xmlns:a="http://schemas.openxmlformats.org/drawingml/2006/main">
          <a:graphicData uri="http://schemas.openxmlformats.org/drawingml/2006/table">
            <a:tbl>
              <a:tblPr/>
              <a:tblGrid>
                <a:gridCol w="3333750"/>
                <a:gridCol w="3714750"/>
                <a:gridCol w="3924300"/>
              </a:tblGrid>
              <a:tr h="590550">
                <a:tc>
                  <a:txBody>
                    <a:bodyPr/>
                    <a:lstStyle/>
                    <a:p>
                      <a:r>
                        <a:rPr sz="1725" b="1">
                          <a:solidFill>
                            <a:srgbClr val="FFFFFF"/>
                          </a:solidFill>
                          <a:latin typeface="Arial"/>
                          <a:ea typeface="Arial"/>
                          <a:cs typeface="Arial"/>
                        </a:rPr>
                        <a:t>Evidence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What it shows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What remains unknown</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09613">
                <a:tc>
                  <a:txBody>
                    <a:bodyPr/>
                    <a:lstStyle/>
                    <a:p>
                      <a:r>
                        <a:rPr sz="1725" b="0">
                          <a:solidFill>
                            <a:srgbClr val="143243"/>
                          </a:solidFill>
                          <a:latin typeface="Arial"/>
                          <a:ea typeface="Arial"/>
                          <a:cs typeface="Arial"/>
                        </a:rPr>
                        <a:t>About 8–10 courier interviews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Access to potential partners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Quantified pain and common themes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725" b="0">
                          <a:solidFill>
                            <a:srgbClr val="143243"/>
                          </a:solidFill>
                          <a:latin typeface="Arial"/>
                          <a:ea typeface="Arial"/>
                          <a:cs typeface="Arial"/>
                        </a:rPr>
                        <a:t>Couriers registered on Qadam</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Accounts ready for pilot invitations</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Regular availability and engagement</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09613">
                <a:tc>
                  <a:txBody>
                    <a:bodyPr/>
                    <a:lstStyle/>
                    <a:p>
                      <a:r>
                        <a:rPr sz="1725" b="0">
                          <a:solidFill>
                            <a:srgbClr val="143243"/>
                          </a:solidFill>
                          <a:latin typeface="Arial"/>
                          <a:ea typeface="Arial"/>
                          <a:cs typeface="Arial"/>
                        </a:rPr>
                        <a:t>Order acceptance and delivery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Next stage of testing</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Completion rate and repeat activity</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09613">
                <a:tc>
                  <a:txBody>
                    <a:bodyPr/>
                    <a:lstStyle/>
                    <a:p>
                      <a:r>
                        <a:rPr sz="1725" b="0">
                          <a:solidFill>
                            <a:srgbClr val="143243"/>
                          </a:solidFill>
                          <a:latin typeface="Arial"/>
                          <a:ea typeface="Arial"/>
                          <a:cs typeface="Arial"/>
                        </a:rPr>
                        <a:t>Paying business customers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Future customer-side research</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Willingness to pay and volume</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Next evidence: availability, accepted orders and repeat activity">
            <a:extLst xmlns:a="http://schemas.openxmlformats.org/drawingml/2006/main">
              <a:ext uri="{FF2B5EF4-FFF2-40B4-BE49-F238E27FC236}">
                <a16:creationId xmlns:a16="http://schemas.microsoft.com/office/drawing/2014/main" id="{4AEE8FAD-24BB-44BD-B94E-A702BE8755E4}"/>
              </a:ext>
            </a:extLst>
          </p:cNvPr>
          <p:cNvSpPr>
            <a:spLocks xmlns:a="http://schemas.openxmlformats.org/drawingml/2006/main" noGrp="1"/>
          </p:cNvSpPr>
          <p:nvPr/>
        </p:nvSpPr>
        <p:spPr>
          <a:xfrm xmlns:a="http://schemas.openxmlformats.org/drawingml/2006/main">
            <a:off x="609600" y="5953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65A12"/>
                </a:solidFill>
                <a:latin typeface="Arial"/>
                <a:ea typeface="Arial"/>
                <a:cs typeface="Arial"/>
              </a:defRPr>
            </a:defPPr>
            <a:lvl1pPr algn="l">
              <a:defRPr sz="1875" b="1">
                <a:solidFill>
                  <a:srgbClr val="965A12"/>
                </a:solidFill>
                <a:latin typeface="Arial"/>
                <a:ea typeface="Arial"/>
                <a:cs typeface="Arial"/>
              </a:defRPr>
            </a:lvl1pPr>
            <a:lvl2pPr algn="l">
              <a:defRPr sz="1875" b="1">
                <a:solidFill>
                  <a:srgbClr val="965A12"/>
                </a:solidFill>
                <a:latin typeface="Arial"/>
                <a:ea typeface="Arial"/>
                <a:cs typeface="Arial"/>
              </a:defRPr>
            </a:lvl2pPr>
            <a:lvl3pPr algn="l">
              <a:defRPr sz="1875" b="1">
                <a:solidFill>
                  <a:srgbClr val="965A12"/>
                </a:solidFill>
                <a:latin typeface="Arial"/>
                <a:ea typeface="Arial"/>
                <a:cs typeface="Arial"/>
              </a:defRPr>
            </a:lvl3pPr>
            <a:lvl4pPr algn="l">
              <a:defRPr sz="1875" b="1">
                <a:solidFill>
                  <a:srgbClr val="965A12"/>
                </a:solidFill>
                <a:latin typeface="Arial"/>
                <a:ea typeface="Arial"/>
                <a:cs typeface="Arial"/>
              </a:defRPr>
            </a:lvl4pPr>
            <a:lvl5pPr algn="l">
              <a:defRPr sz="1875" b="1">
                <a:solidFill>
                  <a:srgbClr val="965A12"/>
                </a:solidFill>
                <a:latin typeface="Arial"/>
                <a:ea typeface="Arial"/>
                <a:cs typeface="Arial"/>
              </a:defRPr>
            </a:lvl5pPr>
            <a:lvl6pPr algn="l">
              <a:defRPr sz="1875" b="1">
                <a:solidFill>
                  <a:srgbClr val="965A12"/>
                </a:solidFill>
                <a:latin typeface="Arial"/>
                <a:ea typeface="Arial"/>
                <a:cs typeface="Arial"/>
              </a:defRPr>
            </a:lvl6pPr>
            <a:lvl7pPr algn="l">
              <a:defRPr sz="1875" b="1">
                <a:solidFill>
                  <a:srgbClr val="965A12"/>
                </a:solidFill>
                <a:latin typeface="Arial"/>
                <a:ea typeface="Arial"/>
                <a:cs typeface="Arial"/>
              </a:defRPr>
            </a:lvl7pPr>
            <a:lvl8pPr algn="l">
              <a:defRPr sz="1875" b="1">
                <a:solidFill>
                  <a:srgbClr val="965A12"/>
                </a:solidFill>
                <a:latin typeface="Arial"/>
                <a:ea typeface="Arial"/>
                <a:cs typeface="Arial"/>
              </a:defRPr>
            </a:lvl8pPr>
            <a:lvl9pPr algn="l">
              <a:defRPr sz="1875" b="1">
                <a:solidFill>
                  <a:srgbClr val="965A12"/>
                </a:solidFill>
                <a:latin typeface="Arial"/>
                <a:ea typeface="Arial"/>
                <a:cs typeface="Arial"/>
              </a:defRPr>
            </a:lvl9pPr>
          </a:lstStyle>
          <a:p xmlns:a="http://schemas.openxmlformats.org/drawingml/2006/main">
            <a:pPr algn="l">
              <a:defRPr sz="1875" b="1">
                <a:solidFill>
                  <a:srgbClr val="965A12"/>
                </a:solidFill>
                <a:latin typeface="Arial"/>
                <a:ea typeface="Arial"/>
                <a:cs typeface="Arial"/>
              </a:defRPr>
            </a:pPr>
            <a:r>
              <a:rPr sz="1875" b="1">
                <a:solidFill>
                  <a:srgbClr val="965A12"/>
                </a:solidFill>
                <a:latin typeface="Arial"/>
                <a:ea typeface="Arial"/>
                <a:cs typeface="Arial"/>
              </a:rPr>
              <a:t>Next evidence: availability, accepted orders and repeat activity</a:t>
            </a:r>
          </a:p>
        </p:txBody>
      </p:sp>
    </p:spTree>
    <p:extLst>
      <p:ext uri="{BB962C8B-B14F-4D97-AF65-F5344CB8AC3E}">
        <p14:creationId xmlns:p14="http://schemas.microsoft.com/office/powerpoint/2010/main" val="212885174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Kazakhstan’s e-commerce market is growing">
            <a:extLst xmlns:a="http://schemas.openxmlformats.org/drawingml/2006/main">
              <a:ext uri="{FF2B5EF4-FFF2-40B4-BE49-F238E27FC236}">
                <a16:creationId xmlns:a16="http://schemas.microsoft.com/office/drawing/2014/main" id="{99240611-D1B6-44A9-91C4-FE150D92DB8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Kazakhstan’s e-commerce market is growing</a:t>
            </a:r>
          </a:p>
        </p:txBody>
      </p:sp>
      <p:sp>
        <p:nvSpPr>
          <p:cNvPr id="2" name="Retail e-commerce turnover, KZT trillion, including marketplaces">
            <a:extLst xmlns:a="http://schemas.openxmlformats.org/drawingml/2006/main">
              <a:ext uri="{FF2B5EF4-FFF2-40B4-BE49-F238E27FC236}">
                <a16:creationId xmlns:a16="http://schemas.microsoft.com/office/drawing/2014/main" id="{ABB605E1-832C-418C-94F8-A0CA28B2EDA0}"/>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Retail e-commerce turnover, KZT trillion, including marketplaces</a:t>
            </a:r>
          </a:p>
        </p:txBody>
      </p:sp>
      <p:sp>
        <p:nvSpPr>
          <p:cNvPr id="3" name="Qadam Delivery">
            <a:extLst xmlns:a="http://schemas.openxmlformats.org/drawingml/2006/main">
              <a:ext uri="{FF2B5EF4-FFF2-40B4-BE49-F238E27FC236}">
                <a16:creationId xmlns:a16="http://schemas.microsoft.com/office/drawing/2014/main" id="{178C3C5C-2D3B-4BA8-8B18-65A04E1A78F1}"/>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5">
            <a:extLst xmlns:a="http://schemas.openxmlformats.org/drawingml/2006/main">
              <a:ext uri="{FF2B5EF4-FFF2-40B4-BE49-F238E27FC236}">
                <a16:creationId xmlns:a16="http://schemas.microsoft.com/office/drawing/2014/main" id="{A1B71E21-7E2E-4958-9766-5FC0A51A69F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E9EE04C0-7D96-455A-8223-F404559B55CE}"/>
              </a:ext>
            </a:extLst>
          </p:cNvPr>
          <p:cNvGraphicFramePr/>
          <p:nvPr/>
        </p:nvGraphicFramePr>
        <p:xfrm>
          <a:off xmlns:a="http://schemas.openxmlformats.org/drawingml/2006/main" x="609600" y="2190750"/>
          <a:ext xmlns:a="http://schemas.openxmlformats.org/drawingml/2006/main" cx="7000875" cy="3333750"/>
        </p:xfrm>
        <a:graphic xmlns:a="http://schemas.openxmlformats.org/drawingml/2006/main">
          <a:graphicData uri="http://schemas.openxmlformats.org/drawingml/2006/chart">
            <c:chart xmlns:r="http://schemas.openxmlformats.org/officeDocument/2006/relationships" xmlns:c="http://schemas.openxmlformats.org/drawingml/2006/chart" r:id="Rc4facb04d13f4d7f"/>
          </a:graphicData>
        </a:graphic>
      </p:graphicFrame>
      <p:sp>
        <p:nvSpPr>
          <p:cNvPr id="6" name="24.3%">
            <a:extLst xmlns:a="http://schemas.openxmlformats.org/drawingml/2006/main">
              <a:ext uri="{FF2B5EF4-FFF2-40B4-BE49-F238E27FC236}">
                <a16:creationId xmlns:a16="http://schemas.microsoft.com/office/drawing/2014/main" id="{9262D7DB-265E-483B-8B38-6DCDA0F3F76D}"/>
              </a:ext>
            </a:extLst>
          </p:cNvPr>
          <p:cNvSpPr>
            <a:spLocks xmlns:a="http://schemas.openxmlformats.org/drawingml/2006/main" noGrp="1"/>
          </p:cNvSpPr>
          <p:nvPr/>
        </p:nvSpPr>
        <p:spPr>
          <a:xfrm xmlns:a="http://schemas.openxmlformats.org/drawingml/2006/main">
            <a:off x="8096250" y="2305050"/>
            <a:ext cx="3381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000" b="1">
                <a:solidFill>
                  <a:srgbClr val="2855DF"/>
                </a:solidFill>
                <a:latin typeface="Arial"/>
                <a:ea typeface="Arial"/>
                <a:cs typeface="Arial"/>
              </a:defRPr>
            </a:defPPr>
            <a:lvl1pPr algn="l">
              <a:defRPr sz="6000" b="1">
                <a:solidFill>
                  <a:srgbClr val="2855DF"/>
                </a:solidFill>
                <a:latin typeface="Arial"/>
                <a:ea typeface="Arial"/>
                <a:cs typeface="Arial"/>
              </a:defRPr>
            </a:lvl1pPr>
            <a:lvl2pPr algn="l">
              <a:defRPr sz="6000" b="1">
                <a:solidFill>
                  <a:srgbClr val="2855DF"/>
                </a:solidFill>
                <a:latin typeface="Arial"/>
                <a:ea typeface="Arial"/>
                <a:cs typeface="Arial"/>
              </a:defRPr>
            </a:lvl2pPr>
            <a:lvl3pPr algn="l">
              <a:defRPr sz="6000" b="1">
                <a:solidFill>
                  <a:srgbClr val="2855DF"/>
                </a:solidFill>
                <a:latin typeface="Arial"/>
                <a:ea typeface="Arial"/>
                <a:cs typeface="Arial"/>
              </a:defRPr>
            </a:lvl3pPr>
            <a:lvl4pPr algn="l">
              <a:defRPr sz="6000" b="1">
                <a:solidFill>
                  <a:srgbClr val="2855DF"/>
                </a:solidFill>
                <a:latin typeface="Arial"/>
                <a:ea typeface="Arial"/>
                <a:cs typeface="Arial"/>
              </a:defRPr>
            </a:lvl4pPr>
            <a:lvl5pPr algn="l">
              <a:defRPr sz="6000" b="1">
                <a:solidFill>
                  <a:srgbClr val="2855DF"/>
                </a:solidFill>
                <a:latin typeface="Arial"/>
                <a:ea typeface="Arial"/>
                <a:cs typeface="Arial"/>
              </a:defRPr>
            </a:lvl5pPr>
            <a:lvl6pPr algn="l">
              <a:defRPr sz="6000" b="1">
                <a:solidFill>
                  <a:srgbClr val="2855DF"/>
                </a:solidFill>
                <a:latin typeface="Arial"/>
                <a:ea typeface="Arial"/>
                <a:cs typeface="Arial"/>
              </a:defRPr>
            </a:lvl6pPr>
            <a:lvl7pPr algn="l">
              <a:defRPr sz="6000" b="1">
                <a:solidFill>
                  <a:srgbClr val="2855DF"/>
                </a:solidFill>
                <a:latin typeface="Arial"/>
                <a:ea typeface="Arial"/>
                <a:cs typeface="Arial"/>
              </a:defRPr>
            </a:lvl7pPr>
            <a:lvl8pPr algn="l">
              <a:defRPr sz="6000" b="1">
                <a:solidFill>
                  <a:srgbClr val="2855DF"/>
                </a:solidFill>
                <a:latin typeface="Arial"/>
                <a:ea typeface="Arial"/>
                <a:cs typeface="Arial"/>
              </a:defRPr>
            </a:lvl8pPr>
            <a:lvl9pPr algn="l">
              <a:defRPr sz="6000" b="1">
                <a:solidFill>
                  <a:srgbClr val="2855DF"/>
                </a:solidFill>
                <a:latin typeface="Arial"/>
                <a:ea typeface="Arial"/>
                <a:cs typeface="Arial"/>
              </a:defRPr>
            </a:lvl9pPr>
          </a:lstStyle>
          <a:p xmlns:a="http://schemas.openxmlformats.org/drawingml/2006/main">
            <a:pPr algn="l">
              <a:defRPr sz="6000" b="1">
                <a:solidFill>
                  <a:srgbClr val="2855DF"/>
                </a:solidFill>
                <a:latin typeface="Arial"/>
                <a:ea typeface="Arial"/>
                <a:cs typeface="Arial"/>
              </a:defRPr>
            </a:pPr>
            <a:r>
              <a:rPr sz="6000" b="1">
                <a:solidFill>
                  <a:srgbClr val="2855DF"/>
                </a:solidFill>
                <a:latin typeface="Arial"/>
                <a:ea typeface="Arial"/>
                <a:cs typeface="Arial"/>
              </a:rPr>
              <a:t>24.3%</a:t>
            </a:r>
          </a:p>
        </p:txBody>
      </p:sp>
      <p:sp>
        <p:nvSpPr>
          <p:cNvPr id="7" name="CAGR for 2022–2025">
            <a:extLst xmlns:a="http://schemas.openxmlformats.org/drawingml/2006/main">
              <a:ext uri="{FF2B5EF4-FFF2-40B4-BE49-F238E27FC236}">
                <a16:creationId xmlns:a16="http://schemas.microsoft.com/office/drawing/2014/main" id="{B19B555D-EE5D-46DB-A03D-A5500C3A44A6}"/>
              </a:ext>
            </a:extLst>
          </p:cNvPr>
          <p:cNvSpPr>
            <a:spLocks xmlns:a="http://schemas.openxmlformats.org/drawingml/2006/main" noGrp="1"/>
          </p:cNvSpPr>
          <p:nvPr/>
        </p:nvSpPr>
        <p:spPr>
          <a:xfrm xmlns:a="http://schemas.openxmlformats.org/drawingml/2006/main">
            <a:off x="8096250" y="351472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3243"/>
                </a:solidFill>
                <a:latin typeface="Arial"/>
                <a:ea typeface="Arial"/>
                <a:cs typeface="Arial"/>
              </a:defRPr>
            </a:defPPr>
            <a:lvl1pPr algn="l">
              <a:defRPr sz="2100" b="1">
                <a:solidFill>
                  <a:srgbClr val="143243"/>
                </a:solidFill>
                <a:latin typeface="Arial"/>
                <a:ea typeface="Arial"/>
                <a:cs typeface="Arial"/>
              </a:defRPr>
            </a:lvl1pPr>
            <a:lvl2pPr algn="l">
              <a:defRPr sz="2100" b="1">
                <a:solidFill>
                  <a:srgbClr val="143243"/>
                </a:solidFill>
                <a:latin typeface="Arial"/>
                <a:ea typeface="Arial"/>
                <a:cs typeface="Arial"/>
              </a:defRPr>
            </a:lvl2pPr>
            <a:lvl3pPr algn="l">
              <a:defRPr sz="2100" b="1">
                <a:solidFill>
                  <a:srgbClr val="143243"/>
                </a:solidFill>
                <a:latin typeface="Arial"/>
                <a:ea typeface="Arial"/>
                <a:cs typeface="Arial"/>
              </a:defRPr>
            </a:lvl3pPr>
            <a:lvl4pPr algn="l">
              <a:defRPr sz="2100" b="1">
                <a:solidFill>
                  <a:srgbClr val="143243"/>
                </a:solidFill>
                <a:latin typeface="Arial"/>
                <a:ea typeface="Arial"/>
                <a:cs typeface="Arial"/>
              </a:defRPr>
            </a:lvl4pPr>
            <a:lvl5pPr algn="l">
              <a:defRPr sz="2100" b="1">
                <a:solidFill>
                  <a:srgbClr val="143243"/>
                </a:solidFill>
                <a:latin typeface="Arial"/>
                <a:ea typeface="Arial"/>
                <a:cs typeface="Arial"/>
              </a:defRPr>
            </a:lvl5pPr>
            <a:lvl6pPr algn="l">
              <a:defRPr sz="2100" b="1">
                <a:solidFill>
                  <a:srgbClr val="143243"/>
                </a:solidFill>
                <a:latin typeface="Arial"/>
                <a:ea typeface="Arial"/>
                <a:cs typeface="Arial"/>
              </a:defRPr>
            </a:lvl6pPr>
            <a:lvl7pPr algn="l">
              <a:defRPr sz="2100" b="1">
                <a:solidFill>
                  <a:srgbClr val="143243"/>
                </a:solidFill>
                <a:latin typeface="Arial"/>
                <a:ea typeface="Arial"/>
                <a:cs typeface="Arial"/>
              </a:defRPr>
            </a:lvl7pPr>
            <a:lvl8pPr algn="l">
              <a:defRPr sz="2100" b="1">
                <a:solidFill>
                  <a:srgbClr val="143243"/>
                </a:solidFill>
                <a:latin typeface="Arial"/>
                <a:ea typeface="Arial"/>
                <a:cs typeface="Arial"/>
              </a:defRPr>
            </a:lvl8pPr>
            <a:lvl9pPr algn="l">
              <a:defRPr sz="2100" b="1">
                <a:solidFill>
                  <a:srgbClr val="143243"/>
                </a:solidFill>
                <a:latin typeface="Arial"/>
                <a:ea typeface="Arial"/>
                <a:cs typeface="Arial"/>
              </a:defRPr>
            </a:lvl9pPr>
          </a:lstStyle>
          <a:p xmlns:a="http://schemas.openxmlformats.org/drawingml/2006/main">
            <a:pPr algn="l">
              <a:defRPr sz="2100" b="1">
                <a:solidFill>
                  <a:srgbClr val="143243"/>
                </a:solidFill>
                <a:latin typeface="Arial"/>
                <a:ea typeface="Arial"/>
                <a:cs typeface="Arial"/>
              </a:defRPr>
            </a:pPr>
            <a:r>
              <a:rPr sz="2100" b="1">
                <a:solidFill>
                  <a:srgbClr val="143243"/>
                </a:solidFill>
                <a:latin typeface="Arial"/>
                <a:ea typeface="Arial"/>
                <a:cs typeface="Arial"/>
              </a:rPr>
              <a:t>CAGR for 2022–2025</a:t>
            </a:r>
          </a:p>
        </p:txBody>
      </p:sp>
      <p:sp>
        <p:nvSpPr>
          <p:cNvPr id="8" name="[(3.7688 / 1.9635)^(1/3) − 1] × 100%">
            <a:extLst xmlns:a="http://schemas.openxmlformats.org/drawingml/2006/main">
              <a:ext uri="{FF2B5EF4-FFF2-40B4-BE49-F238E27FC236}">
                <a16:creationId xmlns:a16="http://schemas.microsoft.com/office/drawing/2014/main" id="{D8AE44E0-9D08-417E-BADB-A729E925E4CA}"/>
              </a:ext>
            </a:extLst>
          </p:cNvPr>
          <p:cNvSpPr>
            <a:spLocks xmlns:a="http://schemas.openxmlformats.org/drawingml/2006/main" noGrp="1"/>
          </p:cNvSpPr>
          <p:nvPr/>
        </p:nvSpPr>
        <p:spPr>
          <a:xfrm xmlns:a="http://schemas.openxmlformats.org/drawingml/2006/main">
            <a:off x="8096250" y="4038600"/>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[(3.7688 / 1.9635)^(1/3) − 1] × 100%</a:t>
            </a:r>
          </a:p>
        </p:txBody>
      </p:sp>
      <p:sp>
        <p:nvSpPr>
          <p:cNvPr id="9" name="Nominal growth in goods turnover.&#10;Courier-sector growth requires&#10;">
            <a:extLst xmlns:a="http://schemas.openxmlformats.org/drawingml/2006/main">
              <a:ext uri="{FF2B5EF4-FFF2-40B4-BE49-F238E27FC236}">
                <a16:creationId xmlns:a16="http://schemas.microsoft.com/office/drawing/2014/main" id="{C9E5D49C-58BC-4329-BC1B-85B2E32AC8C5}"/>
              </a:ext>
            </a:extLst>
          </p:cNvPr>
          <p:cNvSpPr>
            <a:spLocks xmlns:a="http://schemas.openxmlformats.org/drawingml/2006/main" noGrp="1"/>
          </p:cNvSpPr>
          <p:nvPr/>
        </p:nvSpPr>
        <p:spPr>
          <a:xfrm xmlns:a="http://schemas.openxmlformats.org/drawingml/2006/main">
            <a:off x="8096250" y="4772025"/>
            <a:ext cx="3476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Nominal growth in goods turnover.</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Courier-sector growth requires</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a separate estimate.</a:t>
            </a:r>
          </a:p>
        </p:txBody>
      </p:sp>
      <p:sp>
        <p:nvSpPr>
          <p:cNvPr id="10" name="Source: Bureau of National Statistics of Kazakhstan, E-commerce, ">
            <a:extLst xmlns:a="http://schemas.openxmlformats.org/drawingml/2006/main">
              <a:ext uri="{FF2B5EF4-FFF2-40B4-BE49-F238E27FC236}">
                <a16:creationId xmlns:a16="http://schemas.microsoft.com/office/drawing/2014/main" id="{3E8A008B-BBFE-4BF0-BB62-FB7110C8B0DE}"/>
              </a:ext>
            </a:extLst>
          </p:cNvPr>
          <p:cNvSpPr>
            <a:spLocks xmlns:a="http://schemas.openxmlformats.org/drawingml/2006/main" noGrp="1"/>
          </p:cNvSpPr>
          <p:nvPr/>
        </p:nvSpPr>
        <p:spPr>
          <a:xfrm xmlns:a="http://schemas.openxmlformats.org/drawingml/2006/main">
            <a:off x="609600" y="58959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Source: Bureau of National Statistics of Kazakhstan, E-commerce, 2025</a:t>
            </a:r>
          </a:p>
        </p:txBody>
      </p:sp>
    </p:spTree>
    <p:extLst>
      <p:ext uri="{BB962C8B-B14F-4D97-AF65-F5344CB8AC3E}">
        <p14:creationId xmlns:p14="http://schemas.microsoft.com/office/powerpoint/2010/main" val="159805329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he current Qadam Delivery MVP">
            <a:extLst xmlns:a="http://schemas.openxmlformats.org/drawingml/2006/main">
              <a:ext uri="{FF2B5EF4-FFF2-40B4-BE49-F238E27FC236}">
                <a16:creationId xmlns:a16="http://schemas.microsoft.com/office/drawing/2014/main" id="{7FB4D3FB-05C9-4CDB-857C-114A5D4F4CB0}"/>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The current Qadam Delivery MVP</a:t>
            </a:r>
          </a:p>
        </p:txBody>
      </p:sp>
      <p:sp>
        <p:nvSpPr>
          <p:cNvPr id="2" name="A Telegram Mini App and browser version for the delivery workflow">
            <a:extLst xmlns:a="http://schemas.openxmlformats.org/drawingml/2006/main">
              <a:ext uri="{FF2B5EF4-FFF2-40B4-BE49-F238E27FC236}">
                <a16:creationId xmlns:a16="http://schemas.microsoft.com/office/drawing/2014/main" id="{AF1714DA-4315-4DEF-B470-3950553D87AE}"/>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 Telegram Mini App and browser version for the delivery workflow</a:t>
            </a:r>
          </a:p>
        </p:txBody>
      </p:sp>
      <p:sp>
        <p:nvSpPr>
          <p:cNvPr id="3" name="Qadam Delivery">
            <a:extLst xmlns:a="http://schemas.openxmlformats.org/drawingml/2006/main">
              <a:ext uri="{FF2B5EF4-FFF2-40B4-BE49-F238E27FC236}">
                <a16:creationId xmlns:a16="http://schemas.microsoft.com/office/drawing/2014/main" id="{1108ED8D-5DC4-452E-988A-29927A24496C}"/>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6">
            <a:extLst xmlns:a="http://schemas.openxmlformats.org/drawingml/2006/main">
              <a:ext uri="{FF2B5EF4-FFF2-40B4-BE49-F238E27FC236}">
                <a16:creationId xmlns:a16="http://schemas.microsoft.com/office/drawing/2014/main" id="{A2F27834-B254-40CC-8F79-7DBE6FE4A097}"/>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74F36C06-5FF8-480C-9CDE-796F2B23892E}"/>
              </a:ext>
            </a:extLst>
          </p:cNvPr>
          <p:cNvPicPr>
            <a:picLocks xmlns:a="http://schemas.openxmlformats.org/drawingml/2006/main" noChangeAspect="1"/>
          </p:cNvPicPr>
          <p:nvPr/>
        </p:nvPicPr>
        <p:blipFill>
          <a:blip xmlns:r="http://schemas.openxmlformats.org/officeDocument/2006/relationships" xmlns:a="http://schemas.openxmlformats.org/drawingml/2006/main" r:embed="R3f47def60df84f7d"/>
          <a:stretch xmlns:a="http://schemas.openxmlformats.org/drawingml/2006/main"/>
        </p:blipFill>
        <p:spPr>
          <a:xfrm xmlns:a="http://schemas.openxmlformats.org/drawingml/2006/main">
            <a:off x="609600" y="2124670"/>
            <a:ext cx="7143749" cy="4018359"/>
          </a:xfrm>
          <a:prstGeom xmlns:a="http://schemas.openxmlformats.org/drawingml/2006/main" prst="rect">
            <a:avLst/>
          </a:prstGeom>
        </p:spPr>
      </p:pic>
      <p:sp>
        <p:nvSpPr>
          <p:cNvPr id="6" name="01">
            <a:extLst xmlns:a="http://schemas.openxmlformats.org/drawingml/2006/main">
              <a:ext uri="{FF2B5EF4-FFF2-40B4-BE49-F238E27FC236}">
                <a16:creationId xmlns:a16="http://schemas.microsoft.com/office/drawing/2014/main" id="{405973A2-D525-4DE9-AE2A-28855D16ED19}"/>
              </a:ext>
            </a:extLst>
          </p:cNvPr>
          <p:cNvSpPr>
            <a:spLocks xmlns:a="http://schemas.openxmlformats.org/drawingml/2006/main" noGrp="1"/>
          </p:cNvSpPr>
          <p:nvPr/>
        </p:nvSpPr>
        <p:spPr>
          <a:xfrm xmlns:a="http://schemas.openxmlformats.org/drawingml/2006/main">
            <a:off x="8134350" y="22002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01</a:t>
            </a:r>
          </a:p>
        </p:txBody>
      </p:sp>
      <p:sp>
        <p:nvSpPr>
          <p:cNvPr id="7" name="Create a delivery order">
            <a:extLst xmlns:a="http://schemas.openxmlformats.org/drawingml/2006/main">
              <a:ext uri="{FF2B5EF4-FFF2-40B4-BE49-F238E27FC236}">
                <a16:creationId xmlns:a16="http://schemas.microsoft.com/office/drawing/2014/main" id="{0CC4DD0B-EA47-4E96-ACE0-A8C34FB6BBC9}"/>
              </a:ext>
            </a:extLst>
          </p:cNvPr>
          <p:cNvSpPr>
            <a:spLocks xmlns:a="http://schemas.openxmlformats.org/drawingml/2006/main" noGrp="1"/>
          </p:cNvSpPr>
          <p:nvPr/>
        </p:nvSpPr>
        <p:spPr>
          <a:xfrm xmlns:a="http://schemas.openxmlformats.org/drawingml/2006/main">
            <a:off x="8743950" y="22002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Create a delivery order</a:t>
            </a:r>
          </a:p>
        </p:txBody>
      </p:sp>
      <p:sp>
        <p:nvSpPr>
          <p:cNvPr id="8" name="02">
            <a:extLst xmlns:a="http://schemas.openxmlformats.org/drawingml/2006/main">
              <a:ext uri="{FF2B5EF4-FFF2-40B4-BE49-F238E27FC236}">
                <a16:creationId xmlns:a16="http://schemas.microsoft.com/office/drawing/2014/main" id="{8313433D-00D9-44E4-8310-E86660AA1933}"/>
              </a:ext>
            </a:extLst>
          </p:cNvPr>
          <p:cNvSpPr>
            <a:spLocks xmlns:a="http://schemas.openxmlformats.org/drawingml/2006/main" noGrp="1"/>
          </p:cNvSpPr>
          <p:nvPr/>
        </p:nvSpPr>
        <p:spPr>
          <a:xfrm xmlns:a="http://schemas.openxmlformats.org/drawingml/2006/main">
            <a:off x="8134350" y="28860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02</a:t>
            </a:r>
          </a:p>
        </p:txBody>
      </p:sp>
      <p:sp>
        <p:nvSpPr>
          <p:cNvPr id="9" name="Courier accepts">
            <a:extLst xmlns:a="http://schemas.openxmlformats.org/drawingml/2006/main">
              <a:ext uri="{FF2B5EF4-FFF2-40B4-BE49-F238E27FC236}">
                <a16:creationId xmlns:a16="http://schemas.microsoft.com/office/drawing/2014/main" id="{17A06220-7515-4074-9A25-AE855E401B4D}"/>
              </a:ext>
            </a:extLst>
          </p:cNvPr>
          <p:cNvSpPr>
            <a:spLocks xmlns:a="http://schemas.openxmlformats.org/drawingml/2006/main" noGrp="1"/>
          </p:cNvSpPr>
          <p:nvPr/>
        </p:nvSpPr>
        <p:spPr>
          <a:xfrm xmlns:a="http://schemas.openxmlformats.org/drawingml/2006/main">
            <a:off x="8743950" y="28860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Courier accepts</a:t>
            </a:r>
          </a:p>
        </p:txBody>
      </p:sp>
      <p:sp>
        <p:nvSpPr>
          <p:cNvPr id="10" name="03">
            <a:extLst xmlns:a="http://schemas.openxmlformats.org/drawingml/2006/main">
              <a:ext uri="{FF2B5EF4-FFF2-40B4-BE49-F238E27FC236}">
                <a16:creationId xmlns:a16="http://schemas.microsoft.com/office/drawing/2014/main" id="{05C5D759-E29B-4937-8D9C-EBD2825B5269}"/>
              </a:ext>
            </a:extLst>
          </p:cNvPr>
          <p:cNvSpPr>
            <a:spLocks xmlns:a="http://schemas.openxmlformats.org/drawingml/2006/main" noGrp="1"/>
          </p:cNvSpPr>
          <p:nvPr/>
        </p:nvSpPr>
        <p:spPr>
          <a:xfrm xmlns:a="http://schemas.openxmlformats.org/drawingml/2006/main">
            <a:off x="8134350" y="35718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03</a:t>
            </a:r>
          </a:p>
        </p:txBody>
      </p:sp>
      <p:sp>
        <p:nvSpPr>
          <p:cNvPr id="11" name="Update delivery status">
            <a:extLst xmlns:a="http://schemas.openxmlformats.org/drawingml/2006/main">
              <a:ext uri="{FF2B5EF4-FFF2-40B4-BE49-F238E27FC236}">
                <a16:creationId xmlns:a16="http://schemas.microsoft.com/office/drawing/2014/main" id="{9A980196-D3F1-4819-B1DB-2548C00419AE}"/>
              </a:ext>
            </a:extLst>
          </p:cNvPr>
          <p:cNvSpPr>
            <a:spLocks xmlns:a="http://schemas.openxmlformats.org/drawingml/2006/main" noGrp="1"/>
          </p:cNvSpPr>
          <p:nvPr/>
        </p:nvSpPr>
        <p:spPr>
          <a:xfrm xmlns:a="http://schemas.openxmlformats.org/drawingml/2006/main">
            <a:off x="8743950" y="35718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Update delivery status</a:t>
            </a:r>
          </a:p>
        </p:txBody>
      </p:sp>
      <p:sp>
        <p:nvSpPr>
          <p:cNvPr id="12" name="04">
            <a:extLst xmlns:a="http://schemas.openxmlformats.org/drawingml/2006/main">
              <a:ext uri="{FF2B5EF4-FFF2-40B4-BE49-F238E27FC236}">
                <a16:creationId xmlns:a16="http://schemas.microsoft.com/office/drawing/2014/main" id="{92A33643-AAB4-4227-A188-F5D968577084}"/>
              </a:ext>
            </a:extLst>
          </p:cNvPr>
          <p:cNvSpPr>
            <a:spLocks xmlns:a="http://schemas.openxmlformats.org/drawingml/2006/main" noGrp="1"/>
          </p:cNvSpPr>
          <p:nvPr/>
        </p:nvSpPr>
        <p:spPr>
          <a:xfrm xmlns:a="http://schemas.openxmlformats.org/drawingml/2006/main">
            <a:off x="8134350" y="4257675"/>
            <a:ext cx="47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855DF"/>
                </a:solidFill>
                <a:latin typeface="Arial"/>
                <a:ea typeface="Arial"/>
                <a:cs typeface="Arial"/>
              </a:defRPr>
            </a:defPPr>
            <a:lvl1pPr algn="l">
              <a:defRPr sz="1800" b="1">
                <a:solidFill>
                  <a:srgbClr val="2855DF"/>
                </a:solidFill>
                <a:latin typeface="Arial"/>
                <a:ea typeface="Arial"/>
                <a:cs typeface="Arial"/>
              </a:defRPr>
            </a:lvl1pPr>
            <a:lvl2pPr algn="l">
              <a:defRPr sz="1800" b="1">
                <a:solidFill>
                  <a:srgbClr val="2855DF"/>
                </a:solidFill>
                <a:latin typeface="Arial"/>
                <a:ea typeface="Arial"/>
                <a:cs typeface="Arial"/>
              </a:defRPr>
            </a:lvl2pPr>
            <a:lvl3pPr algn="l">
              <a:defRPr sz="1800" b="1">
                <a:solidFill>
                  <a:srgbClr val="2855DF"/>
                </a:solidFill>
                <a:latin typeface="Arial"/>
                <a:ea typeface="Arial"/>
                <a:cs typeface="Arial"/>
              </a:defRPr>
            </a:lvl3pPr>
            <a:lvl4pPr algn="l">
              <a:defRPr sz="1800" b="1">
                <a:solidFill>
                  <a:srgbClr val="2855DF"/>
                </a:solidFill>
                <a:latin typeface="Arial"/>
                <a:ea typeface="Arial"/>
                <a:cs typeface="Arial"/>
              </a:defRPr>
            </a:lvl4pPr>
            <a:lvl5pPr algn="l">
              <a:defRPr sz="1800" b="1">
                <a:solidFill>
                  <a:srgbClr val="2855DF"/>
                </a:solidFill>
                <a:latin typeface="Arial"/>
                <a:ea typeface="Arial"/>
                <a:cs typeface="Arial"/>
              </a:defRPr>
            </a:lvl5pPr>
            <a:lvl6pPr algn="l">
              <a:defRPr sz="1800" b="1">
                <a:solidFill>
                  <a:srgbClr val="2855DF"/>
                </a:solidFill>
                <a:latin typeface="Arial"/>
                <a:ea typeface="Arial"/>
                <a:cs typeface="Arial"/>
              </a:defRPr>
            </a:lvl6pPr>
            <a:lvl7pPr algn="l">
              <a:defRPr sz="1800" b="1">
                <a:solidFill>
                  <a:srgbClr val="2855DF"/>
                </a:solidFill>
                <a:latin typeface="Arial"/>
                <a:ea typeface="Arial"/>
                <a:cs typeface="Arial"/>
              </a:defRPr>
            </a:lvl7pPr>
            <a:lvl8pPr algn="l">
              <a:defRPr sz="1800" b="1">
                <a:solidFill>
                  <a:srgbClr val="2855DF"/>
                </a:solidFill>
                <a:latin typeface="Arial"/>
                <a:ea typeface="Arial"/>
                <a:cs typeface="Arial"/>
              </a:defRPr>
            </a:lvl8pPr>
            <a:lvl9pPr algn="l">
              <a:defRPr sz="1800" b="1">
                <a:solidFill>
                  <a:srgbClr val="2855DF"/>
                </a:solidFill>
                <a:latin typeface="Arial"/>
                <a:ea typeface="Arial"/>
                <a:cs typeface="Arial"/>
              </a:defRPr>
            </a:lvl9pPr>
          </a:lstStyle>
          <a:p xmlns:a="http://schemas.openxmlformats.org/drawingml/2006/main">
            <a:pPr algn="l">
              <a:defRPr sz="1800" b="1">
                <a:solidFill>
                  <a:srgbClr val="2855DF"/>
                </a:solidFill>
                <a:latin typeface="Arial"/>
                <a:ea typeface="Arial"/>
                <a:cs typeface="Arial"/>
              </a:defRPr>
            </a:pPr>
            <a:r>
              <a:rPr sz="1800" b="1">
                <a:solidFill>
                  <a:srgbClr val="2855DF"/>
                </a:solidFill>
                <a:latin typeface="Arial"/>
                <a:ea typeface="Arial"/>
                <a:cs typeface="Arial"/>
              </a:rPr>
              <a:t>04</a:t>
            </a:r>
          </a:p>
        </p:txBody>
      </p:sp>
      <p:sp>
        <p:nvSpPr>
          <p:cNvPr id="13" name="Restore order history">
            <a:extLst xmlns:a="http://schemas.openxmlformats.org/drawingml/2006/main">
              <a:ext uri="{FF2B5EF4-FFF2-40B4-BE49-F238E27FC236}">
                <a16:creationId xmlns:a16="http://schemas.microsoft.com/office/drawing/2014/main" id="{51942859-525E-4864-91A9-FC5FF4DCD9E3}"/>
              </a:ext>
            </a:extLst>
          </p:cNvPr>
          <p:cNvSpPr>
            <a:spLocks xmlns:a="http://schemas.openxmlformats.org/drawingml/2006/main" noGrp="1"/>
          </p:cNvSpPr>
          <p:nvPr/>
        </p:nvSpPr>
        <p:spPr>
          <a:xfrm xmlns:a="http://schemas.openxmlformats.org/drawingml/2006/main">
            <a:off x="8743950" y="42576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Restore order history</a:t>
            </a:r>
          </a:p>
        </p:txBody>
      </p:sp>
      <p:sp>
        <p:nvSpPr>
          <p:cNvPr id="14" name="Russian-language demo.&#10;Shared flow for B2B pilots.">
            <a:extLst xmlns:a="http://schemas.openxmlformats.org/drawingml/2006/main">
              <a:ext uri="{FF2B5EF4-FFF2-40B4-BE49-F238E27FC236}">
                <a16:creationId xmlns:a16="http://schemas.microsoft.com/office/drawing/2014/main" id="{355927F7-3271-4B1C-81AC-0CC9F666F265}"/>
              </a:ext>
            </a:extLst>
          </p:cNvPr>
          <p:cNvSpPr>
            <a:spLocks xmlns:a="http://schemas.openxmlformats.org/drawingml/2006/main" noGrp="1"/>
          </p:cNvSpPr>
          <p:nvPr/>
        </p:nvSpPr>
        <p:spPr>
          <a:xfrm xmlns:a="http://schemas.openxmlformats.org/drawingml/2006/main">
            <a:off x="8134350" y="5124450"/>
            <a:ext cx="3429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Russian-language demo.</a:t>
            </a:r>
          </a:p>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Shared flow for B2B pilots.</a:t>
            </a:r>
          </a:p>
        </p:txBody>
      </p:sp>
      <p:sp>
        <p:nvSpPr>
          <p:cNvPr id="15" name="GPS updates while the app is open&#10;and permission is granted.">
            <a:extLst xmlns:a="http://schemas.openxmlformats.org/drawingml/2006/main">
              <a:ext uri="{FF2B5EF4-FFF2-40B4-BE49-F238E27FC236}">
                <a16:creationId xmlns:a16="http://schemas.microsoft.com/office/drawing/2014/main" id="{7B91F9B8-9D9C-4D00-8F8F-8BBAA58D42A0}"/>
              </a:ext>
            </a:extLst>
          </p:cNvPr>
          <p:cNvSpPr>
            <a:spLocks xmlns:a="http://schemas.openxmlformats.org/drawingml/2006/main" noGrp="1"/>
          </p:cNvSpPr>
          <p:nvPr/>
        </p:nvSpPr>
        <p:spPr>
          <a:xfrm xmlns:a="http://schemas.openxmlformats.org/drawingml/2006/main">
            <a:off x="8134350" y="58578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86C78"/>
                </a:solidFill>
                <a:latin typeface="Arial"/>
                <a:ea typeface="Arial"/>
                <a:cs typeface="Arial"/>
              </a:defRPr>
            </a:defPPr>
            <a:lvl1pPr algn="l">
              <a:defRPr sz="1350" b="0">
                <a:solidFill>
                  <a:srgbClr val="586C78"/>
                </a:solidFill>
                <a:latin typeface="Arial"/>
                <a:ea typeface="Arial"/>
                <a:cs typeface="Arial"/>
              </a:defRPr>
            </a:lvl1pPr>
            <a:lvl2pPr algn="l">
              <a:defRPr sz="1350" b="0">
                <a:solidFill>
                  <a:srgbClr val="586C78"/>
                </a:solidFill>
                <a:latin typeface="Arial"/>
                <a:ea typeface="Arial"/>
                <a:cs typeface="Arial"/>
              </a:defRPr>
            </a:lvl2pPr>
            <a:lvl3pPr algn="l">
              <a:defRPr sz="1350" b="0">
                <a:solidFill>
                  <a:srgbClr val="586C78"/>
                </a:solidFill>
                <a:latin typeface="Arial"/>
                <a:ea typeface="Arial"/>
                <a:cs typeface="Arial"/>
              </a:defRPr>
            </a:lvl3pPr>
            <a:lvl4pPr algn="l">
              <a:defRPr sz="1350" b="0">
                <a:solidFill>
                  <a:srgbClr val="586C78"/>
                </a:solidFill>
                <a:latin typeface="Arial"/>
                <a:ea typeface="Arial"/>
                <a:cs typeface="Arial"/>
              </a:defRPr>
            </a:lvl4pPr>
            <a:lvl5pPr algn="l">
              <a:defRPr sz="1350" b="0">
                <a:solidFill>
                  <a:srgbClr val="586C78"/>
                </a:solidFill>
                <a:latin typeface="Arial"/>
                <a:ea typeface="Arial"/>
                <a:cs typeface="Arial"/>
              </a:defRPr>
            </a:lvl5pPr>
            <a:lvl6pPr algn="l">
              <a:defRPr sz="1350" b="0">
                <a:solidFill>
                  <a:srgbClr val="586C78"/>
                </a:solidFill>
                <a:latin typeface="Arial"/>
                <a:ea typeface="Arial"/>
                <a:cs typeface="Arial"/>
              </a:defRPr>
            </a:lvl6pPr>
            <a:lvl7pPr algn="l">
              <a:defRPr sz="1350" b="0">
                <a:solidFill>
                  <a:srgbClr val="586C78"/>
                </a:solidFill>
                <a:latin typeface="Arial"/>
                <a:ea typeface="Arial"/>
                <a:cs typeface="Arial"/>
              </a:defRPr>
            </a:lvl7pPr>
            <a:lvl8pPr algn="l">
              <a:defRPr sz="1350" b="0">
                <a:solidFill>
                  <a:srgbClr val="586C78"/>
                </a:solidFill>
                <a:latin typeface="Arial"/>
                <a:ea typeface="Arial"/>
                <a:cs typeface="Arial"/>
              </a:defRPr>
            </a:lvl8pPr>
            <a:lvl9pPr algn="l">
              <a:defRPr sz="1350" b="0">
                <a:solidFill>
                  <a:srgbClr val="586C78"/>
                </a:solidFill>
                <a:latin typeface="Arial"/>
                <a:ea typeface="Arial"/>
                <a:cs typeface="Arial"/>
              </a:defRPr>
            </a:lvl9pPr>
          </a:lstStyle>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GPS updates while the app is open</a:t>
            </a:r>
          </a:p>
          <a:p xmlns:a="http://schemas.openxmlformats.org/drawingml/2006/main">
            <a:pPr algn="l">
              <a:defRPr sz="1350" b="0">
                <a:solidFill>
                  <a:srgbClr val="586C78"/>
                </a:solidFill>
                <a:latin typeface="Arial"/>
                <a:ea typeface="Arial"/>
                <a:cs typeface="Arial"/>
              </a:defRPr>
            </a:pPr>
            <a:r>
              <a:rPr sz="1350" b="0">
                <a:solidFill>
                  <a:srgbClr val="586C78"/>
                </a:solidFill>
                <a:latin typeface="Arial"/>
                <a:ea typeface="Arial"/>
                <a:cs typeface="Arial"/>
              </a:rPr>
              <a:t>and permission is granted.</a:t>
            </a:r>
          </a:p>
        </p:txBody>
      </p:sp>
    </p:spTree>
    <p:extLst>
      <p:ext uri="{BB962C8B-B14F-4D97-AF65-F5344CB8AC3E}">
        <p14:creationId xmlns:p14="http://schemas.microsoft.com/office/powerpoint/2010/main" val="15863311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Digital alternatives and market penetration">
            <a:extLst xmlns:a="http://schemas.openxmlformats.org/drawingml/2006/main">
              <a:ext uri="{FF2B5EF4-FFF2-40B4-BE49-F238E27FC236}">
                <a16:creationId xmlns:a16="http://schemas.microsoft.com/office/drawing/2014/main" id="{927A2DC6-2A05-4AA9-B78A-51C5F9A89F12}"/>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Digital alternatives and market penetration</a:t>
            </a:r>
          </a:p>
        </p:txBody>
      </p:sp>
      <p:sp>
        <p:nvSpPr>
          <p:cNvPr id="2" name="Business-side penetration remains unmeasured: interviews covered ">
            <a:extLst xmlns:a="http://schemas.openxmlformats.org/drawingml/2006/main">
              <a:ext uri="{FF2B5EF4-FFF2-40B4-BE49-F238E27FC236}">
                <a16:creationId xmlns:a16="http://schemas.microsoft.com/office/drawing/2014/main" id="{A65E1BD8-A211-4B69-9525-E56CBA130BA4}"/>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Business-side penetration remains unmeasured: interviews covered couriers only</a:t>
            </a:r>
          </a:p>
        </p:txBody>
      </p:sp>
      <p:sp>
        <p:nvSpPr>
          <p:cNvPr id="3" name="Qadam Delivery">
            <a:extLst xmlns:a="http://schemas.openxmlformats.org/drawingml/2006/main">
              <a:ext uri="{FF2B5EF4-FFF2-40B4-BE49-F238E27FC236}">
                <a16:creationId xmlns:a16="http://schemas.microsoft.com/office/drawing/2014/main" id="{E2A615A5-F21D-4EED-A6FF-609AA41E11D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7">
            <a:extLst xmlns:a="http://schemas.openxmlformats.org/drawingml/2006/main">
              <a:ext uri="{FF2B5EF4-FFF2-40B4-BE49-F238E27FC236}">
                <a16:creationId xmlns:a16="http://schemas.microsoft.com/office/drawing/2014/main" id="{E331D805-57D0-4A38-AA6D-08996166F428}"/>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07</a:t>
            </a:r>
          </a:p>
        </p:txBody>
      </p:sp>
      <p:sp>
        <p:nvSpPr>
          <p:cNvPr id="5" name="14.3%">
            <a:extLst xmlns:a="http://schemas.openxmlformats.org/drawingml/2006/main">
              <a:ext uri="{FF2B5EF4-FFF2-40B4-BE49-F238E27FC236}">
                <a16:creationId xmlns:a16="http://schemas.microsoft.com/office/drawing/2014/main" id="{6E27C6A1-AB7E-4B87-A320-401EF8532601}"/>
              </a:ext>
            </a:extLst>
          </p:cNvPr>
          <p:cNvSpPr>
            <a:spLocks xmlns:a="http://schemas.openxmlformats.org/drawingml/2006/main" noGrp="1"/>
          </p:cNvSpPr>
          <p:nvPr/>
        </p:nvSpPr>
        <p:spPr>
          <a:xfrm xmlns:a="http://schemas.openxmlformats.org/drawingml/2006/main">
            <a:off x="609600" y="211455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2855DF"/>
                </a:solidFill>
                <a:latin typeface="Arial"/>
                <a:ea typeface="Arial"/>
                <a:cs typeface="Arial"/>
              </a:defRPr>
            </a:defPPr>
            <a:lvl1pPr algn="l">
              <a:defRPr sz="5700" b="1">
                <a:solidFill>
                  <a:srgbClr val="2855DF"/>
                </a:solidFill>
                <a:latin typeface="Arial"/>
                <a:ea typeface="Arial"/>
                <a:cs typeface="Arial"/>
              </a:defRPr>
            </a:lvl1pPr>
            <a:lvl2pPr algn="l">
              <a:defRPr sz="5700" b="1">
                <a:solidFill>
                  <a:srgbClr val="2855DF"/>
                </a:solidFill>
                <a:latin typeface="Arial"/>
                <a:ea typeface="Arial"/>
                <a:cs typeface="Arial"/>
              </a:defRPr>
            </a:lvl2pPr>
            <a:lvl3pPr algn="l">
              <a:defRPr sz="5700" b="1">
                <a:solidFill>
                  <a:srgbClr val="2855DF"/>
                </a:solidFill>
                <a:latin typeface="Arial"/>
                <a:ea typeface="Arial"/>
                <a:cs typeface="Arial"/>
              </a:defRPr>
            </a:lvl3pPr>
            <a:lvl4pPr algn="l">
              <a:defRPr sz="5700" b="1">
                <a:solidFill>
                  <a:srgbClr val="2855DF"/>
                </a:solidFill>
                <a:latin typeface="Arial"/>
                <a:ea typeface="Arial"/>
                <a:cs typeface="Arial"/>
              </a:defRPr>
            </a:lvl4pPr>
            <a:lvl5pPr algn="l">
              <a:defRPr sz="5700" b="1">
                <a:solidFill>
                  <a:srgbClr val="2855DF"/>
                </a:solidFill>
                <a:latin typeface="Arial"/>
                <a:ea typeface="Arial"/>
                <a:cs typeface="Arial"/>
              </a:defRPr>
            </a:lvl5pPr>
            <a:lvl6pPr algn="l">
              <a:defRPr sz="5700" b="1">
                <a:solidFill>
                  <a:srgbClr val="2855DF"/>
                </a:solidFill>
                <a:latin typeface="Arial"/>
                <a:ea typeface="Arial"/>
                <a:cs typeface="Arial"/>
              </a:defRPr>
            </a:lvl6pPr>
            <a:lvl7pPr algn="l">
              <a:defRPr sz="5700" b="1">
                <a:solidFill>
                  <a:srgbClr val="2855DF"/>
                </a:solidFill>
                <a:latin typeface="Arial"/>
                <a:ea typeface="Arial"/>
                <a:cs typeface="Arial"/>
              </a:defRPr>
            </a:lvl7pPr>
            <a:lvl8pPr algn="l">
              <a:defRPr sz="5700" b="1">
                <a:solidFill>
                  <a:srgbClr val="2855DF"/>
                </a:solidFill>
                <a:latin typeface="Arial"/>
                <a:ea typeface="Arial"/>
                <a:cs typeface="Arial"/>
              </a:defRPr>
            </a:lvl8pPr>
            <a:lvl9pPr algn="l">
              <a:defRPr sz="5700" b="1">
                <a:solidFill>
                  <a:srgbClr val="2855DF"/>
                </a:solidFill>
                <a:latin typeface="Arial"/>
                <a:ea typeface="Arial"/>
                <a:cs typeface="Arial"/>
              </a:defRPr>
            </a:lvl9pPr>
          </a:lstStyle>
          <a:p xmlns:a="http://schemas.openxmlformats.org/drawingml/2006/main">
            <a:pPr algn="l">
              <a:defRPr sz="5700" b="1">
                <a:solidFill>
                  <a:srgbClr val="2855DF"/>
                </a:solidFill>
                <a:latin typeface="Arial"/>
                <a:ea typeface="Arial"/>
                <a:cs typeface="Arial"/>
              </a:defRPr>
            </a:pPr>
            <a:r>
              <a:rPr sz="5700" b="1">
                <a:solidFill>
                  <a:srgbClr val="2855DF"/>
                </a:solidFill>
                <a:latin typeface="Arial"/>
                <a:ea typeface="Arial"/>
                <a:cs typeface="Arial"/>
              </a:rPr>
              <a:t>14.3%</a:t>
            </a:r>
          </a:p>
        </p:txBody>
      </p:sp>
      <p:sp>
        <p:nvSpPr>
          <p:cNvPr id="6" name="Online sales as a share of&#10;Kazakhstan’s retail turnover, 2025">
            <a:extLst xmlns:a="http://schemas.openxmlformats.org/drawingml/2006/main">
              <a:ext uri="{FF2B5EF4-FFF2-40B4-BE49-F238E27FC236}">
                <a16:creationId xmlns:a16="http://schemas.microsoft.com/office/drawing/2014/main" id="{00F4C51A-626F-46AE-A70F-F1646242B347}"/>
              </a:ext>
            </a:extLst>
          </p:cNvPr>
          <p:cNvSpPr>
            <a:spLocks xmlns:a="http://schemas.openxmlformats.org/drawingml/2006/main" noGrp="1"/>
          </p:cNvSpPr>
          <p:nvPr/>
        </p:nvSpPr>
        <p:spPr>
          <a:xfrm xmlns:a="http://schemas.openxmlformats.org/drawingml/2006/main">
            <a:off x="609600" y="3228975"/>
            <a:ext cx="3714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3243"/>
                </a:solidFill>
                <a:latin typeface="Arial"/>
                <a:ea typeface="Arial"/>
                <a:cs typeface="Arial"/>
              </a:defRPr>
            </a:defPPr>
            <a:lvl1pPr algn="l">
              <a:defRPr sz="2025" b="1">
                <a:solidFill>
                  <a:srgbClr val="143243"/>
                </a:solidFill>
                <a:latin typeface="Arial"/>
                <a:ea typeface="Arial"/>
                <a:cs typeface="Arial"/>
              </a:defRPr>
            </a:lvl1pPr>
            <a:lvl2pPr algn="l">
              <a:defRPr sz="2025" b="1">
                <a:solidFill>
                  <a:srgbClr val="143243"/>
                </a:solidFill>
                <a:latin typeface="Arial"/>
                <a:ea typeface="Arial"/>
                <a:cs typeface="Arial"/>
              </a:defRPr>
            </a:lvl2pPr>
            <a:lvl3pPr algn="l">
              <a:defRPr sz="2025" b="1">
                <a:solidFill>
                  <a:srgbClr val="143243"/>
                </a:solidFill>
                <a:latin typeface="Arial"/>
                <a:ea typeface="Arial"/>
                <a:cs typeface="Arial"/>
              </a:defRPr>
            </a:lvl3pPr>
            <a:lvl4pPr algn="l">
              <a:defRPr sz="2025" b="1">
                <a:solidFill>
                  <a:srgbClr val="143243"/>
                </a:solidFill>
                <a:latin typeface="Arial"/>
                <a:ea typeface="Arial"/>
                <a:cs typeface="Arial"/>
              </a:defRPr>
            </a:lvl4pPr>
            <a:lvl5pPr algn="l">
              <a:defRPr sz="2025" b="1">
                <a:solidFill>
                  <a:srgbClr val="143243"/>
                </a:solidFill>
                <a:latin typeface="Arial"/>
                <a:ea typeface="Arial"/>
                <a:cs typeface="Arial"/>
              </a:defRPr>
            </a:lvl5pPr>
            <a:lvl6pPr algn="l">
              <a:defRPr sz="2025" b="1">
                <a:solidFill>
                  <a:srgbClr val="143243"/>
                </a:solidFill>
                <a:latin typeface="Arial"/>
                <a:ea typeface="Arial"/>
                <a:cs typeface="Arial"/>
              </a:defRPr>
            </a:lvl6pPr>
            <a:lvl7pPr algn="l">
              <a:defRPr sz="2025" b="1">
                <a:solidFill>
                  <a:srgbClr val="143243"/>
                </a:solidFill>
                <a:latin typeface="Arial"/>
                <a:ea typeface="Arial"/>
                <a:cs typeface="Arial"/>
              </a:defRPr>
            </a:lvl7pPr>
            <a:lvl8pPr algn="l">
              <a:defRPr sz="2025" b="1">
                <a:solidFill>
                  <a:srgbClr val="143243"/>
                </a:solidFill>
                <a:latin typeface="Arial"/>
                <a:ea typeface="Arial"/>
                <a:cs typeface="Arial"/>
              </a:defRPr>
            </a:lvl8pPr>
            <a:lvl9pPr algn="l">
              <a:defRPr sz="2025" b="1">
                <a:solidFill>
                  <a:srgbClr val="143243"/>
                </a:solidFill>
                <a:latin typeface="Arial"/>
                <a:ea typeface="Arial"/>
                <a:cs typeface="Arial"/>
              </a:defRPr>
            </a:lvl9pPr>
          </a:lstStyle>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Online sales as a share of</a:t>
            </a:r>
          </a:p>
          <a:p xmlns:a="http://schemas.openxmlformats.org/drawingml/2006/main">
            <a:pPr algn="l">
              <a:defRPr sz="2025" b="1">
                <a:solidFill>
                  <a:srgbClr val="143243"/>
                </a:solidFill>
                <a:latin typeface="Arial"/>
                <a:ea typeface="Arial"/>
                <a:cs typeface="Arial"/>
              </a:defRPr>
            </a:pPr>
            <a:r>
              <a:rPr sz="2025" b="1">
                <a:solidFill>
                  <a:srgbClr val="143243"/>
                </a:solidFill>
                <a:latin typeface="Arial"/>
                <a:ea typeface="Arial"/>
                <a:cs typeface="Arial"/>
              </a:rPr>
              <a:t>Kazakhstan’s retail turnover, 2025</a:t>
            </a:r>
          </a:p>
        </p:txBody>
      </p:sp>
      <p:sp>
        <p:nvSpPr>
          <p:cNvPr id="7" name="This measures sales turnover.&#10;Courier registration is an early&#10;on">
            <a:extLst xmlns:a="http://schemas.openxmlformats.org/drawingml/2006/main">
              <a:ext uri="{FF2B5EF4-FFF2-40B4-BE49-F238E27FC236}">
                <a16:creationId xmlns:a16="http://schemas.microsoft.com/office/drawing/2014/main" id="{E1818A17-379D-43D4-A4FB-12C7AF4CBDF1}"/>
              </a:ext>
            </a:extLst>
          </p:cNvPr>
          <p:cNvSpPr>
            <a:spLocks xmlns:a="http://schemas.openxmlformats.org/drawingml/2006/main" noGrp="1"/>
          </p:cNvSpPr>
          <p:nvPr/>
        </p:nvSpPr>
        <p:spPr>
          <a:xfrm xmlns:a="http://schemas.openxmlformats.org/drawingml/2006/main">
            <a:off x="609600" y="4343400"/>
            <a:ext cx="3714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86C78"/>
                </a:solidFill>
                <a:latin typeface="Arial"/>
                <a:ea typeface="Arial"/>
                <a:cs typeface="Arial"/>
              </a:defRPr>
            </a:defPPr>
            <a:lvl1pPr algn="l">
              <a:defRPr sz="1800" b="0">
                <a:solidFill>
                  <a:srgbClr val="586C78"/>
                </a:solidFill>
                <a:latin typeface="Arial"/>
                <a:ea typeface="Arial"/>
                <a:cs typeface="Arial"/>
              </a:defRPr>
            </a:lvl1pPr>
            <a:lvl2pPr algn="l">
              <a:defRPr sz="1800" b="0">
                <a:solidFill>
                  <a:srgbClr val="586C78"/>
                </a:solidFill>
                <a:latin typeface="Arial"/>
                <a:ea typeface="Arial"/>
                <a:cs typeface="Arial"/>
              </a:defRPr>
            </a:lvl2pPr>
            <a:lvl3pPr algn="l">
              <a:defRPr sz="1800" b="0">
                <a:solidFill>
                  <a:srgbClr val="586C78"/>
                </a:solidFill>
                <a:latin typeface="Arial"/>
                <a:ea typeface="Arial"/>
                <a:cs typeface="Arial"/>
              </a:defRPr>
            </a:lvl3pPr>
            <a:lvl4pPr algn="l">
              <a:defRPr sz="1800" b="0">
                <a:solidFill>
                  <a:srgbClr val="586C78"/>
                </a:solidFill>
                <a:latin typeface="Arial"/>
                <a:ea typeface="Arial"/>
                <a:cs typeface="Arial"/>
              </a:defRPr>
            </a:lvl4pPr>
            <a:lvl5pPr algn="l">
              <a:defRPr sz="1800" b="0">
                <a:solidFill>
                  <a:srgbClr val="586C78"/>
                </a:solidFill>
                <a:latin typeface="Arial"/>
                <a:ea typeface="Arial"/>
                <a:cs typeface="Arial"/>
              </a:defRPr>
            </a:lvl5pPr>
            <a:lvl6pPr algn="l">
              <a:defRPr sz="1800" b="0">
                <a:solidFill>
                  <a:srgbClr val="586C78"/>
                </a:solidFill>
                <a:latin typeface="Arial"/>
                <a:ea typeface="Arial"/>
                <a:cs typeface="Arial"/>
              </a:defRPr>
            </a:lvl6pPr>
            <a:lvl7pPr algn="l">
              <a:defRPr sz="1800" b="0">
                <a:solidFill>
                  <a:srgbClr val="586C78"/>
                </a:solidFill>
                <a:latin typeface="Arial"/>
                <a:ea typeface="Arial"/>
                <a:cs typeface="Arial"/>
              </a:defRPr>
            </a:lvl7pPr>
            <a:lvl8pPr algn="l">
              <a:defRPr sz="1800" b="0">
                <a:solidFill>
                  <a:srgbClr val="586C78"/>
                </a:solidFill>
                <a:latin typeface="Arial"/>
                <a:ea typeface="Arial"/>
                <a:cs typeface="Arial"/>
              </a:defRPr>
            </a:lvl8pPr>
            <a:lvl9pPr algn="l">
              <a:defRPr sz="1800" b="0">
                <a:solidFill>
                  <a:srgbClr val="586C78"/>
                </a:solidFill>
                <a:latin typeface="Arial"/>
                <a:ea typeface="Arial"/>
                <a:cs typeface="Arial"/>
              </a:defRPr>
            </a:lvl9pPr>
          </a:lstStyle>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This measures sales turnover.</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Courier registration is an early</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onboarding signal. Local penetration</a:t>
            </a:r>
          </a:p>
          <a:p xmlns:a="http://schemas.openxmlformats.org/drawingml/2006/main">
            <a:pPr algn="l">
              <a:defRPr sz="1800" b="0">
                <a:solidFill>
                  <a:srgbClr val="586C78"/>
                </a:solidFill>
                <a:latin typeface="Arial"/>
                <a:ea typeface="Arial"/>
                <a:cs typeface="Arial"/>
              </a:defRPr>
            </a:pPr>
            <a:r>
              <a:rPr sz="1800" b="0">
                <a:solidFill>
                  <a:srgbClr val="586C78"/>
                </a:solidFill>
                <a:latin typeface="Arial"/>
                <a:ea typeface="Arial"/>
                <a:cs typeface="Arial"/>
              </a:rPr>
              <a:t>needs a defined market denominator.</a:t>
            </a:r>
          </a:p>
        </p:txBody>
      </p:sp>
      <p:graphicFrame>
        <p:nvGraphicFramePr>
          <p:cNvPr id="8" name="">
            <a:extLst xmlns:a="http://schemas.openxmlformats.org/drawingml/2006/main">
              <a:ext uri="{FF2B5EF4-FFF2-40B4-BE49-F238E27FC236}">
                <a16:creationId xmlns:a16="http://schemas.microsoft.com/office/drawing/2014/main" id="{A9962162-BD49-462D-8B2E-E51728737410}"/>
              </a:ext>
            </a:extLst>
          </p:cNvPr>
          <p:cNvGraphicFramePr/>
          <p:nvPr/>
        </p:nvGraphicFramePr>
        <p:xfrm>
          <a:off xmlns:a="http://schemas.openxmlformats.org/drawingml/2006/main" x="4876800" y="2124075"/>
          <a:ext xmlns:a="http://schemas.openxmlformats.org/drawingml/2006/main" cx="6705600" cy="2667000"/>
        </p:xfrm>
        <a:graphic xmlns:a="http://schemas.openxmlformats.org/drawingml/2006/main">
          <a:graphicData uri="http://schemas.openxmlformats.org/drawingml/2006/table">
            <a:tbl>
              <a:tblPr/>
              <a:tblGrid>
                <a:gridCol w="2714625"/>
                <a:gridCol w="3990975"/>
              </a:tblGrid>
              <a:tr h="590550">
                <a:tc>
                  <a:txBody>
                    <a:bodyPr/>
                    <a:lstStyle/>
                    <a:p>
                      <a:r>
                        <a:rPr sz="1650" b="1">
                          <a:solidFill>
                            <a:srgbClr val="FFFFFF"/>
                          </a:solidFill>
                          <a:latin typeface="Arial"/>
                          <a:ea typeface="Arial"/>
                          <a:cs typeface="Arial"/>
                        </a:rPr>
                        <a:t>Current alternative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650" b="1">
                          <a:solidFill>
                            <a:srgbClr val="FFFFFF"/>
                          </a:solidFill>
                          <a:latin typeface="Arial"/>
                          <a:ea typeface="Arial"/>
                          <a:cs typeface="Arial"/>
                        </a:rPr>
                        <a:t>Evidence to collect</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1725" b="0">
                          <a:solidFill>
                            <a:srgbClr val="143243"/>
                          </a:solidFill>
                          <a:latin typeface="Arial"/>
                          <a:ea typeface="Arial"/>
                          <a:cs typeface="Arial"/>
                        </a:rPr>
                        <a:t>Delivery service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Frequency, price and reasons for use</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1725" b="0">
                          <a:solidFill>
                            <a:srgbClr val="143243"/>
                          </a:solidFill>
                          <a:latin typeface="Arial"/>
                          <a:ea typeface="Arial"/>
                          <a:cs typeface="Arial"/>
                        </a:rPr>
                        <a:t>Regular courier</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725" b="0">
                          <a:solidFill>
                            <a:srgbClr val="143243"/>
                          </a:solidFill>
                          <a:latin typeface="Arial"/>
                          <a:ea typeface="Arial"/>
                          <a:cs typeface="Arial"/>
                        </a:rPr>
                        <a:t>Availability and replacement options</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1725" b="0">
                          <a:solidFill>
                            <a:srgbClr val="143243"/>
                          </a:solidFill>
                          <a:latin typeface="Arial"/>
                          <a:ea typeface="Arial"/>
                          <a:cs typeface="Arial"/>
                        </a:rPr>
                        <a:t>Manual arrangements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725" b="0">
                          <a:solidFill>
                            <a:srgbClr val="143243"/>
                          </a:solidFill>
                          <a:latin typeface="Arial"/>
                          <a:ea typeface="Arial"/>
                          <a:cs typeface="Arial"/>
                        </a:rPr>
                        <a:t>Time spent and handover errors</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9" name="Penetration = n / N × 100%">
            <a:extLst xmlns:a="http://schemas.openxmlformats.org/drawingml/2006/main">
              <a:ext uri="{FF2B5EF4-FFF2-40B4-BE49-F238E27FC236}">
                <a16:creationId xmlns:a16="http://schemas.microsoft.com/office/drawing/2014/main" id="{F90AD7F1-FECD-40B8-9312-9DFEC9096507}"/>
              </a:ext>
            </a:extLst>
          </p:cNvPr>
          <p:cNvSpPr>
            <a:spLocks xmlns:a="http://schemas.openxmlformats.org/drawingml/2006/main" noGrp="1"/>
          </p:cNvSpPr>
          <p:nvPr/>
        </p:nvSpPr>
        <p:spPr>
          <a:xfrm xmlns:a="http://schemas.openxmlformats.org/drawingml/2006/main">
            <a:off x="4876800" y="5095875"/>
            <a:ext cx="670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3243"/>
                </a:solidFill>
                <a:latin typeface="Arial"/>
                <a:ea typeface="Arial"/>
                <a:cs typeface="Arial"/>
              </a:defRPr>
            </a:defPPr>
            <a:lvl1pPr algn="l">
              <a:defRPr sz="2175" b="1">
                <a:solidFill>
                  <a:srgbClr val="143243"/>
                </a:solidFill>
                <a:latin typeface="Arial"/>
                <a:ea typeface="Arial"/>
                <a:cs typeface="Arial"/>
              </a:defRPr>
            </a:lvl1pPr>
            <a:lvl2pPr algn="l">
              <a:defRPr sz="2175" b="1">
                <a:solidFill>
                  <a:srgbClr val="143243"/>
                </a:solidFill>
                <a:latin typeface="Arial"/>
                <a:ea typeface="Arial"/>
                <a:cs typeface="Arial"/>
              </a:defRPr>
            </a:lvl2pPr>
            <a:lvl3pPr algn="l">
              <a:defRPr sz="2175" b="1">
                <a:solidFill>
                  <a:srgbClr val="143243"/>
                </a:solidFill>
                <a:latin typeface="Arial"/>
                <a:ea typeface="Arial"/>
                <a:cs typeface="Arial"/>
              </a:defRPr>
            </a:lvl3pPr>
            <a:lvl4pPr algn="l">
              <a:defRPr sz="2175" b="1">
                <a:solidFill>
                  <a:srgbClr val="143243"/>
                </a:solidFill>
                <a:latin typeface="Arial"/>
                <a:ea typeface="Arial"/>
                <a:cs typeface="Arial"/>
              </a:defRPr>
            </a:lvl4pPr>
            <a:lvl5pPr algn="l">
              <a:defRPr sz="2175" b="1">
                <a:solidFill>
                  <a:srgbClr val="143243"/>
                </a:solidFill>
                <a:latin typeface="Arial"/>
                <a:ea typeface="Arial"/>
                <a:cs typeface="Arial"/>
              </a:defRPr>
            </a:lvl5pPr>
            <a:lvl6pPr algn="l">
              <a:defRPr sz="2175" b="1">
                <a:solidFill>
                  <a:srgbClr val="143243"/>
                </a:solidFill>
                <a:latin typeface="Arial"/>
                <a:ea typeface="Arial"/>
                <a:cs typeface="Arial"/>
              </a:defRPr>
            </a:lvl6pPr>
            <a:lvl7pPr algn="l">
              <a:defRPr sz="2175" b="1">
                <a:solidFill>
                  <a:srgbClr val="143243"/>
                </a:solidFill>
                <a:latin typeface="Arial"/>
                <a:ea typeface="Arial"/>
                <a:cs typeface="Arial"/>
              </a:defRPr>
            </a:lvl7pPr>
            <a:lvl8pPr algn="l">
              <a:defRPr sz="2175" b="1">
                <a:solidFill>
                  <a:srgbClr val="143243"/>
                </a:solidFill>
                <a:latin typeface="Arial"/>
                <a:ea typeface="Arial"/>
                <a:cs typeface="Arial"/>
              </a:defRPr>
            </a:lvl8pPr>
            <a:lvl9pPr algn="l">
              <a:defRPr sz="2175" b="1">
                <a:solidFill>
                  <a:srgbClr val="143243"/>
                </a:solidFill>
                <a:latin typeface="Arial"/>
                <a:ea typeface="Arial"/>
                <a:cs typeface="Arial"/>
              </a:defRPr>
            </a:lvl9pPr>
          </a:lstStyle>
          <a:p xmlns:a="http://schemas.openxmlformats.org/drawingml/2006/main">
            <a:pPr algn="l">
              <a:defRPr sz="2175" b="1">
                <a:solidFill>
                  <a:srgbClr val="143243"/>
                </a:solidFill>
                <a:latin typeface="Arial"/>
                <a:ea typeface="Arial"/>
                <a:cs typeface="Arial"/>
              </a:defRPr>
            </a:pPr>
            <a:r>
              <a:rPr sz="2175" b="1">
                <a:solidFill>
                  <a:srgbClr val="143243"/>
                </a:solidFill>
                <a:latin typeface="Arial"/>
                <a:ea typeface="Arial"/>
                <a:cs typeface="Arial"/>
              </a:rPr>
              <a:t>Penetration = n / N × 100%</a:t>
            </a:r>
          </a:p>
        </p:txBody>
      </p:sp>
      <p:sp>
        <p:nvSpPr>
          <p:cNvPr id="10" name="n = businesses using a digital delivery service&#10;N = all surveyed ">
            <a:extLst xmlns:a="http://schemas.openxmlformats.org/drawingml/2006/main">
              <a:ext uri="{FF2B5EF4-FFF2-40B4-BE49-F238E27FC236}">
                <a16:creationId xmlns:a16="http://schemas.microsoft.com/office/drawing/2014/main" id="{86647305-1FB4-4249-866C-31DBFA983C80}"/>
              </a:ext>
            </a:extLst>
          </p:cNvPr>
          <p:cNvSpPr>
            <a:spLocks xmlns:a="http://schemas.openxmlformats.org/drawingml/2006/main" noGrp="1"/>
          </p:cNvSpPr>
          <p:nvPr/>
        </p:nvSpPr>
        <p:spPr>
          <a:xfrm xmlns:a="http://schemas.openxmlformats.org/drawingml/2006/main">
            <a:off x="4876800" y="5619750"/>
            <a:ext cx="6705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businesses using a digital delivery service</a:t>
            </a:r>
          </a:p>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N = all surveyed businesses in the target segment</a:t>
            </a:r>
          </a:p>
        </p:txBody>
      </p:sp>
    </p:spTree>
    <p:extLst>
      <p:ext uri="{BB962C8B-B14F-4D97-AF65-F5344CB8AC3E}">
        <p14:creationId xmlns:p14="http://schemas.microsoft.com/office/powerpoint/2010/main" val="36768362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AM / SAM / SOM: a working scenario">
            <a:extLst xmlns:a="http://schemas.openxmlformats.org/drawingml/2006/main">
              <a:ext uri="{FF2B5EF4-FFF2-40B4-BE49-F238E27FC236}">
                <a16:creationId xmlns:a16="http://schemas.microsoft.com/office/drawing/2014/main" id="{7FBFC3DE-F76D-4C04-8D47-7509EB3A5C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TAM / SAM / SOM: a working scenario</a:t>
            </a:r>
          </a:p>
        </p:txBody>
      </p:sp>
      <p:sp>
        <p:nvSpPr>
          <p:cNvPr id="2" name="All customer counts, delivery volumes and platform fees below are">
            <a:extLst xmlns:a="http://schemas.openxmlformats.org/drawingml/2006/main">
              <a:ext uri="{FF2B5EF4-FFF2-40B4-BE49-F238E27FC236}">
                <a16:creationId xmlns:a16="http://schemas.microsoft.com/office/drawing/2014/main" id="{AE6F3796-6975-446F-9E2E-003D09877B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All customer counts, delivery volumes and platform fees below are assumptions</a:t>
            </a:r>
          </a:p>
        </p:txBody>
      </p:sp>
      <p:sp>
        <p:nvSpPr>
          <p:cNvPr id="3" name="Qadam Delivery">
            <a:extLst xmlns:a="http://schemas.openxmlformats.org/drawingml/2006/main">
              <a:ext uri="{FF2B5EF4-FFF2-40B4-BE49-F238E27FC236}">
                <a16:creationId xmlns:a16="http://schemas.microsoft.com/office/drawing/2014/main" id="{84063E45-7800-4A71-96BB-21AEC40F385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8">
            <a:extLst xmlns:a="http://schemas.openxmlformats.org/drawingml/2006/main">
              <a:ext uri="{FF2B5EF4-FFF2-40B4-BE49-F238E27FC236}">
                <a16:creationId xmlns:a16="http://schemas.microsoft.com/office/drawing/2014/main" id="{E80C5E45-330C-4BDC-A108-0A691C9959F0}"/>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7E1888A2-E7A8-4E0A-8418-FAD01BAC2A97}"/>
              </a:ext>
            </a:extLst>
          </p:cNvPr>
          <p:cNvGraphicFramePr/>
          <p:nvPr/>
        </p:nvGraphicFramePr>
        <p:xfrm>
          <a:off xmlns:a="http://schemas.openxmlformats.org/drawingml/2006/main" x="609600" y="2114550"/>
          <a:ext xmlns:a="http://schemas.openxmlformats.org/drawingml/2006/main" cx="10972800" cy="2667000"/>
        </p:xfrm>
        <a:graphic xmlns:a="http://schemas.openxmlformats.org/drawingml/2006/main">
          <a:graphicData uri="http://schemas.openxmlformats.org/drawingml/2006/table">
            <a:tbl>
              <a:tblPr/>
              <a:tblGrid>
                <a:gridCol w="4524375"/>
                <a:gridCol w="2762250"/>
                <a:gridCol w="3686175"/>
              </a:tblGrid>
              <a:tr h="590550">
                <a:tc>
                  <a:txBody>
                    <a:bodyPr/>
                    <a:lstStyle/>
                    <a:p>
                      <a:r>
                        <a:rPr sz="1950" b="1">
                          <a:solidFill>
                            <a:srgbClr val="FFFFFF"/>
                          </a:solidFill>
                          <a:latin typeface="Arial"/>
                          <a:ea typeface="Arial"/>
                          <a:cs typeface="Arial"/>
                        </a:rPr>
                        <a:t>Market scope</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Eligible businesses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950" b="1">
                          <a:solidFill>
                            <a:srgbClr val="FFFFFF"/>
                          </a:solidFill>
                          <a:latin typeface="Arial"/>
                          <a:ea typeface="Arial"/>
                          <a:cs typeface="Arial"/>
                        </a:rPr>
                        <a:t>Annual Qadam revenue</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92150">
                <a:tc>
                  <a:txBody>
                    <a:bodyPr/>
                    <a:lstStyle/>
                    <a:p>
                      <a:r>
                        <a:rPr sz="2025" b="0">
                          <a:solidFill>
                            <a:srgbClr val="143243"/>
                          </a:solidFill>
                          <a:latin typeface="Arial"/>
                          <a:ea typeface="Arial"/>
                          <a:cs typeface="Arial"/>
                        </a:rPr>
                        <a:t>TAM: Kazakhstan</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10,000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KZT 1.44bn</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92150">
                <a:tc>
                  <a:txBody>
                    <a:bodyPr/>
                    <a:lstStyle/>
                    <a:p>
                      <a:r>
                        <a:rPr sz="2025" b="0">
                          <a:solidFill>
                            <a:srgbClr val="143243"/>
                          </a:solidFill>
                          <a:latin typeface="Arial"/>
                          <a:ea typeface="Arial"/>
                          <a:cs typeface="Arial"/>
                        </a:rPr>
                        <a:t>SAM: Almaty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1,500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2025" b="0">
                          <a:solidFill>
                            <a:srgbClr val="143243"/>
                          </a:solidFill>
                          <a:latin typeface="Arial"/>
                          <a:ea typeface="Arial"/>
                          <a:cs typeface="Arial"/>
                        </a:rPr>
                        <a:t>KZT 216m</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92150">
                <a:tc>
                  <a:txBody>
                    <a:bodyPr/>
                    <a:lstStyle/>
                    <a:p>
                      <a:r>
                        <a:rPr sz="2025" b="0">
                          <a:solidFill>
                            <a:srgbClr val="143243"/>
                          </a:solidFill>
                          <a:latin typeface="Arial"/>
                          <a:ea typeface="Arial"/>
                          <a:cs typeface="Arial"/>
                        </a:rPr>
                        <a:t>SOM: first 1–2 years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50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2025" b="0">
                          <a:solidFill>
                            <a:srgbClr val="143243"/>
                          </a:solidFill>
                          <a:latin typeface="Arial"/>
                          <a:ea typeface="Arial"/>
                          <a:cs typeface="Arial"/>
                        </a:rPr>
                        <a:t>KZT 7.2m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50 businesses × 40 deliveries × KZT 300 × 12 = KZT 7.2m">
            <a:extLst xmlns:a="http://schemas.openxmlformats.org/drawingml/2006/main">
              <a:ext uri="{FF2B5EF4-FFF2-40B4-BE49-F238E27FC236}">
                <a16:creationId xmlns:a16="http://schemas.microsoft.com/office/drawing/2014/main" id="{627F776B-222C-43F0-9501-C615DBC31FC9}"/>
              </a:ext>
            </a:extLst>
          </p:cNvPr>
          <p:cNvSpPr>
            <a:spLocks xmlns:a="http://schemas.openxmlformats.org/drawingml/2006/main" noGrp="1"/>
          </p:cNvSpPr>
          <p:nvPr/>
        </p:nvSpPr>
        <p:spPr>
          <a:xfrm xmlns:a="http://schemas.openxmlformats.org/drawingml/2006/main">
            <a:off x="609600" y="51625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855DF"/>
                </a:solidFill>
                <a:latin typeface="Arial"/>
                <a:ea typeface="Arial"/>
                <a:cs typeface="Arial"/>
              </a:defRPr>
            </a:defPPr>
            <a:lvl1pPr algn="l">
              <a:defRPr sz="2400" b="1">
                <a:solidFill>
                  <a:srgbClr val="2855DF"/>
                </a:solidFill>
                <a:latin typeface="Arial"/>
                <a:ea typeface="Arial"/>
                <a:cs typeface="Arial"/>
              </a:defRPr>
            </a:lvl1pPr>
            <a:lvl2pPr algn="l">
              <a:defRPr sz="2400" b="1">
                <a:solidFill>
                  <a:srgbClr val="2855DF"/>
                </a:solidFill>
                <a:latin typeface="Arial"/>
                <a:ea typeface="Arial"/>
                <a:cs typeface="Arial"/>
              </a:defRPr>
            </a:lvl2pPr>
            <a:lvl3pPr algn="l">
              <a:defRPr sz="2400" b="1">
                <a:solidFill>
                  <a:srgbClr val="2855DF"/>
                </a:solidFill>
                <a:latin typeface="Arial"/>
                <a:ea typeface="Arial"/>
                <a:cs typeface="Arial"/>
              </a:defRPr>
            </a:lvl3pPr>
            <a:lvl4pPr algn="l">
              <a:defRPr sz="2400" b="1">
                <a:solidFill>
                  <a:srgbClr val="2855DF"/>
                </a:solidFill>
                <a:latin typeface="Arial"/>
                <a:ea typeface="Arial"/>
                <a:cs typeface="Arial"/>
              </a:defRPr>
            </a:lvl4pPr>
            <a:lvl5pPr algn="l">
              <a:defRPr sz="2400" b="1">
                <a:solidFill>
                  <a:srgbClr val="2855DF"/>
                </a:solidFill>
                <a:latin typeface="Arial"/>
                <a:ea typeface="Arial"/>
                <a:cs typeface="Arial"/>
              </a:defRPr>
            </a:lvl5pPr>
            <a:lvl6pPr algn="l">
              <a:defRPr sz="2400" b="1">
                <a:solidFill>
                  <a:srgbClr val="2855DF"/>
                </a:solidFill>
                <a:latin typeface="Arial"/>
                <a:ea typeface="Arial"/>
                <a:cs typeface="Arial"/>
              </a:defRPr>
            </a:lvl6pPr>
            <a:lvl7pPr algn="l">
              <a:defRPr sz="2400" b="1">
                <a:solidFill>
                  <a:srgbClr val="2855DF"/>
                </a:solidFill>
                <a:latin typeface="Arial"/>
                <a:ea typeface="Arial"/>
                <a:cs typeface="Arial"/>
              </a:defRPr>
            </a:lvl7pPr>
            <a:lvl8pPr algn="l">
              <a:defRPr sz="2400" b="1">
                <a:solidFill>
                  <a:srgbClr val="2855DF"/>
                </a:solidFill>
                <a:latin typeface="Arial"/>
                <a:ea typeface="Arial"/>
                <a:cs typeface="Arial"/>
              </a:defRPr>
            </a:lvl8pPr>
            <a:lvl9pPr algn="l">
              <a:defRPr sz="2400" b="1">
                <a:solidFill>
                  <a:srgbClr val="2855DF"/>
                </a:solidFill>
                <a:latin typeface="Arial"/>
                <a:ea typeface="Arial"/>
                <a:cs typeface="Arial"/>
              </a:defRPr>
            </a:lvl9pPr>
          </a:lstStyle>
          <a:p xmlns:a="http://schemas.openxmlformats.org/drawingml/2006/main">
            <a:pPr algn="l">
              <a:defRPr sz="2400" b="1">
                <a:solidFill>
                  <a:srgbClr val="2855DF"/>
                </a:solidFill>
                <a:latin typeface="Arial"/>
                <a:ea typeface="Arial"/>
                <a:cs typeface="Arial"/>
              </a:defRPr>
            </a:pPr>
            <a:r>
              <a:rPr sz="2400" b="1">
                <a:solidFill>
                  <a:srgbClr val="2855DF"/>
                </a:solidFill>
                <a:latin typeface="Arial"/>
                <a:ea typeface="Arial"/>
                <a:cs typeface="Arial"/>
              </a:rPr>
              <a:t>50 businesses × 40 deliveries × KZT 300 × 12 = KZT 7.2m</a:t>
            </a:r>
          </a:p>
        </p:txBody>
      </p:sp>
      <p:sp>
        <p:nvSpPr>
          <p:cNvPr id="7" name="KZT 300 is assumed platform revenue per order. Courier compensati">
            <a:extLst xmlns:a="http://schemas.openxmlformats.org/drawingml/2006/main">
              <a:ext uri="{FF2B5EF4-FFF2-40B4-BE49-F238E27FC236}">
                <a16:creationId xmlns:a16="http://schemas.microsoft.com/office/drawing/2014/main" id="{B74B3157-970B-42BD-8D02-CEEF4BFF0340}"/>
              </a:ext>
            </a:extLst>
          </p:cNvPr>
          <p:cNvSpPr>
            <a:spLocks xmlns:a="http://schemas.openxmlformats.org/drawingml/2006/main" noGrp="1"/>
          </p:cNvSpPr>
          <p:nvPr/>
        </p:nvSpPr>
        <p:spPr>
          <a:xfrm xmlns:a="http://schemas.openxmlformats.org/drawingml/2006/main">
            <a:off x="609600" y="57912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86C78"/>
                </a:solidFill>
                <a:latin typeface="Arial"/>
                <a:ea typeface="Arial"/>
                <a:cs typeface="Arial"/>
              </a:defRPr>
            </a:defPPr>
            <a:lvl1pPr algn="l">
              <a:defRPr sz="1575" b="0">
                <a:solidFill>
                  <a:srgbClr val="586C78"/>
                </a:solidFill>
                <a:latin typeface="Arial"/>
                <a:ea typeface="Arial"/>
                <a:cs typeface="Arial"/>
              </a:defRPr>
            </a:lvl1pPr>
            <a:lvl2pPr algn="l">
              <a:defRPr sz="1575" b="0">
                <a:solidFill>
                  <a:srgbClr val="586C78"/>
                </a:solidFill>
                <a:latin typeface="Arial"/>
                <a:ea typeface="Arial"/>
                <a:cs typeface="Arial"/>
              </a:defRPr>
            </a:lvl2pPr>
            <a:lvl3pPr algn="l">
              <a:defRPr sz="1575" b="0">
                <a:solidFill>
                  <a:srgbClr val="586C78"/>
                </a:solidFill>
                <a:latin typeface="Arial"/>
                <a:ea typeface="Arial"/>
                <a:cs typeface="Arial"/>
              </a:defRPr>
            </a:lvl3pPr>
            <a:lvl4pPr algn="l">
              <a:defRPr sz="1575" b="0">
                <a:solidFill>
                  <a:srgbClr val="586C78"/>
                </a:solidFill>
                <a:latin typeface="Arial"/>
                <a:ea typeface="Arial"/>
                <a:cs typeface="Arial"/>
              </a:defRPr>
            </a:lvl4pPr>
            <a:lvl5pPr algn="l">
              <a:defRPr sz="1575" b="0">
                <a:solidFill>
                  <a:srgbClr val="586C78"/>
                </a:solidFill>
                <a:latin typeface="Arial"/>
                <a:ea typeface="Arial"/>
                <a:cs typeface="Arial"/>
              </a:defRPr>
            </a:lvl5pPr>
            <a:lvl6pPr algn="l">
              <a:defRPr sz="1575" b="0">
                <a:solidFill>
                  <a:srgbClr val="586C78"/>
                </a:solidFill>
                <a:latin typeface="Arial"/>
                <a:ea typeface="Arial"/>
                <a:cs typeface="Arial"/>
              </a:defRPr>
            </a:lvl6pPr>
            <a:lvl7pPr algn="l">
              <a:defRPr sz="1575" b="0">
                <a:solidFill>
                  <a:srgbClr val="586C78"/>
                </a:solidFill>
                <a:latin typeface="Arial"/>
                <a:ea typeface="Arial"/>
                <a:cs typeface="Arial"/>
              </a:defRPr>
            </a:lvl7pPr>
            <a:lvl8pPr algn="l">
              <a:defRPr sz="1575" b="0">
                <a:solidFill>
                  <a:srgbClr val="586C78"/>
                </a:solidFill>
                <a:latin typeface="Arial"/>
                <a:ea typeface="Arial"/>
                <a:cs typeface="Arial"/>
              </a:defRPr>
            </a:lvl8pPr>
            <a:lvl9pPr algn="l">
              <a:defRPr sz="1575" b="0">
                <a:solidFill>
                  <a:srgbClr val="586C78"/>
                </a:solidFill>
                <a:latin typeface="Arial"/>
                <a:ea typeface="Arial"/>
                <a:cs typeface="Arial"/>
              </a:defRPr>
            </a:lvl9pPr>
          </a:lstStyle>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KZT 300 is assumed platform revenue per order. Courier compensation is separate.</a:t>
            </a:r>
          </a:p>
          <a:p xmlns:a="http://schemas.openxmlformats.org/drawingml/2006/main">
            <a:pPr algn="l">
              <a:defRPr sz="1575" b="0">
                <a:solidFill>
                  <a:srgbClr val="586C78"/>
                </a:solidFill>
                <a:latin typeface="Arial"/>
                <a:ea typeface="Arial"/>
                <a:cs typeface="Arial"/>
              </a:defRPr>
            </a:pPr>
            <a:r>
              <a:rPr sz="1575" b="0">
                <a:solidFill>
                  <a:srgbClr val="586C78"/>
                </a:solidFill>
                <a:latin typeface="Arial"/>
                <a:ea typeface="Arial"/>
                <a:cs typeface="Arial"/>
              </a:rPr>
              <a:t>SOM is annual revenue at the target scale, before expenses.</a:t>
            </a:r>
          </a:p>
        </p:txBody>
      </p:sp>
    </p:spTree>
    <p:extLst>
      <p:ext uri="{BB962C8B-B14F-4D97-AF65-F5344CB8AC3E}">
        <p14:creationId xmlns:p14="http://schemas.microsoft.com/office/powerpoint/2010/main" val="20205113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venue sensitivity and the path to SOM">
            <a:extLst xmlns:a="http://schemas.openxmlformats.org/drawingml/2006/main">
              <a:ext uri="{FF2B5EF4-FFF2-40B4-BE49-F238E27FC236}">
                <a16:creationId xmlns:a16="http://schemas.microsoft.com/office/drawing/2014/main" id="{45E483B4-BB52-4208-84E6-DE3946C13A2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Revenue sensitivity and the path to SOM</a:t>
            </a:r>
          </a:p>
        </p:txBody>
      </p:sp>
      <p:sp>
        <p:nvSpPr>
          <p:cNvPr id="2" name="Scenarios with 50 active businesses. Illustrative calculations, n">
            <a:extLst xmlns:a="http://schemas.openxmlformats.org/drawingml/2006/main">
              <a:ext uri="{FF2B5EF4-FFF2-40B4-BE49-F238E27FC236}">
                <a16:creationId xmlns:a16="http://schemas.microsoft.com/office/drawing/2014/main" id="{FD0B0099-4238-4C36-8082-046C394A27FC}"/>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Scenarios with 50 active businesses. Illustrative calculations, not sales forecasts.</a:t>
            </a:r>
          </a:p>
        </p:txBody>
      </p:sp>
      <p:sp>
        <p:nvSpPr>
          <p:cNvPr id="3" name="Qadam Delivery">
            <a:extLst xmlns:a="http://schemas.openxmlformats.org/drawingml/2006/main">
              <a:ext uri="{FF2B5EF4-FFF2-40B4-BE49-F238E27FC236}">
                <a16:creationId xmlns:a16="http://schemas.microsoft.com/office/drawing/2014/main" id="{1F8336C0-02C0-45DB-A8C4-517BD39CAEF2}"/>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09">
            <a:extLst xmlns:a="http://schemas.openxmlformats.org/drawingml/2006/main">
              <a:ext uri="{FF2B5EF4-FFF2-40B4-BE49-F238E27FC236}">
                <a16:creationId xmlns:a16="http://schemas.microsoft.com/office/drawing/2014/main" id="{420955E1-FE58-4988-B587-64464C912C8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6B10EB39-9EAC-451A-AEA8-CE90DF5B11E8}"/>
              </a:ext>
            </a:extLst>
          </p:cNvPr>
          <p:cNvGraphicFramePr/>
          <p:nvPr/>
        </p:nvGraphicFramePr>
        <p:xfrm>
          <a:off xmlns:a="http://schemas.openxmlformats.org/drawingml/2006/main" x="609600" y="2114550"/>
          <a:ext xmlns:a="http://schemas.openxmlformats.org/drawingml/2006/main" cx="8810625" cy="2857500"/>
        </p:xfrm>
        <a:graphic xmlns:a="http://schemas.openxmlformats.org/drawingml/2006/main">
          <a:graphicData uri="http://schemas.openxmlformats.org/drawingml/2006/table">
            <a:tbl>
              <a:tblPr/>
              <a:tblGrid>
                <a:gridCol w="2286000"/>
                <a:gridCol w="2286000"/>
                <a:gridCol w="1809750"/>
                <a:gridCol w="2428875"/>
              </a:tblGrid>
              <a:tr h="590550">
                <a:tc>
                  <a:txBody>
                    <a:bodyPr/>
                    <a:lstStyle/>
                    <a:p>
                      <a:r>
                        <a:rPr sz="1725" b="1">
                          <a:solidFill>
                            <a:srgbClr val="FFFFFF"/>
                          </a:solidFill>
                          <a:latin typeface="Arial"/>
                          <a:ea typeface="Arial"/>
                          <a:cs typeface="Arial"/>
                        </a:rPr>
                        <a:t>Scenario</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Monthly deliveries</a:t>
                      </a:r>
                    </a:p>
                    <a:p>
                      <a:r>
                        <a:rPr sz="1725" b="1">
                          <a:solidFill>
                            <a:srgbClr val="FFFFFF"/>
                          </a:solidFill>
                          <a:latin typeface="Arial"/>
                          <a:ea typeface="Arial"/>
                          <a:cs typeface="Arial"/>
                        </a:rPr>
                        <a:t>per business</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Revenue</a:t>
                      </a:r>
                    </a:p>
                    <a:p>
                      <a:r>
                        <a:rPr sz="1725" b="1">
                          <a:solidFill>
                            <a:srgbClr val="FFFFFF"/>
                          </a:solidFill>
                          <a:latin typeface="Arial"/>
                          <a:ea typeface="Arial"/>
                          <a:cs typeface="Arial"/>
                        </a:rPr>
                        <a:t>per order</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Annual</a:t>
                      </a:r>
                    </a:p>
                    <a:p>
                      <a:r>
                        <a:rPr sz="1725" b="1">
                          <a:solidFill>
                            <a:srgbClr val="FFFFFF"/>
                          </a:solidFill>
                          <a:latin typeface="Arial"/>
                          <a:ea typeface="Arial"/>
                          <a:cs typeface="Arial"/>
                        </a:rPr>
                        <a:t>revenue</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755650">
                <a:tc>
                  <a:txBody>
                    <a:bodyPr/>
                    <a:lstStyle/>
                    <a:p>
                      <a:r>
                        <a:rPr sz="1800" b="0">
                          <a:solidFill>
                            <a:srgbClr val="143243"/>
                          </a:solidFill>
                          <a:latin typeface="Arial"/>
                          <a:ea typeface="Arial"/>
                          <a:cs typeface="Arial"/>
                        </a:rPr>
                        <a:t>Conservative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25</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200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3.0m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755650">
                <a:tc>
                  <a:txBody>
                    <a:bodyPr/>
                    <a:lstStyle/>
                    <a:p>
                      <a:r>
                        <a:rPr sz="1800" b="0">
                          <a:solidFill>
                            <a:srgbClr val="143243"/>
                          </a:solidFill>
                          <a:latin typeface="Arial"/>
                          <a:ea typeface="Arial"/>
                          <a:cs typeface="Arial"/>
                        </a:rPr>
                        <a:t>Base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40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KZT 300</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KZT 7.2m</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755650">
                <a:tc>
                  <a:txBody>
                    <a:bodyPr/>
                    <a:lstStyle/>
                    <a:p>
                      <a:r>
                        <a:rPr sz="1800" b="0">
                          <a:solidFill>
                            <a:srgbClr val="143243"/>
                          </a:solidFill>
                          <a:latin typeface="Arial"/>
                          <a:ea typeface="Arial"/>
                          <a:cs typeface="Arial"/>
                        </a:rPr>
                        <a:t>High</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60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350</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KZT 12.6m</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bl>
          </a:graphicData>
        </a:graphic>
      </p:graphicFrame>
      <p:sp>
        <p:nvSpPr>
          <p:cNvPr id="6" name="2,000">
            <a:extLst xmlns:a="http://schemas.openxmlformats.org/drawingml/2006/main">
              <a:ext uri="{FF2B5EF4-FFF2-40B4-BE49-F238E27FC236}">
                <a16:creationId xmlns:a16="http://schemas.microsoft.com/office/drawing/2014/main" id="{7B443F37-0E09-4CB6-8086-E689A301ACCE}"/>
              </a:ext>
            </a:extLst>
          </p:cNvPr>
          <p:cNvSpPr>
            <a:spLocks xmlns:a="http://schemas.openxmlformats.org/drawingml/2006/main" noGrp="1"/>
          </p:cNvSpPr>
          <p:nvPr/>
        </p:nvSpPr>
        <p:spPr>
          <a:xfrm xmlns:a="http://schemas.openxmlformats.org/drawingml/2006/main">
            <a:off x="9734550" y="2209800"/>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2855DF"/>
                </a:solidFill>
                <a:latin typeface="Arial"/>
                <a:ea typeface="Arial"/>
                <a:cs typeface="Arial"/>
              </a:defRPr>
            </a:defPPr>
            <a:lvl1pPr algn="l">
              <a:defRPr sz="4050" b="1">
                <a:solidFill>
                  <a:srgbClr val="2855DF"/>
                </a:solidFill>
                <a:latin typeface="Arial"/>
                <a:ea typeface="Arial"/>
                <a:cs typeface="Arial"/>
              </a:defRPr>
            </a:lvl1pPr>
            <a:lvl2pPr algn="l">
              <a:defRPr sz="4050" b="1">
                <a:solidFill>
                  <a:srgbClr val="2855DF"/>
                </a:solidFill>
                <a:latin typeface="Arial"/>
                <a:ea typeface="Arial"/>
                <a:cs typeface="Arial"/>
              </a:defRPr>
            </a:lvl2pPr>
            <a:lvl3pPr algn="l">
              <a:defRPr sz="4050" b="1">
                <a:solidFill>
                  <a:srgbClr val="2855DF"/>
                </a:solidFill>
                <a:latin typeface="Arial"/>
                <a:ea typeface="Arial"/>
                <a:cs typeface="Arial"/>
              </a:defRPr>
            </a:lvl3pPr>
            <a:lvl4pPr algn="l">
              <a:defRPr sz="4050" b="1">
                <a:solidFill>
                  <a:srgbClr val="2855DF"/>
                </a:solidFill>
                <a:latin typeface="Arial"/>
                <a:ea typeface="Arial"/>
                <a:cs typeface="Arial"/>
              </a:defRPr>
            </a:lvl4pPr>
            <a:lvl5pPr algn="l">
              <a:defRPr sz="4050" b="1">
                <a:solidFill>
                  <a:srgbClr val="2855DF"/>
                </a:solidFill>
                <a:latin typeface="Arial"/>
                <a:ea typeface="Arial"/>
                <a:cs typeface="Arial"/>
              </a:defRPr>
            </a:lvl5pPr>
            <a:lvl6pPr algn="l">
              <a:defRPr sz="4050" b="1">
                <a:solidFill>
                  <a:srgbClr val="2855DF"/>
                </a:solidFill>
                <a:latin typeface="Arial"/>
                <a:ea typeface="Arial"/>
                <a:cs typeface="Arial"/>
              </a:defRPr>
            </a:lvl6pPr>
            <a:lvl7pPr algn="l">
              <a:defRPr sz="4050" b="1">
                <a:solidFill>
                  <a:srgbClr val="2855DF"/>
                </a:solidFill>
                <a:latin typeface="Arial"/>
                <a:ea typeface="Arial"/>
                <a:cs typeface="Arial"/>
              </a:defRPr>
            </a:lvl7pPr>
            <a:lvl8pPr algn="l">
              <a:defRPr sz="4050" b="1">
                <a:solidFill>
                  <a:srgbClr val="2855DF"/>
                </a:solidFill>
                <a:latin typeface="Arial"/>
                <a:ea typeface="Arial"/>
                <a:cs typeface="Arial"/>
              </a:defRPr>
            </a:lvl8pPr>
            <a:lvl9pPr algn="l">
              <a:defRPr sz="4050" b="1">
                <a:solidFill>
                  <a:srgbClr val="2855DF"/>
                </a:solidFill>
                <a:latin typeface="Arial"/>
                <a:ea typeface="Arial"/>
                <a:cs typeface="Arial"/>
              </a:defRPr>
            </a:lvl9pPr>
          </a:lstStyle>
          <a:p xmlns:a="http://schemas.openxmlformats.org/drawingml/2006/main">
            <a:pPr algn="l">
              <a:defRPr sz="4050" b="1">
                <a:solidFill>
                  <a:srgbClr val="2855DF"/>
                </a:solidFill>
                <a:latin typeface="Arial"/>
                <a:ea typeface="Arial"/>
                <a:cs typeface="Arial"/>
              </a:defRPr>
            </a:pPr>
            <a:r>
              <a:rPr sz="4050" b="1">
                <a:solidFill>
                  <a:srgbClr val="2855DF"/>
                </a:solidFill>
                <a:latin typeface="Arial"/>
                <a:ea typeface="Arial"/>
                <a:cs typeface="Arial"/>
              </a:rPr>
              <a:t>2,000</a:t>
            </a:r>
          </a:p>
        </p:txBody>
      </p:sp>
      <p:sp>
        <p:nvSpPr>
          <p:cNvPr id="7" name="deliveries&#10;per month&#10;in the base&#10;scenario">
            <a:extLst xmlns:a="http://schemas.openxmlformats.org/drawingml/2006/main">
              <a:ext uri="{FF2B5EF4-FFF2-40B4-BE49-F238E27FC236}">
                <a16:creationId xmlns:a16="http://schemas.microsoft.com/office/drawing/2014/main" id="{9E29DB43-E0FA-413F-BE50-E061005CD9A6}"/>
              </a:ext>
            </a:extLst>
          </p:cNvPr>
          <p:cNvSpPr>
            <a:spLocks xmlns:a="http://schemas.openxmlformats.org/drawingml/2006/main" noGrp="1"/>
          </p:cNvSpPr>
          <p:nvPr/>
        </p:nvSpPr>
        <p:spPr>
          <a:xfrm xmlns:a="http://schemas.openxmlformats.org/drawingml/2006/main">
            <a:off x="9734550" y="3200400"/>
            <a:ext cx="190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3243"/>
                </a:solidFill>
                <a:latin typeface="Arial"/>
                <a:ea typeface="Arial"/>
                <a:cs typeface="Arial"/>
              </a:defRPr>
            </a:defPPr>
            <a:lvl1pPr algn="l">
              <a:defRPr sz="1950" b="1">
                <a:solidFill>
                  <a:srgbClr val="143243"/>
                </a:solidFill>
                <a:latin typeface="Arial"/>
                <a:ea typeface="Arial"/>
                <a:cs typeface="Arial"/>
              </a:defRPr>
            </a:lvl1pPr>
            <a:lvl2pPr algn="l">
              <a:defRPr sz="1950" b="1">
                <a:solidFill>
                  <a:srgbClr val="143243"/>
                </a:solidFill>
                <a:latin typeface="Arial"/>
                <a:ea typeface="Arial"/>
                <a:cs typeface="Arial"/>
              </a:defRPr>
            </a:lvl2pPr>
            <a:lvl3pPr algn="l">
              <a:defRPr sz="1950" b="1">
                <a:solidFill>
                  <a:srgbClr val="143243"/>
                </a:solidFill>
                <a:latin typeface="Arial"/>
                <a:ea typeface="Arial"/>
                <a:cs typeface="Arial"/>
              </a:defRPr>
            </a:lvl3pPr>
            <a:lvl4pPr algn="l">
              <a:defRPr sz="1950" b="1">
                <a:solidFill>
                  <a:srgbClr val="143243"/>
                </a:solidFill>
                <a:latin typeface="Arial"/>
                <a:ea typeface="Arial"/>
                <a:cs typeface="Arial"/>
              </a:defRPr>
            </a:lvl4pPr>
            <a:lvl5pPr algn="l">
              <a:defRPr sz="1950" b="1">
                <a:solidFill>
                  <a:srgbClr val="143243"/>
                </a:solidFill>
                <a:latin typeface="Arial"/>
                <a:ea typeface="Arial"/>
                <a:cs typeface="Arial"/>
              </a:defRPr>
            </a:lvl5pPr>
            <a:lvl6pPr algn="l">
              <a:defRPr sz="1950" b="1">
                <a:solidFill>
                  <a:srgbClr val="143243"/>
                </a:solidFill>
                <a:latin typeface="Arial"/>
                <a:ea typeface="Arial"/>
                <a:cs typeface="Arial"/>
              </a:defRPr>
            </a:lvl6pPr>
            <a:lvl7pPr algn="l">
              <a:defRPr sz="1950" b="1">
                <a:solidFill>
                  <a:srgbClr val="143243"/>
                </a:solidFill>
                <a:latin typeface="Arial"/>
                <a:ea typeface="Arial"/>
                <a:cs typeface="Arial"/>
              </a:defRPr>
            </a:lvl7pPr>
            <a:lvl8pPr algn="l">
              <a:defRPr sz="1950" b="1">
                <a:solidFill>
                  <a:srgbClr val="143243"/>
                </a:solidFill>
                <a:latin typeface="Arial"/>
                <a:ea typeface="Arial"/>
                <a:cs typeface="Arial"/>
              </a:defRPr>
            </a:lvl8pPr>
            <a:lvl9pPr algn="l">
              <a:defRPr sz="1950" b="1">
                <a:solidFill>
                  <a:srgbClr val="143243"/>
                </a:solidFill>
                <a:latin typeface="Arial"/>
                <a:ea typeface="Arial"/>
                <a:cs typeface="Arial"/>
              </a:defRPr>
            </a:lvl9pPr>
          </a:lstStyle>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deliveries</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per month</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in the base</a:t>
            </a:r>
          </a:p>
          <a:p xmlns:a="http://schemas.openxmlformats.org/drawingml/2006/main">
            <a:pPr algn="l">
              <a:defRPr sz="1950" b="1">
                <a:solidFill>
                  <a:srgbClr val="143243"/>
                </a:solidFill>
                <a:latin typeface="Arial"/>
                <a:ea typeface="Arial"/>
                <a:cs typeface="Arial"/>
              </a:defRPr>
            </a:pPr>
            <a:r>
              <a:rPr sz="1950" b="1">
                <a:solidFill>
                  <a:srgbClr val="143243"/>
                </a:solidFill>
                <a:latin typeface="Arial"/>
                <a:ea typeface="Arial"/>
                <a:cs typeface="Arial"/>
              </a:rPr>
              <a:t>scenario</a:t>
            </a:r>
          </a:p>
        </p:txBody>
      </p:sp>
      <p:sp>
        <p:nvSpPr>
          <p:cNvPr id="8" name="Acquisition plan: 5 pilot businesses, 20 active businesses by mon">
            <a:extLst xmlns:a="http://schemas.openxmlformats.org/drawingml/2006/main">
              <a:ext uri="{FF2B5EF4-FFF2-40B4-BE49-F238E27FC236}">
                <a16:creationId xmlns:a16="http://schemas.microsoft.com/office/drawing/2014/main" id="{33C2B080-0E2E-4FB2-9B09-D3D9123ADDFA}"/>
              </a:ext>
            </a:extLst>
          </p:cNvPr>
          <p:cNvSpPr>
            <a:spLocks xmlns:a="http://schemas.openxmlformats.org/drawingml/2006/main" noGrp="1"/>
          </p:cNvSpPr>
          <p:nvPr/>
        </p:nvSpPr>
        <p:spPr>
          <a:xfrm xmlns:a="http://schemas.openxmlformats.org/drawingml/2006/main">
            <a:off x="609600" y="5334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3243"/>
                </a:solidFill>
                <a:latin typeface="Arial"/>
                <a:ea typeface="Arial"/>
                <a:cs typeface="Arial"/>
              </a:defRPr>
            </a:defPPr>
            <a:lvl1pPr algn="l">
              <a:defRPr sz="1875" b="0">
                <a:solidFill>
                  <a:srgbClr val="143243"/>
                </a:solidFill>
                <a:latin typeface="Arial"/>
                <a:ea typeface="Arial"/>
                <a:cs typeface="Arial"/>
              </a:defRPr>
            </a:lvl1pPr>
            <a:lvl2pPr algn="l">
              <a:defRPr sz="1875" b="0">
                <a:solidFill>
                  <a:srgbClr val="143243"/>
                </a:solidFill>
                <a:latin typeface="Arial"/>
                <a:ea typeface="Arial"/>
                <a:cs typeface="Arial"/>
              </a:defRPr>
            </a:lvl2pPr>
            <a:lvl3pPr algn="l">
              <a:defRPr sz="1875" b="0">
                <a:solidFill>
                  <a:srgbClr val="143243"/>
                </a:solidFill>
                <a:latin typeface="Arial"/>
                <a:ea typeface="Arial"/>
                <a:cs typeface="Arial"/>
              </a:defRPr>
            </a:lvl3pPr>
            <a:lvl4pPr algn="l">
              <a:defRPr sz="1875" b="0">
                <a:solidFill>
                  <a:srgbClr val="143243"/>
                </a:solidFill>
                <a:latin typeface="Arial"/>
                <a:ea typeface="Arial"/>
                <a:cs typeface="Arial"/>
              </a:defRPr>
            </a:lvl4pPr>
            <a:lvl5pPr algn="l">
              <a:defRPr sz="1875" b="0">
                <a:solidFill>
                  <a:srgbClr val="143243"/>
                </a:solidFill>
                <a:latin typeface="Arial"/>
                <a:ea typeface="Arial"/>
                <a:cs typeface="Arial"/>
              </a:defRPr>
            </a:lvl5pPr>
            <a:lvl6pPr algn="l">
              <a:defRPr sz="1875" b="0">
                <a:solidFill>
                  <a:srgbClr val="143243"/>
                </a:solidFill>
                <a:latin typeface="Arial"/>
                <a:ea typeface="Arial"/>
                <a:cs typeface="Arial"/>
              </a:defRPr>
            </a:lvl6pPr>
            <a:lvl7pPr algn="l">
              <a:defRPr sz="1875" b="0">
                <a:solidFill>
                  <a:srgbClr val="143243"/>
                </a:solidFill>
                <a:latin typeface="Arial"/>
                <a:ea typeface="Arial"/>
                <a:cs typeface="Arial"/>
              </a:defRPr>
            </a:lvl7pPr>
            <a:lvl8pPr algn="l">
              <a:defRPr sz="1875" b="0">
                <a:solidFill>
                  <a:srgbClr val="143243"/>
                </a:solidFill>
                <a:latin typeface="Arial"/>
                <a:ea typeface="Arial"/>
                <a:cs typeface="Arial"/>
              </a:defRPr>
            </a:lvl8pPr>
            <a:lvl9pPr algn="l">
              <a:defRPr sz="1875" b="0">
                <a:solidFill>
                  <a:srgbClr val="143243"/>
                </a:solidFill>
                <a:latin typeface="Arial"/>
                <a:ea typeface="Arial"/>
                <a:cs typeface="Arial"/>
              </a:defRPr>
            </a:lvl9pPr>
          </a:lstStyle>
          <a:p xmlns:a="http://schemas.openxmlformats.org/drawingml/2006/main">
            <a:pPr algn="l">
              <a:defRPr sz="1875" b="0">
                <a:solidFill>
                  <a:srgbClr val="143243"/>
                </a:solidFill>
                <a:latin typeface="Arial"/>
                <a:ea typeface="Arial"/>
                <a:cs typeface="Arial"/>
              </a:defRPr>
            </a:pPr>
            <a:r>
              <a:rPr sz="1875" b="0">
                <a:solidFill>
                  <a:srgbClr val="143243"/>
                </a:solidFill>
                <a:latin typeface="Arial"/>
                <a:ea typeface="Arial"/>
                <a:cs typeface="Arial"/>
              </a:rPr>
              <a:t>Acquisition plan: 5 pilot businesses, 20 active businesses by month 12, and 50 by month 24.</a:t>
            </a:r>
          </a:p>
        </p:txBody>
      </p:sp>
      <p:sp>
        <p:nvSpPr>
          <p:cNvPr id="9" name="Registration alone does not establish availability, delivery capa">
            <a:extLst xmlns:a="http://schemas.openxmlformats.org/drawingml/2006/main">
              <a:ext uri="{FF2B5EF4-FFF2-40B4-BE49-F238E27FC236}">
                <a16:creationId xmlns:a16="http://schemas.microsoft.com/office/drawing/2014/main" id="{01B08A26-54EC-4CFB-A182-7FEDF67265AD}"/>
              </a:ext>
            </a:extLst>
          </p:cNvPr>
          <p:cNvSpPr>
            <a:spLocks xmlns:a="http://schemas.openxmlformats.org/drawingml/2006/main" noGrp="1"/>
          </p:cNvSpPr>
          <p:nvPr/>
        </p:nvSpPr>
        <p:spPr>
          <a:xfrm xmlns:a="http://schemas.openxmlformats.org/drawingml/2006/main">
            <a:off x="609600" y="60007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86C78"/>
                </a:solidFill>
                <a:latin typeface="Arial"/>
                <a:ea typeface="Arial"/>
                <a:cs typeface="Arial"/>
              </a:defRPr>
            </a:defPPr>
            <a:lvl1pPr algn="l">
              <a:defRPr sz="1425" b="0">
                <a:solidFill>
                  <a:srgbClr val="586C78"/>
                </a:solidFill>
                <a:latin typeface="Arial"/>
                <a:ea typeface="Arial"/>
                <a:cs typeface="Arial"/>
              </a:defRPr>
            </a:lvl1pPr>
            <a:lvl2pPr algn="l">
              <a:defRPr sz="1425" b="0">
                <a:solidFill>
                  <a:srgbClr val="586C78"/>
                </a:solidFill>
                <a:latin typeface="Arial"/>
                <a:ea typeface="Arial"/>
                <a:cs typeface="Arial"/>
              </a:defRPr>
            </a:lvl2pPr>
            <a:lvl3pPr algn="l">
              <a:defRPr sz="1425" b="0">
                <a:solidFill>
                  <a:srgbClr val="586C78"/>
                </a:solidFill>
                <a:latin typeface="Arial"/>
                <a:ea typeface="Arial"/>
                <a:cs typeface="Arial"/>
              </a:defRPr>
            </a:lvl3pPr>
            <a:lvl4pPr algn="l">
              <a:defRPr sz="1425" b="0">
                <a:solidFill>
                  <a:srgbClr val="586C78"/>
                </a:solidFill>
                <a:latin typeface="Arial"/>
                <a:ea typeface="Arial"/>
                <a:cs typeface="Arial"/>
              </a:defRPr>
            </a:lvl4pPr>
            <a:lvl5pPr algn="l">
              <a:defRPr sz="1425" b="0">
                <a:solidFill>
                  <a:srgbClr val="586C78"/>
                </a:solidFill>
                <a:latin typeface="Arial"/>
                <a:ea typeface="Arial"/>
                <a:cs typeface="Arial"/>
              </a:defRPr>
            </a:lvl5pPr>
            <a:lvl6pPr algn="l">
              <a:defRPr sz="1425" b="0">
                <a:solidFill>
                  <a:srgbClr val="586C78"/>
                </a:solidFill>
                <a:latin typeface="Arial"/>
                <a:ea typeface="Arial"/>
                <a:cs typeface="Arial"/>
              </a:defRPr>
            </a:lvl6pPr>
            <a:lvl7pPr algn="l">
              <a:defRPr sz="1425" b="0">
                <a:solidFill>
                  <a:srgbClr val="586C78"/>
                </a:solidFill>
                <a:latin typeface="Arial"/>
                <a:ea typeface="Arial"/>
                <a:cs typeface="Arial"/>
              </a:defRPr>
            </a:lvl7pPr>
            <a:lvl8pPr algn="l">
              <a:defRPr sz="1425" b="0">
                <a:solidFill>
                  <a:srgbClr val="586C78"/>
                </a:solidFill>
                <a:latin typeface="Arial"/>
                <a:ea typeface="Arial"/>
                <a:cs typeface="Arial"/>
              </a:defRPr>
            </a:lvl8pPr>
            <a:lvl9pPr algn="l">
              <a:defRPr sz="1425" b="0">
                <a:solidFill>
                  <a:srgbClr val="586C78"/>
                </a:solidFill>
                <a:latin typeface="Arial"/>
                <a:ea typeface="Arial"/>
                <a:cs typeface="Arial"/>
              </a:defRPr>
            </a:lvl9pPr>
          </a:lstStyle>
          <a:p xmlns:a="http://schemas.openxmlformats.org/drawingml/2006/main">
            <a:pPr algn="l">
              <a:defRPr sz="1425" b="0">
                <a:solidFill>
                  <a:srgbClr val="586C78"/>
                </a:solidFill>
                <a:latin typeface="Arial"/>
                <a:ea typeface="Arial"/>
                <a:cs typeface="Arial"/>
              </a:defRPr>
            </a:pPr>
            <a:r>
              <a:rPr sz="1425" b="0">
                <a:solidFill>
                  <a:srgbClr val="586C78"/>
                </a:solidFill>
                <a:latin typeface="Arial"/>
                <a:ea typeface="Arial"/>
                <a:cs typeface="Arial"/>
              </a:rPr>
              <a:t>Registration alone does not establish availability, delivery capacity or repeat participation.</a:t>
            </a:r>
          </a:p>
        </p:txBody>
      </p:sp>
    </p:spTree>
    <p:extLst>
      <p:ext uri="{BB962C8B-B14F-4D97-AF65-F5344CB8AC3E}">
        <p14:creationId xmlns:p14="http://schemas.microsoft.com/office/powerpoint/2010/main" val="13314512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Next step: a pilot with real deliveries">
            <a:extLst xmlns:a="http://schemas.openxmlformats.org/drawingml/2006/main">
              <a:ext uri="{FF2B5EF4-FFF2-40B4-BE49-F238E27FC236}">
                <a16:creationId xmlns:a16="http://schemas.microsoft.com/office/drawing/2014/main" id="{014CFE63-A29A-4B42-AE84-7EC62DF3D8C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43243"/>
                </a:solidFill>
                <a:latin typeface="Arial"/>
                <a:ea typeface="Arial"/>
                <a:cs typeface="Arial"/>
              </a:defRPr>
            </a:defPPr>
            <a:lvl1pPr algn="l">
              <a:defRPr sz="3300" b="1">
                <a:solidFill>
                  <a:srgbClr val="143243"/>
                </a:solidFill>
                <a:latin typeface="Arial"/>
                <a:ea typeface="Arial"/>
                <a:cs typeface="Arial"/>
              </a:defRPr>
            </a:lvl1pPr>
            <a:lvl2pPr algn="l">
              <a:defRPr sz="3300" b="1">
                <a:solidFill>
                  <a:srgbClr val="143243"/>
                </a:solidFill>
                <a:latin typeface="Arial"/>
                <a:ea typeface="Arial"/>
                <a:cs typeface="Arial"/>
              </a:defRPr>
            </a:lvl2pPr>
            <a:lvl3pPr algn="l">
              <a:defRPr sz="3300" b="1">
                <a:solidFill>
                  <a:srgbClr val="143243"/>
                </a:solidFill>
                <a:latin typeface="Arial"/>
                <a:ea typeface="Arial"/>
                <a:cs typeface="Arial"/>
              </a:defRPr>
            </a:lvl3pPr>
            <a:lvl4pPr algn="l">
              <a:defRPr sz="3300" b="1">
                <a:solidFill>
                  <a:srgbClr val="143243"/>
                </a:solidFill>
                <a:latin typeface="Arial"/>
                <a:ea typeface="Arial"/>
                <a:cs typeface="Arial"/>
              </a:defRPr>
            </a:lvl4pPr>
            <a:lvl5pPr algn="l">
              <a:defRPr sz="3300" b="1">
                <a:solidFill>
                  <a:srgbClr val="143243"/>
                </a:solidFill>
                <a:latin typeface="Arial"/>
                <a:ea typeface="Arial"/>
                <a:cs typeface="Arial"/>
              </a:defRPr>
            </a:lvl5pPr>
            <a:lvl6pPr algn="l">
              <a:defRPr sz="3300" b="1">
                <a:solidFill>
                  <a:srgbClr val="143243"/>
                </a:solidFill>
                <a:latin typeface="Arial"/>
                <a:ea typeface="Arial"/>
                <a:cs typeface="Arial"/>
              </a:defRPr>
            </a:lvl6pPr>
            <a:lvl7pPr algn="l">
              <a:defRPr sz="3300" b="1">
                <a:solidFill>
                  <a:srgbClr val="143243"/>
                </a:solidFill>
                <a:latin typeface="Arial"/>
                <a:ea typeface="Arial"/>
                <a:cs typeface="Arial"/>
              </a:defRPr>
            </a:lvl7pPr>
            <a:lvl8pPr algn="l">
              <a:defRPr sz="3300" b="1">
                <a:solidFill>
                  <a:srgbClr val="143243"/>
                </a:solidFill>
                <a:latin typeface="Arial"/>
                <a:ea typeface="Arial"/>
                <a:cs typeface="Arial"/>
              </a:defRPr>
            </a:lvl8pPr>
            <a:lvl9pPr algn="l">
              <a:defRPr sz="3300" b="1">
                <a:solidFill>
                  <a:srgbClr val="143243"/>
                </a:solidFill>
                <a:latin typeface="Arial"/>
                <a:ea typeface="Arial"/>
                <a:cs typeface="Arial"/>
              </a:defRPr>
            </a:lvl9pPr>
          </a:lstStyle>
          <a:p xmlns:a="http://schemas.openxmlformats.org/drawingml/2006/main">
            <a:pPr algn="l">
              <a:defRPr sz="3300" b="1">
                <a:solidFill>
                  <a:srgbClr val="143243"/>
                </a:solidFill>
                <a:latin typeface="Arial"/>
                <a:ea typeface="Arial"/>
                <a:cs typeface="Arial"/>
              </a:defRPr>
            </a:pPr>
            <a:r>
              <a:rPr sz="3300" b="1">
                <a:solidFill>
                  <a:srgbClr val="143243"/>
                </a:solidFill>
                <a:latin typeface="Arial"/>
                <a:ea typeface="Arial"/>
                <a:cs typeface="Arial"/>
              </a:rPr>
              <a:t>Next step: a pilot with real deliveries</a:t>
            </a:r>
          </a:p>
        </p:txBody>
      </p:sp>
      <p:sp>
        <p:nvSpPr>
          <p:cNvPr id="2" name="Proposed four-week pilot: 5 businesses and registered couriers, a">
            <a:extLst xmlns:a="http://schemas.openxmlformats.org/drawingml/2006/main">
              <a:ext uri="{FF2B5EF4-FFF2-40B4-BE49-F238E27FC236}">
                <a16:creationId xmlns:a16="http://schemas.microsoft.com/office/drawing/2014/main" id="{3D08D957-1667-448D-96BF-A94CFB127886}"/>
              </a:ext>
            </a:extLst>
          </p:cNvPr>
          <p:cNvSpPr>
            <a:spLocks xmlns:a="http://schemas.openxmlformats.org/drawingml/2006/main" noGrp="1"/>
          </p:cNvSpPr>
          <p:nvPr/>
        </p:nvSpPr>
        <p:spPr>
          <a:xfrm xmlns:a="http://schemas.openxmlformats.org/drawingml/2006/main">
            <a:off x="609600" y="144780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86C78"/>
                </a:solidFill>
                <a:latin typeface="Arial"/>
                <a:ea typeface="Arial"/>
                <a:cs typeface="Arial"/>
              </a:defRPr>
            </a:defPPr>
            <a:lvl1pPr algn="l">
              <a:defRPr sz="1725" b="0">
                <a:solidFill>
                  <a:srgbClr val="586C78"/>
                </a:solidFill>
                <a:latin typeface="Arial"/>
                <a:ea typeface="Arial"/>
                <a:cs typeface="Arial"/>
              </a:defRPr>
            </a:lvl1pPr>
            <a:lvl2pPr algn="l">
              <a:defRPr sz="1725" b="0">
                <a:solidFill>
                  <a:srgbClr val="586C78"/>
                </a:solidFill>
                <a:latin typeface="Arial"/>
                <a:ea typeface="Arial"/>
                <a:cs typeface="Arial"/>
              </a:defRPr>
            </a:lvl2pPr>
            <a:lvl3pPr algn="l">
              <a:defRPr sz="1725" b="0">
                <a:solidFill>
                  <a:srgbClr val="586C78"/>
                </a:solidFill>
                <a:latin typeface="Arial"/>
                <a:ea typeface="Arial"/>
                <a:cs typeface="Arial"/>
              </a:defRPr>
            </a:lvl3pPr>
            <a:lvl4pPr algn="l">
              <a:defRPr sz="1725" b="0">
                <a:solidFill>
                  <a:srgbClr val="586C78"/>
                </a:solidFill>
                <a:latin typeface="Arial"/>
                <a:ea typeface="Arial"/>
                <a:cs typeface="Arial"/>
              </a:defRPr>
            </a:lvl4pPr>
            <a:lvl5pPr algn="l">
              <a:defRPr sz="1725" b="0">
                <a:solidFill>
                  <a:srgbClr val="586C78"/>
                </a:solidFill>
                <a:latin typeface="Arial"/>
                <a:ea typeface="Arial"/>
                <a:cs typeface="Arial"/>
              </a:defRPr>
            </a:lvl5pPr>
            <a:lvl6pPr algn="l">
              <a:defRPr sz="1725" b="0">
                <a:solidFill>
                  <a:srgbClr val="586C78"/>
                </a:solidFill>
                <a:latin typeface="Arial"/>
                <a:ea typeface="Arial"/>
                <a:cs typeface="Arial"/>
              </a:defRPr>
            </a:lvl6pPr>
            <a:lvl7pPr algn="l">
              <a:defRPr sz="1725" b="0">
                <a:solidFill>
                  <a:srgbClr val="586C78"/>
                </a:solidFill>
                <a:latin typeface="Arial"/>
                <a:ea typeface="Arial"/>
                <a:cs typeface="Arial"/>
              </a:defRPr>
            </a:lvl7pPr>
            <a:lvl8pPr algn="l">
              <a:defRPr sz="1725" b="0">
                <a:solidFill>
                  <a:srgbClr val="586C78"/>
                </a:solidFill>
                <a:latin typeface="Arial"/>
                <a:ea typeface="Arial"/>
                <a:cs typeface="Arial"/>
              </a:defRPr>
            </a:lvl8pPr>
            <a:lvl9pPr algn="l">
              <a:defRPr sz="1725" b="0">
                <a:solidFill>
                  <a:srgbClr val="586C78"/>
                </a:solidFill>
                <a:latin typeface="Arial"/>
                <a:ea typeface="Arial"/>
                <a:cs typeface="Arial"/>
              </a:defRPr>
            </a:lvl9pPr>
          </a:lstStyle>
          <a:p xmlns:a="http://schemas.openxmlformats.org/drawingml/2006/main">
            <a:pPr algn="l">
              <a:defRPr sz="1725" b="0">
                <a:solidFill>
                  <a:srgbClr val="586C78"/>
                </a:solidFill>
                <a:latin typeface="Arial"/>
                <a:ea typeface="Arial"/>
                <a:cs typeface="Arial"/>
              </a:defRPr>
            </a:pPr>
            <a:r>
              <a:rPr sz="1725" b="0">
                <a:solidFill>
                  <a:srgbClr val="586C78"/>
                </a:solidFill>
                <a:latin typeface="Arial"/>
                <a:ea typeface="Arial"/>
                <a:cs typeface="Arial"/>
              </a:rPr>
              <a:t>Proposed four-week pilot: 5 businesses and registered couriers, aiming for 50 deliveries</a:t>
            </a:r>
          </a:p>
        </p:txBody>
      </p:sp>
      <p:sp>
        <p:nvSpPr>
          <p:cNvPr id="3" name="Qadam Delivery">
            <a:extLst xmlns:a="http://schemas.openxmlformats.org/drawingml/2006/main">
              <a:ext uri="{FF2B5EF4-FFF2-40B4-BE49-F238E27FC236}">
                <a16:creationId xmlns:a16="http://schemas.microsoft.com/office/drawing/2014/main" id="{354C8F22-344A-419E-82B1-7536546CA540}"/>
              </a:ext>
            </a:extLst>
          </p:cNvPr>
          <p:cNvSpPr>
            <a:spLocks xmlns:a="http://schemas.openxmlformats.org/drawingml/2006/main" noGrp="1"/>
          </p:cNvSpPr>
          <p:nvPr/>
        </p:nvSpPr>
        <p:spPr>
          <a:xfrm xmlns:a="http://schemas.openxmlformats.org/drawingml/2006/main">
            <a:off x="609600" y="6438900"/>
            <a:ext cx="3810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86C78"/>
                </a:solidFill>
                <a:latin typeface="Arial"/>
                <a:ea typeface="Arial"/>
                <a:cs typeface="Arial"/>
              </a:defRPr>
            </a:defPPr>
            <a:lvl1pPr algn="l">
              <a:defRPr sz="1200" b="0">
                <a:solidFill>
                  <a:srgbClr val="586C78"/>
                </a:solidFill>
                <a:latin typeface="Arial"/>
                <a:ea typeface="Arial"/>
                <a:cs typeface="Arial"/>
              </a:defRPr>
            </a:lvl1pPr>
            <a:lvl2pPr algn="l">
              <a:defRPr sz="1200" b="0">
                <a:solidFill>
                  <a:srgbClr val="586C78"/>
                </a:solidFill>
                <a:latin typeface="Arial"/>
                <a:ea typeface="Arial"/>
                <a:cs typeface="Arial"/>
              </a:defRPr>
            </a:lvl2pPr>
            <a:lvl3pPr algn="l">
              <a:defRPr sz="1200" b="0">
                <a:solidFill>
                  <a:srgbClr val="586C78"/>
                </a:solidFill>
                <a:latin typeface="Arial"/>
                <a:ea typeface="Arial"/>
                <a:cs typeface="Arial"/>
              </a:defRPr>
            </a:lvl3pPr>
            <a:lvl4pPr algn="l">
              <a:defRPr sz="1200" b="0">
                <a:solidFill>
                  <a:srgbClr val="586C78"/>
                </a:solidFill>
                <a:latin typeface="Arial"/>
                <a:ea typeface="Arial"/>
                <a:cs typeface="Arial"/>
              </a:defRPr>
            </a:lvl4pPr>
            <a:lvl5pPr algn="l">
              <a:defRPr sz="1200" b="0">
                <a:solidFill>
                  <a:srgbClr val="586C78"/>
                </a:solidFill>
                <a:latin typeface="Arial"/>
                <a:ea typeface="Arial"/>
                <a:cs typeface="Arial"/>
              </a:defRPr>
            </a:lvl5pPr>
            <a:lvl6pPr algn="l">
              <a:defRPr sz="1200" b="0">
                <a:solidFill>
                  <a:srgbClr val="586C78"/>
                </a:solidFill>
                <a:latin typeface="Arial"/>
                <a:ea typeface="Arial"/>
                <a:cs typeface="Arial"/>
              </a:defRPr>
            </a:lvl6pPr>
            <a:lvl7pPr algn="l">
              <a:defRPr sz="1200" b="0">
                <a:solidFill>
                  <a:srgbClr val="586C78"/>
                </a:solidFill>
                <a:latin typeface="Arial"/>
                <a:ea typeface="Arial"/>
                <a:cs typeface="Arial"/>
              </a:defRPr>
            </a:lvl7pPr>
            <a:lvl8pPr algn="l">
              <a:defRPr sz="1200" b="0">
                <a:solidFill>
                  <a:srgbClr val="586C78"/>
                </a:solidFill>
                <a:latin typeface="Arial"/>
                <a:ea typeface="Arial"/>
                <a:cs typeface="Arial"/>
              </a:defRPr>
            </a:lvl8pPr>
            <a:lvl9pPr algn="l">
              <a:defRPr sz="1200" b="0">
                <a:solidFill>
                  <a:srgbClr val="586C78"/>
                </a:solidFill>
                <a:latin typeface="Arial"/>
                <a:ea typeface="Arial"/>
                <a:cs typeface="Arial"/>
              </a:defRPr>
            </a:lvl9pPr>
          </a:lstStyle>
          <a:p xmlns:a="http://schemas.openxmlformats.org/drawingml/2006/main">
            <a:pPr algn="l">
              <a:defRPr sz="1200" b="0">
                <a:solidFill>
                  <a:srgbClr val="586C78"/>
                </a:solidFill>
                <a:latin typeface="Arial"/>
                <a:ea typeface="Arial"/>
                <a:cs typeface="Arial"/>
              </a:defRPr>
            </a:pPr>
            <a:r>
              <a:rPr sz="1200" b="0">
                <a:solidFill>
                  <a:srgbClr val="586C78"/>
                </a:solidFill>
                <a:latin typeface="Arial"/>
                <a:ea typeface="Arial"/>
                <a:cs typeface="Arial"/>
              </a:rPr>
              <a:t>Qadam Delivery</a:t>
            </a:r>
          </a:p>
        </p:txBody>
      </p:sp>
      <p:sp>
        <p:nvSpPr>
          <p:cNvPr id="4" name="10">
            <a:extLst xmlns:a="http://schemas.openxmlformats.org/drawingml/2006/main">
              <a:ext uri="{FF2B5EF4-FFF2-40B4-BE49-F238E27FC236}">
                <a16:creationId xmlns:a16="http://schemas.microsoft.com/office/drawing/2014/main" id="{C13389D7-6E67-4BB4-B635-3D6B64D7434B}"/>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86C78"/>
                </a:solidFill>
                <a:latin typeface="Arial"/>
                <a:ea typeface="Arial"/>
                <a:cs typeface="Arial"/>
              </a:defRPr>
            </a:defPPr>
            <a:lvl1pPr algn="r">
              <a:defRPr sz="1350" b="0">
                <a:solidFill>
                  <a:srgbClr val="586C78"/>
                </a:solidFill>
                <a:latin typeface="Arial"/>
                <a:ea typeface="Arial"/>
                <a:cs typeface="Arial"/>
              </a:defRPr>
            </a:lvl1pPr>
            <a:lvl2pPr algn="r">
              <a:defRPr sz="1350" b="0">
                <a:solidFill>
                  <a:srgbClr val="586C78"/>
                </a:solidFill>
                <a:latin typeface="Arial"/>
                <a:ea typeface="Arial"/>
                <a:cs typeface="Arial"/>
              </a:defRPr>
            </a:lvl2pPr>
            <a:lvl3pPr algn="r">
              <a:defRPr sz="1350" b="0">
                <a:solidFill>
                  <a:srgbClr val="586C78"/>
                </a:solidFill>
                <a:latin typeface="Arial"/>
                <a:ea typeface="Arial"/>
                <a:cs typeface="Arial"/>
              </a:defRPr>
            </a:lvl3pPr>
            <a:lvl4pPr algn="r">
              <a:defRPr sz="1350" b="0">
                <a:solidFill>
                  <a:srgbClr val="586C78"/>
                </a:solidFill>
                <a:latin typeface="Arial"/>
                <a:ea typeface="Arial"/>
                <a:cs typeface="Arial"/>
              </a:defRPr>
            </a:lvl4pPr>
            <a:lvl5pPr algn="r">
              <a:defRPr sz="1350" b="0">
                <a:solidFill>
                  <a:srgbClr val="586C78"/>
                </a:solidFill>
                <a:latin typeface="Arial"/>
                <a:ea typeface="Arial"/>
                <a:cs typeface="Arial"/>
              </a:defRPr>
            </a:lvl5pPr>
            <a:lvl6pPr algn="r">
              <a:defRPr sz="1350" b="0">
                <a:solidFill>
                  <a:srgbClr val="586C78"/>
                </a:solidFill>
                <a:latin typeface="Arial"/>
                <a:ea typeface="Arial"/>
                <a:cs typeface="Arial"/>
              </a:defRPr>
            </a:lvl6pPr>
            <a:lvl7pPr algn="r">
              <a:defRPr sz="1350" b="0">
                <a:solidFill>
                  <a:srgbClr val="586C78"/>
                </a:solidFill>
                <a:latin typeface="Arial"/>
                <a:ea typeface="Arial"/>
                <a:cs typeface="Arial"/>
              </a:defRPr>
            </a:lvl7pPr>
            <a:lvl8pPr algn="r">
              <a:defRPr sz="1350" b="0">
                <a:solidFill>
                  <a:srgbClr val="586C78"/>
                </a:solidFill>
                <a:latin typeface="Arial"/>
                <a:ea typeface="Arial"/>
                <a:cs typeface="Arial"/>
              </a:defRPr>
            </a:lvl8pPr>
            <a:lvl9pPr algn="r">
              <a:defRPr sz="1350" b="0">
                <a:solidFill>
                  <a:srgbClr val="586C78"/>
                </a:solidFill>
                <a:latin typeface="Arial"/>
                <a:ea typeface="Arial"/>
                <a:cs typeface="Arial"/>
              </a:defRPr>
            </a:lvl9pPr>
          </a:lstStyle>
          <a:p xmlns:a="http://schemas.openxmlformats.org/drawingml/2006/main">
            <a:pPr algn="r">
              <a:defRPr sz="1350" b="0">
                <a:solidFill>
                  <a:srgbClr val="586C78"/>
                </a:solidFill>
                <a:latin typeface="Arial"/>
                <a:ea typeface="Arial"/>
                <a:cs typeface="Arial"/>
              </a:defRPr>
            </a:pPr>
            <a:r>
              <a:rPr sz="1350" b="0">
                <a:solidFill>
                  <a:srgbClr val="586C78"/>
                </a:solidFill>
                <a:latin typeface="Arial"/>
                <a:ea typeface="Arial"/>
                <a:cs typeface="Arial"/>
              </a:rPr>
              <a:t>10</a:t>
            </a:r>
          </a:p>
        </p:txBody>
      </p:sp>
      <p:graphicFrame>
        <p:nvGraphicFramePr>
          <p:cNvPr id="5" name="">
            <a:extLst xmlns:a="http://schemas.openxmlformats.org/drawingml/2006/main">
              <a:ext uri="{FF2B5EF4-FFF2-40B4-BE49-F238E27FC236}">
                <a16:creationId xmlns:a16="http://schemas.microsoft.com/office/drawing/2014/main" id="{4B1E4EFD-6AF5-493D-9031-394882D7A71B}"/>
              </a:ext>
            </a:extLst>
          </p:cNvPr>
          <p:cNvGraphicFramePr/>
          <p:nvPr/>
        </p:nvGraphicFramePr>
        <p:xfrm>
          <a:off xmlns:a="http://schemas.openxmlformats.org/drawingml/2006/main" x="609600" y="2114550"/>
          <a:ext xmlns:a="http://schemas.openxmlformats.org/drawingml/2006/main" cx="10972800" cy="3190875"/>
        </p:xfrm>
        <a:graphic xmlns:a="http://schemas.openxmlformats.org/drawingml/2006/main">
          <a:graphicData uri="http://schemas.openxmlformats.org/drawingml/2006/table">
            <a:tbl>
              <a:tblPr/>
              <a:tblGrid>
                <a:gridCol w="3048000"/>
                <a:gridCol w="7924800"/>
              </a:tblGrid>
              <a:tr h="590550">
                <a:tc>
                  <a:txBody>
                    <a:bodyPr/>
                    <a:lstStyle/>
                    <a:p>
                      <a:r>
                        <a:rPr sz="1725" b="1">
                          <a:solidFill>
                            <a:srgbClr val="FFFFFF"/>
                          </a:solidFill>
                          <a:latin typeface="Arial"/>
                          <a:ea typeface="Arial"/>
                          <a:cs typeface="Arial"/>
                        </a:rPr>
                        <a:t>Test</a:t>
                      </a:r>
                    </a:p>
                  </a:txBody>
                  <a:tcPr marL="152400" marR="152400" marT="133350" marB="114300" anchor="ctr">
                    <a:lnL w="9525">
                      <a:solidFill>
                        <a:srgbClr val="DCE3EA"/>
                      </a:solidFill>
                      <a:prstDash val="solid"/>
                    </a:lnL>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c>
                  <a:txBody>
                    <a:bodyPr/>
                    <a:lstStyle/>
                    <a:p>
                      <a:r>
                        <a:rPr sz="1725" b="1">
                          <a:solidFill>
                            <a:srgbClr val="FFFFFF"/>
                          </a:solidFill>
                          <a:latin typeface="Arial"/>
                          <a:ea typeface="Arial"/>
                          <a:cs typeface="Arial"/>
                        </a:rPr>
                        <a:t>Proposed continuation criterion</a:t>
                      </a:r>
                    </a:p>
                  </a:txBody>
                  <a:tcPr marL="152400" marR="152400" marT="133350" marB="114300" anchor="ctr">
                    <a:lnR w="9525">
                      <a:solidFill>
                        <a:srgbClr val="DCE3EA"/>
                      </a:solidFill>
                      <a:prstDash val="solid"/>
                    </a:lnR>
                    <a:lnT w="9525">
                      <a:solidFill>
                        <a:srgbClr val="DCE3EA"/>
                      </a:solidFill>
                      <a:prstDash val="solid"/>
                    </a:lnT>
                    <a:lnB w="9525">
                      <a:solidFill>
                        <a:srgbClr val="DCE3EA"/>
                      </a:solidFill>
                      <a:prstDash val="solid"/>
                    </a:lnB>
                    <a:solidFill>
                      <a:srgbClr val="143243"/>
                    </a:solidFill>
                  </a:tcPr>
                </a:tc>
              </a:tr>
              <a:tr h="650081">
                <a:tc>
                  <a:txBody>
                    <a:bodyPr/>
                    <a:lstStyle/>
                    <a:p>
                      <a:r>
                        <a:rPr sz="1800" b="0">
                          <a:solidFill>
                            <a:srgbClr val="143243"/>
                          </a:solidFill>
                          <a:latin typeface="Arial"/>
                          <a:ea typeface="Arial"/>
                          <a:cs typeface="Arial"/>
                        </a:rPr>
                        <a:t>Paying demand</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 of 5 businesses pay for the agreed pilot</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Repeat use</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3 of 5 businesses order again after week one</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r h="650081">
                <a:tc>
                  <a:txBody>
                    <a:bodyPr/>
                    <a:lstStyle/>
                    <a:p>
                      <a:r>
                        <a:rPr sz="1800" b="0">
                          <a:solidFill>
                            <a:srgbClr val="143243"/>
                          </a:solidFill>
                          <a:latin typeface="Arial"/>
                          <a:ea typeface="Arial"/>
                          <a:cs typeface="Arial"/>
                        </a:rPr>
                        <a:t>Value and reliability</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FFFFF"/>
                    </a:solidFill>
                  </a:tcPr>
                </a:tc>
                <a:tc>
                  <a:txBody>
                    <a:bodyPr/>
                    <a:lstStyle/>
                    <a:p>
                      <a:r>
                        <a:rPr sz="1800" b="0">
                          <a:solidFill>
                            <a:srgbClr val="143243"/>
                          </a:solidFill>
                          <a:latin typeface="Arial"/>
                          <a:ea typeface="Arial"/>
                          <a:cs typeface="Arial"/>
                        </a:rPr>
                        <a:t>30% less coordination time. ≥90% delivered on time</a:t>
                      </a:r>
                    </a:p>
                  </a:txBody>
                  <a:tcPr marL="152400" marR="152400" marT="133350" marB="114300" anchor="ctr">
                    <a:lnR w="9525">
                      <a:solidFill>
                        <a:srgbClr val="DCE3EA"/>
                      </a:solidFill>
                      <a:prstDash val="solid"/>
                    </a:lnR>
                    <a:lnB w="9525">
                      <a:solidFill>
                        <a:srgbClr val="DCE3EA"/>
                      </a:solidFill>
                      <a:prstDash val="solid"/>
                    </a:lnB>
                    <a:solidFill>
                      <a:srgbClr val="FFFFFF"/>
                    </a:solidFill>
                  </a:tcPr>
                </a:tc>
              </a:tr>
              <a:tr h="650081">
                <a:tc>
                  <a:txBody>
                    <a:bodyPr/>
                    <a:lstStyle/>
                    <a:p>
                      <a:r>
                        <a:rPr sz="1800" b="0">
                          <a:solidFill>
                            <a:srgbClr val="143243"/>
                          </a:solidFill>
                          <a:latin typeface="Arial"/>
                          <a:ea typeface="Arial"/>
                          <a:cs typeface="Arial"/>
                        </a:rPr>
                        <a:t>Order economics</a:t>
                      </a:r>
                    </a:p>
                  </a:txBody>
                  <a:tcPr marL="152400" marR="152400" marT="133350" marB="114300" anchor="ctr">
                    <a:lnL w="9525">
                      <a:solidFill>
                        <a:srgbClr val="DCE3EA"/>
                      </a:solidFill>
                      <a:prstDash val="solid"/>
                    </a:lnL>
                    <a:lnR w="9525">
                      <a:solidFill>
                        <a:srgbClr val="DCE3EA"/>
                      </a:solidFill>
                      <a:prstDash val="solid"/>
                    </a:lnR>
                    <a:lnB w="9525">
                      <a:solidFill>
                        <a:srgbClr val="DCE3EA"/>
                      </a:solidFill>
                      <a:prstDash val="solid"/>
                    </a:lnB>
                    <a:solidFill>
                      <a:srgbClr val="F2F5FA"/>
                    </a:solidFill>
                  </a:tcPr>
                </a:tc>
                <a:tc>
                  <a:txBody>
                    <a:bodyPr/>
                    <a:lstStyle/>
                    <a:p>
                      <a:r>
                        <a:rPr sz="1800" b="0">
                          <a:solidFill>
                            <a:srgbClr val="143243"/>
                          </a:solidFill>
                          <a:latin typeface="Arial"/>
                          <a:ea typeface="Arial"/>
                          <a:cs typeface="Arial"/>
                        </a:rPr>
                        <a:t>Positive contribution after variable costs</a:t>
                      </a:r>
                    </a:p>
                  </a:txBody>
                  <a:tcPr marL="152400" marR="152400" marT="133350" marB="114300" anchor="ctr">
                    <a:lnR w="9525">
                      <a:solidFill>
                        <a:srgbClr val="DCE3EA"/>
                      </a:solidFill>
                      <a:prstDash val="solid"/>
                    </a:lnR>
                    <a:lnB w="9525">
                      <a:solidFill>
                        <a:srgbClr val="DCE3EA"/>
                      </a:solidFill>
                      <a:prstDash val="solid"/>
                    </a:lnB>
                    <a:solidFill>
                      <a:srgbClr val="F2F5FA"/>
                    </a:solidFill>
                  </a:tcPr>
                </a:tc>
              </a:tr>
            </a:tbl>
          </a:graphicData>
        </a:graphic>
      </p:graphicFrame>
      <p:sp>
        <p:nvSpPr>
          <p:cNvPr id="6" name="Courier interviews and registration give us a starting point">
            <a:extLst xmlns:a="http://schemas.openxmlformats.org/drawingml/2006/main">
              <a:ext uri="{FF2B5EF4-FFF2-40B4-BE49-F238E27FC236}">
                <a16:creationId xmlns:a16="http://schemas.microsoft.com/office/drawing/2014/main" id="{5B41EBC9-9559-45B0-8CE4-4E8EEDEB6EBD}"/>
              </a:ext>
            </a:extLst>
          </p:cNvPr>
          <p:cNvSpPr>
            <a:spLocks xmlns:a="http://schemas.openxmlformats.org/drawingml/2006/main" noGrp="1"/>
          </p:cNvSpPr>
          <p:nvPr/>
        </p:nvSpPr>
        <p:spPr>
          <a:xfrm xmlns:a="http://schemas.openxmlformats.org/drawingml/2006/main">
            <a:off x="609600" y="5600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855DF"/>
                </a:solidFill>
                <a:latin typeface="Arial"/>
                <a:ea typeface="Arial"/>
                <a:cs typeface="Arial"/>
              </a:defRPr>
            </a:defPPr>
            <a:lvl1pPr algn="l">
              <a:defRPr sz="2325" b="1">
                <a:solidFill>
                  <a:srgbClr val="2855DF"/>
                </a:solidFill>
                <a:latin typeface="Arial"/>
                <a:ea typeface="Arial"/>
                <a:cs typeface="Arial"/>
              </a:defRPr>
            </a:lvl1pPr>
            <a:lvl2pPr algn="l">
              <a:defRPr sz="2325" b="1">
                <a:solidFill>
                  <a:srgbClr val="2855DF"/>
                </a:solidFill>
                <a:latin typeface="Arial"/>
                <a:ea typeface="Arial"/>
                <a:cs typeface="Arial"/>
              </a:defRPr>
            </a:lvl2pPr>
            <a:lvl3pPr algn="l">
              <a:defRPr sz="2325" b="1">
                <a:solidFill>
                  <a:srgbClr val="2855DF"/>
                </a:solidFill>
                <a:latin typeface="Arial"/>
                <a:ea typeface="Arial"/>
                <a:cs typeface="Arial"/>
              </a:defRPr>
            </a:lvl3pPr>
            <a:lvl4pPr algn="l">
              <a:defRPr sz="2325" b="1">
                <a:solidFill>
                  <a:srgbClr val="2855DF"/>
                </a:solidFill>
                <a:latin typeface="Arial"/>
                <a:ea typeface="Arial"/>
                <a:cs typeface="Arial"/>
              </a:defRPr>
            </a:lvl4pPr>
            <a:lvl5pPr algn="l">
              <a:defRPr sz="2325" b="1">
                <a:solidFill>
                  <a:srgbClr val="2855DF"/>
                </a:solidFill>
                <a:latin typeface="Arial"/>
                <a:ea typeface="Arial"/>
                <a:cs typeface="Arial"/>
              </a:defRPr>
            </a:lvl5pPr>
            <a:lvl6pPr algn="l">
              <a:defRPr sz="2325" b="1">
                <a:solidFill>
                  <a:srgbClr val="2855DF"/>
                </a:solidFill>
                <a:latin typeface="Arial"/>
                <a:ea typeface="Arial"/>
                <a:cs typeface="Arial"/>
              </a:defRPr>
            </a:lvl6pPr>
            <a:lvl7pPr algn="l">
              <a:defRPr sz="2325" b="1">
                <a:solidFill>
                  <a:srgbClr val="2855DF"/>
                </a:solidFill>
                <a:latin typeface="Arial"/>
                <a:ea typeface="Arial"/>
                <a:cs typeface="Arial"/>
              </a:defRPr>
            </a:lvl7pPr>
            <a:lvl8pPr algn="l">
              <a:defRPr sz="2325" b="1">
                <a:solidFill>
                  <a:srgbClr val="2855DF"/>
                </a:solidFill>
                <a:latin typeface="Arial"/>
                <a:ea typeface="Arial"/>
                <a:cs typeface="Arial"/>
              </a:defRPr>
            </a:lvl8pPr>
            <a:lvl9pPr algn="l">
              <a:defRPr sz="2325" b="1">
                <a:solidFill>
                  <a:srgbClr val="2855DF"/>
                </a:solidFill>
                <a:latin typeface="Arial"/>
                <a:ea typeface="Arial"/>
                <a:cs typeface="Arial"/>
              </a:defRPr>
            </a:lvl9pPr>
          </a:lstStyle>
          <a:p xmlns:a="http://schemas.openxmlformats.org/drawingml/2006/main">
            <a:pPr algn="l">
              <a:defRPr sz="2325" b="1">
                <a:solidFill>
                  <a:srgbClr val="2855DF"/>
                </a:solidFill>
                <a:latin typeface="Arial"/>
                <a:ea typeface="Arial"/>
                <a:cs typeface="Arial"/>
              </a:defRPr>
            </a:pPr>
            <a:r>
              <a:rPr sz="2325" b="1">
                <a:solidFill>
                  <a:srgbClr val="2855DF"/>
                </a:solidFill>
                <a:latin typeface="Arial"/>
                <a:ea typeface="Arial"/>
                <a:cs typeface="Arial"/>
              </a:rPr>
              <a:t>Courier interviews and registration give us a starting point</a:t>
            </a:r>
          </a:p>
        </p:txBody>
      </p:sp>
      <p:sp>
        <p:nvSpPr>
          <p:cNvPr id="7" name="The pilot will test paying demand, repeat use and delivery econom">
            <a:extLst xmlns:a="http://schemas.openxmlformats.org/drawingml/2006/main">
              <a:ext uri="{FF2B5EF4-FFF2-40B4-BE49-F238E27FC236}">
                <a16:creationId xmlns:a16="http://schemas.microsoft.com/office/drawing/2014/main" id="{5EA3068E-81C1-4961-A02D-E42B5DA775F8}"/>
              </a:ext>
            </a:extLst>
          </p:cNvPr>
          <p:cNvSpPr>
            <a:spLocks xmlns:a="http://schemas.openxmlformats.org/drawingml/2006/main" noGrp="1"/>
          </p:cNvSpPr>
          <p:nvPr/>
        </p:nvSpPr>
        <p:spPr>
          <a:xfrm xmlns:a="http://schemas.openxmlformats.org/drawingml/2006/main">
            <a:off x="609600" y="60579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86C78"/>
                </a:solidFill>
                <a:latin typeface="Arial"/>
                <a:ea typeface="Arial"/>
                <a:cs typeface="Arial"/>
              </a:defRPr>
            </a:defPPr>
            <a:lvl1pPr algn="l">
              <a:defRPr sz="1650" b="0">
                <a:solidFill>
                  <a:srgbClr val="586C78"/>
                </a:solidFill>
                <a:latin typeface="Arial"/>
                <a:ea typeface="Arial"/>
                <a:cs typeface="Arial"/>
              </a:defRPr>
            </a:lvl1pPr>
            <a:lvl2pPr algn="l">
              <a:defRPr sz="1650" b="0">
                <a:solidFill>
                  <a:srgbClr val="586C78"/>
                </a:solidFill>
                <a:latin typeface="Arial"/>
                <a:ea typeface="Arial"/>
                <a:cs typeface="Arial"/>
              </a:defRPr>
            </a:lvl2pPr>
            <a:lvl3pPr algn="l">
              <a:defRPr sz="1650" b="0">
                <a:solidFill>
                  <a:srgbClr val="586C78"/>
                </a:solidFill>
                <a:latin typeface="Arial"/>
                <a:ea typeface="Arial"/>
                <a:cs typeface="Arial"/>
              </a:defRPr>
            </a:lvl3pPr>
            <a:lvl4pPr algn="l">
              <a:defRPr sz="1650" b="0">
                <a:solidFill>
                  <a:srgbClr val="586C78"/>
                </a:solidFill>
                <a:latin typeface="Arial"/>
                <a:ea typeface="Arial"/>
                <a:cs typeface="Arial"/>
              </a:defRPr>
            </a:lvl4pPr>
            <a:lvl5pPr algn="l">
              <a:defRPr sz="1650" b="0">
                <a:solidFill>
                  <a:srgbClr val="586C78"/>
                </a:solidFill>
                <a:latin typeface="Arial"/>
                <a:ea typeface="Arial"/>
                <a:cs typeface="Arial"/>
              </a:defRPr>
            </a:lvl5pPr>
            <a:lvl6pPr algn="l">
              <a:defRPr sz="1650" b="0">
                <a:solidFill>
                  <a:srgbClr val="586C78"/>
                </a:solidFill>
                <a:latin typeface="Arial"/>
                <a:ea typeface="Arial"/>
                <a:cs typeface="Arial"/>
              </a:defRPr>
            </a:lvl6pPr>
            <a:lvl7pPr algn="l">
              <a:defRPr sz="1650" b="0">
                <a:solidFill>
                  <a:srgbClr val="586C78"/>
                </a:solidFill>
                <a:latin typeface="Arial"/>
                <a:ea typeface="Arial"/>
                <a:cs typeface="Arial"/>
              </a:defRPr>
            </a:lvl7pPr>
            <a:lvl8pPr algn="l">
              <a:defRPr sz="1650" b="0">
                <a:solidFill>
                  <a:srgbClr val="586C78"/>
                </a:solidFill>
                <a:latin typeface="Arial"/>
                <a:ea typeface="Arial"/>
                <a:cs typeface="Arial"/>
              </a:defRPr>
            </a:lvl8pPr>
            <a:lvl9pPr algn="l">
              <a:defRPr sz="1650" b="0">
                <a:solidFill>
                  <a:srgbClr val="586C78"/>
                </a:solidFill>
                <a:latin typeface="Arial"/>
                <a:ea typeface="Arial"/>
                <a:cs typeface="Arial"/>
              </a:defRPr>
            </a:lvl9pPr>
          </a:lstStyle>
          <a:p xmlns:a="http://schemas.openxmlformats.org/drawingml/2006/main">
            <a:pPr algn="l">
              <a:defRPr sz="1650" b="0">
                <a:solidFill>
                  <a:srgbClr val="586C78"/>
                </a:solidFill>
                <a:latin typeface="Arial"/>
                <a:ea typeface="Arial"/>
                <a:cs typeface="Arial"/>
              </a:defRPr>
            </a:pPr>
            <a:r>
              <a:rPr sz="1650" b="0">
                <a:solidFill>
                  <a:srgbClr val="586C78"/>
                </a:solidFill>
                <a:latin typeface="Arial"/>
                <a:ea typeface="Arial"/>
                <a:cs typeface="Arial"/>
              </a:rPr>
              <a:t>The pilot will test paying demand, repeat use and delivery economics.</a:t>
            </a:r>
          </a:p>
        </p:txBody>
      </p:sp>
    </p:spTree>
    <p:extLst>
      <p:ext uri="{BB962C8B-B14F-4D97-AF65-F5344CB8AC3E}">
        <p14:creationId xmlns:p14="http://schemas.microsoft.com/office/powerpoint/2010/main" val="21136167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2026-10-23T13:12:03.7850000Z</dcterms:created>
  <dcterms:modified xsi:type="dcterms:W3CDTF">2026-10-23T13:12:03.7850000Z</dcterms:modified>
</coreProperties>
</file>