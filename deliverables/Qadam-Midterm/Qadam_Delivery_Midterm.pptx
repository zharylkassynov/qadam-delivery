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3bcd0ff56e4c54" /><Relationship Type="http://schemas.openxmlformats.org/officeDocument/2006/relationships/extended-properties" Target="/docProps/app.xml" Id="R5bca502d073f4986" /><Relationship Type="http://schemas.openxmlformats.org/officeDocument/2006/relationships/officeDocument" Target="/ppt/presentation.xml" Id="R63f489964f164695" /></Relationships>
</file>

<file path=ppt/presentation.xml><?xml version="1.0" encoding="utf-8"?>
<p:presentation xmlns:p="http://schemas.openxmlformats.org/presentationml/2006/main">
  <p:sldMasterIdLst>
    <p:sldMasterId xmlns:r="http://schemas.openxmlformats.org/officeDocument/2006/relationships" id="2147483648" r:id="Rb5dd8a33819a41bc"/>
  </p:sldMasterIdLst>
  <p:notesMasterIdLst>
    <p:notesMasterId xmlns:r="http://schemas.openxmlformats.org/officeDocument/2006/relationships" r:id="Rc2aa62b9dbef4d8e"/>
  </p:notesMasterIdLst>
  <p:sldIdLst>
    <p:sldId xmlns:r="http://schemas.openxmlformats.org/officeDocument/2006/relationships" id="256" r:id="R828422afa0b54743"/>
    <p:sldId xmlns:r="http://schemas.openxmlformats.org/officeDocument/2006/relationships" id="257" r:id="Rce74032e60804116"/>
    <p:sldId xmlns:r="http://schemas.openxmlformats.org/officeDocument/2006/relationships" id="258" r:id="Rd983f09b7c964b35"/>
    <p:sldId xmlns:r="http://schemas.openxmlformats.org/officeDocument/2006/relationships" id="259" r:id="R65eccd0fb0c84dc6"/>
    <p:sldId xmlns:r="http://schemas.openxmlformats.org/officeDocument/2006/relationships" id="260" r:id="R9e05408e15d048bf"/>
    <p:sldId xmlns:r="http://schemas.openxmlformats.org/officeDocument/2006/relationships" id="261" r:id="R1a9ebf4291f248ca"/>
    <p:sldId xmlns:r="http://schemas.openxmlformats.org/officeDocument/2006/relationships" id="262" r:id="R4b2b526d59874f2b"/>
    <p:sldId xmlns:r="http://schemas.openxmlformats.org/officeDocument/2006/relationships" id="263" r:id="R3fbcd33ece0a4335"/>
    <p:sldId xmlns:r="http://schemas.openxmlformats.org/officeDocument/2006/relationships" id="264" r:id="R3b5ed1e719294c0f"/>
    <p:sldId xmlns:r="http://schemas.openxmlformats.org/officeDocument/2006/relationships" id="265" r:id="R145057a3ea4049a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bf2eed2c2f423d" /><Relationship Type="http://schemas.openxmlformats.org/officeDocument/2006/relationships/slideMaster" Target="/ppt/slideMasters/slideMaster1.xml" Id="Rb5dd8a33819a41bc" /><Relationship Type="http://schemas.openxmlformats.org/officeDocument/2006/relationships/notesMaster" Target="/ppt/notesMasters/notesMaster1.xml" Id="Rc2aa62b9dbef4d8e" /><Relationship Type="http://schemas.openxmlformats.org/officeDocument/2006/relationships/presProps" Target="/ppt/presProps.xml" Id="R192238edf0ff4555" /><Relationship Type="http://schemas.openxmlformats.org/officeDocument/2006/relationships/tableStyles" Target="/ppt/tableStyles.xml" Id="R8d2dfa79271741c7" /><Relationship Type="http://schemas.openxmlformats.org/officeDocument/2006/relationships/slide" Target="/ppt/slides/slide1.xml" Id="R828422afa0b54743" /><Relationship Type="http://schemas.openxmlformats.org/officeDocument/2006/relationships/slide" Target="/ppt/slides/slide2.xml" Id="Rce74032e60804116" /><Relationship Type="http://schemas.openxmlformats.org/officeDocument/2006/relationships/slide" Target="/ppt/slides/slide3.xml" Id="Rd983f09b7c964b35" /><Relationship Type="http://schemas.openxmlformats.org/officeDocument/2006/relationships/slide" Target="/ppt/slides/slide4.xml" Id="R65eccd0fb0c84dc6" /><Relationship Type="http://schemas.openxmlformats.org/officeDocument/2006/relationships/slide" Target="/ppt/slides/slide5.xml" Id="R9e05408e15d048bf" /><Relationship Type="http://schemas.openxmlformats.org/officeDocument/2006/relationships/slide" Target="/ppt/slides/slide6.xml" Id="R1a9ebf4291f248ca" /><Relationship Type="http://schemas.openxmlformats.org/officeDocument/2006/relationships/slide" Target="/ppt/slides/slide7.xml" Id="R4b2b526d59874f2b" /><Relationship Type="http://schemas.openxmlformats.org/officeDocument/2006/relationships/slide" Target="/ppt/slides/slide8.xml" Id="R3fbcd33ece0a4335" /><Relationship Type="http://schemas.openxmlformats.org/officeDocument/2006/relationships/slide" Target="/ppt/slides/slide9.xml" Id="R3b5ed1e719294c0f" /><Relationship Type="http://schemas.openxmlformats.org/officeDocument/2006/relationships/slide" Target="/ppt/slides/slide10.xml" Id="R145057a3ea4049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9cd233db7d4e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9fed4b27e64f6f" /><Relationship Type="http://schemas.openxmlformats.org/officeDocument/2006/relationships/notesMaster" Target="/ppt/notesMasters/notesMaster1.xml" Id="R74f9bb3d078c40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9f16374d0c4e2f" /><Relationship Type="http://schemas.openxmlformats.org/officeDocument/2006/relationships/notesMaster" Target="/ppt/notesMasters/notesMaster1.xml" Id="R2830541da53340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4eba993bc04868" /><Relationship Type="http://schemas.openxmlformats.org/officeDocument/2006/relationships/notesMaster" Target="/ppt/notesMasters/notesMaster1.xml" Id="Rd95d4a605b224f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ef8273ace74ef7" /><Relationship Type="http://schemas.openxmlformats.org/officeDocument/2006/relationships/notesMaster" Target="/ppt/notesMasters/notesMaster1.xml" Id="R95f42f7fbcc144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66b0f3293347a6" /><Relationship Type="http://schemas.openxmlformats.org/officeDocument/2006/relationships/notesMaster" Target="/ppt/notesMasters/notesMaster1.xml" Id="R2a312ca88d4446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ed46591d4e4dc1" /><Relationship Type="http://schemas.openxmlformats.org/officeDocument/2006/relationships/notesMaster" Target="/ppt/notesMasters/notesMaster1.xml" Id="R46582e37d17e47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cc6fa065d4442e" /><Relationship Type="http://schemas.openxmlformats.org/officeDocument/2006/relationships/notesMaster" Target="/ppt/notesMasters/notesMaster1.xml" Id="Rb731511083b84e3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d3a4d49fe848f5" /><Relationship Type="http://schemas.openxmlformats.org/officeDocument/2006/relationships/notesMaster" Target="/ppt/notesMasters/notesMaster1.xml" Id="R2ca34026dd9e451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66bddf06dc42d3" /><Relationship Type="http://schemas.openxmlformats.org/officeDocument/2006/relationships/notesMaster" Target="/ppt/notesMasters/notesMaster1.xml" Id="Rfd46cc6ab29d44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5c2df3b20e433d" /><Relationship Type="http://schemas.openxmlformats.org/officeDocument/2006/relationships/notesMaster" Target="/ppt/notesMasters/notesMaster1.xml" Id="R4234adaa81ca40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Qadam Delivery — учебный проект городской доставки через Telegram Mini App. Первый рассматриваемый рынок — небольшие бизнесы Алматы. Наша задача на этом этапе — проверить частоту потребности, стоимость существующих способов доставки и готовность бизнеса к платному пилоту. В презентации факты о проекте и официальная статистика отделены от расчётных допущений. Подтверждённых полевых интервью в исходных материалах нет, поэтому мы не представляем гипотезы как результаты исследования.</a:t>
            </a:r>
          </a:p>
          <a:p xmlns:a="http://schemas.openxmlformats.org/drawingml/2006/main">
            <a:r>
              <a:t/>
            </a:r>
          </a:p>
          <a:p xmlns:a="http://schemas.openxmlformats.org/drawingml/2006/main">
            <a:r>
              <a:t>Источники:</a:t>
            </a:r>
          </a:p>
          <a:p xmlns:a="http://schemas.openxmlformats.org/drawingml/2006/main">
            <a:r>
              <a:t>PROJECT_BRIEF.md; README.md. Внутренние материалы проекта.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Мы начинаем с бизнеса, который регулярно отправляет товары покупателям и самостоятельно выбирает способ доставки. Владелец или администратор — потенциальный покупатель услуги. Получатель посылки и курьер — другие участники процесса. Числа 40 доставок в месяц и 10 минут координации на доставку выбраны для учебной модели. Их произведение составляет 400 минут, или примерно 6,7 часа. Это оценка потенциальной проблемы, а не результат интервью и не обещание экономии. В исследовании нужно проверить и саму частоту доставок, и фактическое время координации.</a:t>
            </a:r>
          </a:p>
          <a:p xmlns:a="http://schemas.openxmlformats.org/drawingml/2006/main">
            <a:r>
              <a:t/>
            </a:r>
          </a:p>
          <a:p xmlns:a="http://schemas.openxmlformats.org/drawingml/2006/main">
            <a:r>
              <a:t>Источники:</a:t>
            </a:r>
          </a:p>
          <a:p xmlns:a="http://schemas.openxmlformats.org/drawingml/2006/main">
            <a:r>
              <a:t>PROJECT_BRIEF.md: первоначальный фокус B2B. Числа на слайде — допущения команды.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 провести 12 разговоров с владельцами или администраторами бизнесов и отдельно 4 разговора с курьерами. Это план, интервью пока не подтверждены. Рекрутинг: прямое обращение к подходящим бизнесам Алматы, беседа с человеком, который реально организует доставки. Продолжительность — около 20–30 минут. Сначала обсуждаем конкретные последние случаи без презентации приложения. Фиксируем частоту, стоимость, время, сбои, способы решения и причины отказа от альтернатив. Затем можем предложить отдельный пилот. Сохраняем дату, роль респондента и обезличенные заметки. Учитываем отрицательные ответы. Выборка целевая и небольшая, она не даёт статистической оценки всего города.</a:t>
            </a:r>
          </a:p>
          <a:p xmlns:a="http://schemas.openxmlformats.org/drawingml/2006/main">
            <a:r>
              <a:t/>
            </a:r>
          </a:p>
          <a:p xmlns:a="http://schemas.openxmlformats.org/drawingml/2006/main">
            <a:r>
              <a:t>Источники:</a:t>
            </a:r>
          </a:p>
          <a:p xmlns:a="http://schemas.openxmlformats.org/drawingml/2006/main">
            <a:r>
              <a:t>Rob Fitzpatrick, The Mom Test: https://www.momtestbook.com/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представлены заранее выбранные критерии принятия решения. Они нужны, чтобы команда не меняла определение успеха после получения удобных ответов. Первые две строки проверяются в интервью, третья — конкретным согласием на платный пилот с согласованными условиями, четвёртая — наблюдением реального повторного заказа. Для каждого вывода нужно показать исходное число респондентов и исключить двойной учёт. Согласие на участие, фактическая оплата и повторный заказ — разные уровни свидетельств. Ни один из этих результатов пока не получен. Если критерии не выполнятся, нужно пересмотреть сегмент, процесс или цену.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 данным Бюро национальной статистики, розничная электронная коммерция Казахстана с учётом маркетплейсов выросла с 1,9634932 трлн тенге в 2022 году до 3,7688218 трлн в 2025 году. За три годовых интервала CAGR составляет около 24.3%. Расчёт использует номинальные суммы в тенге, без поправки на инфляцию. Для Qadam это контекст потенциальной потребности в доставках, а не доказательство роста спроса на наш продукт. Оборот товаров не является выручкой курьерских платформ, поэтому мы не используем эти триллионы как TAM Qadam.</a:t>
            </a:r>
          </a:p>
          <a:p xmlns:a="http://schemas.openxmlformats.org/drawingml/2006/main">
            <a:r>
              <a:t/>
            </a:r>
          </a:p>
          <a:p xmlns:a="http://schemas.openxmlformats.org/drawingml/2006/main">
            <a:r>
              <a:t>Источники:</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слайде настоящий снимок главного экрана Qadam Delivery в демонстрационном аккаунте. В документации проекта описаны создание заказа, принятие курьером, последовательное обновление статусов, карта, сохранение данных на сервере и история после повторного открытия. Отдельный кабинет бизнеса пока не реализован, поэтому первый B2B-пилот может использовать общий клиентский сценарий. Позиция курьера — последняя полученная координата с временем обновления. Нельзя обещать непрерывное фоновое отслеживание после закрытия Mini App. Наличие функций подтверждает техническую основу пилота, а спрос и готовность платить нужно проверять отдельно.</a:t>
            </a:r>
          </a:p>
          <a:p xmlns:a="http://schemas.openxmlformats.org/drawingml/2006/main">
            <a:r>
              <a:t/>
            </a:r>
          </a:p>
          <a:p xmlns:a="http://schemas.openxmlformats.org/drawingml/2006/main">
            <a:r>
              <a:t>Источники:</a:t>
            </a:r>
          </a:p>
          <a:p xmlns:a="http://schemas.openxmlformats.org/drawingml/2006/main">
            <a:r>
              <a:t>README.md; PROJECT_BRIEF.md; снимок экрана https://qadam-delivery.vercel.app/ от 23.10.2026. Карта: Geoapify, OpenMapTiles, OpenStreetMap, атрибуция сохранена на снимке.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Национальная доля электронной торговли в розничном обороте составляет 14,3% в 2025 году. Это показатель объёма торговли, а не доли предприятий, использующих курьерские приложения. Для нужной нам метрики в каждом интервью фиксируем использование специализированного цифрового сервиса доставки за последние 30 дней. Бизнес может одновременно пользоваться несколькими способами, поэтому категории не обязательно суммируются до 100%. В числителе учитываем каждый бизнес один раз. В знаменателе — все подходящие опрошенные бизнесы, включая использующих ручные способы. Простая переписка в Telegram сама по себе не считается заказом через специализированный сервис. Фактическое значение n/N пока неизвестно, и на город такой результат без репрезентативной выборки переносить нельзя.</a:t>
            </a:r>
          </a:p>
          <a:p xmlns:a="http://schemas.openxmlformats.org/drawingml/2006/main">
            <a:r>
              <a:t/>
            </a:r>
          </a:p>
          <a:p xmlns:a="http://schemas.openxmlformats.org/drawingml/2006/main">
            <a:r>
              <a:t>Источники:</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Используем расчёт снизу вверх в одной и той же единице — годовой выручке платформы. TAM ограничиваем Казахстаном и подходящими бизнесами, а SAM — доступным для обслуживания сегментом Алматы. 10 тысяч и 1500 компаний — учебные допущения, не официальные данные и не результат подсчёта магазинов. SOM предполагает 50 активных бизнесов к концу горизонта 1–2 года, или примерно 3,3% модельного SAM. Каждый бизнес делает 40 доставок в месяц, доход платформы с доставки составляет 300 тенге. Годовая выручка на бизнес равна 144 тысячам тенге. Отсюда TAM 1,44 миллиарда, SAM 216 миллионов, SOM 7,2 миллиона тенге. Это годовая выручка при достигнутом масштабе, не фактические продажи, не накопленная выручка за два года и не прибыль. Число бизнесов, частота, цена и доступность курьеров требуют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Модель чувствительна к количеству заказов и комиссии. При 50 бизнесах осторожный вариант даёт 3 миллиона тенге годовой выручки, базовый — 7,2 миллиона, высокий — 12,6 миллиона. Это сценарии при постоянной клиентской базе, а не вероятностный прогноз. Канал привлечения для пилота — прямые обращения и демонстрация на реальном заказе, далее рекомендации участников и локальные бизнес-сообщества. Планируем пять участников пилота, затем двадцать активных бизнесов к концу первого года и пятьдесят ко второму. Реальная конверсия и удержание неизвестны. Базовый объём равен двум тысячам доставок в месяц. Условная мощность двенадцати активных курьеров при восьми доставках за рабочий день и 26 днях составляет 2496 заказов. Эта производительность не измерена, пиковый спрос, расстояния и доступность курьеров могут снизить её.</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первую неделю проводим интервью и согласуем пилот с пятью бизнесами и четырьмя курьерами. Во вторую и третью недели выполняем реальные заказы, в четвёртую оцениваем повторы и экономику. Цель — пятьдесят завершённых доставок. До запуска фиксируем согласованное окно доставки и измеряем время координации обычным способом, затем сравниваем с использованием Qadam на сопоставимых заказах. Порог 30% экономии времени и 90% доставок в срок — предлагаемые критерии команды, а не существующие показатели. Вклад с заказа считаем после выплаты курьеру и остальных переменных расходов, включая поддержку и платёжные издержки, если они есть. Комиссия 300 тенге сама по себе не доказывает положительную экономику. Масштабирование имеет смысл после подтверждения платёжного спроса, повторных заказов и приемлемой экономики. Главный текущий пробел — отсутствие результатов PMR.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8aa2206a2b431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62148ac9c14ea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4948f70f0441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cfc0765b4947d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1e063150b9421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c39155adc44b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1B0A03-6181-46E8-9017-7BC988792E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9DDDE-ACF6-4453-AF73-108E069CDD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16CEEE-5D06-4E51-93E0-F43111AE26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7A9DE-C1FB-4EA5-B650-0A9A912E7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99FC62-0019-4DC2-8B54-000EE8AC7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F3F919-A2E2-4B79-8E2A-359B1DA62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ECE751-3580-47C0-A73D-693DB5530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A48BC-B291-4056-8BE7-986C430C14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7858A8-EFB7-4C24-B828-9C8703056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DF8791-8462-4F64-A12A-4109F862BA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86df3b9ef4e4d" /><Relationship Type="http://schemas.openxmlformats.org/officeDocument/2006/relationships/slideLayout" Target="/ppt/slideLayouts/slideLayout1.xml" Id="R5d03bd25b6874e71" /><Relationship Type="http://schemas.openxmlformats.org/officeDocument/2006/relationships/slideLayout" Target="/ppt/slideLayouts/slideLayout2.xml" Id="R8fa0a4519b2c4a3a" /><Relationship Type="http://schemas.openxmlformats.org/officeDocument/2006/relationships/slideLayout" Target="/ppt/slideLayouts/slideLayout3.xml" Id="R72e28946b5fb4921" /><Relationship Type="http://schemas.openxmlformats.org/officeDocument/2006/relationships/slideLayout" Target="/ppt/slideLayouts/slideLayout4.xml" Id="Rec0852c34cfa4868" /><Relationship Type="http://schemas.openxmlformats.org/officeDocument/2006/relationships/slideLayout" Target="/ppt/slideLayouts/slideLayout5.xml" Id="R5215dae4404d4d43" /><Relationship Type="http://schemas.openxmlformats.org/officeDocument/2006/relationships/slideLayout" Target="/ppt/slideLayouts/slideLayout6.xml" Id="R567933868ed148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03bd25b6874e71"/>
    <p:sldLayoutId xmlns:r="http://schemas.openxmlformats.org/officeDocument/2006/relationships" id="2147483650" r:id="R8fa0a4519b2c4a3a"/>
    <p:sldLayoutId xmlns:r="http://schemas.openxmlformats.org/officeDocument/2006/relationships" id="2147483651" r:id="R72e28946b5fb4921"/>
    <p:sldLayoutId xmlns:r="http://schemas.openxmlformats.org/officeDocument/2006/relationships" id="2147483652" r:id="Rec0852c34cfa4868"/>
    <p:sldLayoutId xmlns:r="http://schemas.openxmlformats.org/officeDocument/2006/relationships" id="2147483653" r:id="R5215dae4404d4d43"/>
    <p:sldLayoutId xmlns:r="http://schemas.openxmlformats.org/officeDocument/2006/relationships" id="2147483654" r:id="R567933868ed148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984500fee8d4ea9" /><Relationship Type="http://schemas.openxmlformats.org/officeDocument/2006/relationships/notesSlide" Target="/ppt/notesSlides/notesSlide1.xml" Id="R36a29aa64d7a42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e5ce7496150474f" /><Relationship Type="http://schemas.openxmlformats.org/officeDocument/2006/relationships/notesSlide" Target="/ppt/notesSlides/notesSlide2.xml" Id="Rbd62627e81da4f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1e6611b5124163" /><Relationship Type="http://schemas.openxmlformats.org/officeDocument/2006/relationships/notesSlide" Target="/ppt/notesSlides/notesSlide3.xml" Id="R76ccd46c202e48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94f3eb743f4730" /><Relationship Type="http://schemas.openxmlformats.org/officeDocument/2006/relationships/notesSlide" Target="/ppt/notesSlides/notesSlide4.xml" Id="R347408d0c5c340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d50197e6b34c7f" /><Relationship Type="http://schemas.openxmlformats.org/officeDocument/2006/relationships/chart" Target="/ppt/slides/charts/chart1.xml" Id="R942aa10d088c4c6b" /><Relationship Type="http://schemas.openxmlformats.org/officeDocument/2006/relationships/notesSlide" Target="/ppt/notesSlides/notesSlide5.xml" Id="R44e44f6527f144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9272abc72e54510" /><Relationship Type="http://schemas.openxmlformats.org/officeDocument/2006/relationships/image" Target="/ppt/media/image.jpeg" Id="R04babf7cfece4901" /><Relationship Type="http://schemas.openxmlformats.org/officeDocument/2006/relationships/notesSlide" Target="/ppt/notesSlides/notesSlide6.xml" Id="R4854eeea245d41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86e974e14e749f4" /><Relationship Type="http://schemas.openxmlformats.org/officeDocument/2006/relationships/notesSlide" Target="/ppt/notesSlides/notesSlide7.xml" Id="R3c535cf2c3bd42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d266dcb7247408b" /><Relationship Type="http://schemas.openxmlformats.org/officeDocument/2006/relationships/notesSlide" Target="/ppt/notesSlides/notesSlide8.xml" Id="R8f2b00c2c9c74d0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f001b61503d4ffd" /><Relationship Type="http://schemas.openxmlformats.org/officeDocument/2006/relationships/notesSlide" Target="/ppt/notesSlides/notesSlide9.xml" Id="R30dfd6e2c7a94d0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c13db5147b482b" /><Relationship Type="http://schemas.openxmlformats.org/officeDocument/2006/relationships/notesSlide" Target="/ppt/notesSlides/notesSlide10.xml" Id="R09a5cdc10a314ee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Розничная электронная коммерция</c:v>
          </c:tx>
          <c:spPr>
            <a:solidFill xmlns:a="http://schemas.openxmlformats.org/drawingml/2006/main">
              <a:srgbClr val="2855DF"/>
            </a:solidFill>
          </c:spPr>
          <c:invertIfNegative val="0"/>
          <c:cat>
            <c:numRef>
              <c:f>'Chart Data'!$A$2:$A$5</c:f>
              <c:numCache>
                <c:formatCode>General</c:formatCode>
                <c:ptCount val="4"/>
                <c:pt idx="0">
                  <c:v>2022</c:v>
                </c:pt>
                <c:pt idx="1">
                  <c:v>2023</c:v>
                </c:pt>
                <c:pt idx="2">
                  <c:v>2024</c:v>
                </c:pt>
                <c:pt idx="3">
                  <c:v>2025</c:v>
                </c:pt>
              </c:numCache>
            </c:numRef>
          </c:cat>
          <c:val>
            <c:numRef>
              <c:f>'Chart Data'!$B$2:$B$5</c:f>
              <c:numCache>
                <c:formatCode>0.00</c:formatCode>
                <c:ptCount val="4"/>
                <c:pt idx="0">
                  <c:v>1.9634932</c:v>
                </c:pt>
                <c:pt idx="1">
                  <c:v>2.4398215</c:v>
                </c:pt>
                <c:pt idx="2">
                  <c:v>3.1563722</c:v>
                </c:pt>
                <c:pt idx="3">
                  <c:v>3.7688218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32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2DE"/>
            </a:solidFill>
          </a:ln>
        </c:spPr>
        <c:txPr>
          <a:bodyPr xmlns:a="http://schemas.openxmlformats.org/drawingml/2006/main" anchorCtr="1"/>
          <a:lstStyle xmlns:a="http://schemas.openxmlformats.org/drawingml/2006/main"/>
          <a:p xmlns:a="http://schemas.openxmlformats.org/drawingml/2006/main">
            <a:pPr>
              <a:defRPr sz="1800">
                <a:solidFill>
                  <a:srgbClr val="1432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DF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C78"/>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3243"/>
        </a:solidFill>
      </p:bgPr>
    </p:bg>
    <p:spTree>
      <p:nvGrpSpPr>
        <p:cNvPr id="1" name=""/>
        <p:cNvGrpSpPr/>
        <p:nvPr/>
      </p:nvGrpSpPr>
      <p:grpSpPr>
        <a:xfrm xmlns:a="http://schemas.openxmlformats.org/drawingml/2006/main"/>
      </p:grpSpPr>
      <p:sp>
        <p:nvSpPr>
          <p:cNvPr id="6" name="Qadam Delivery">
            <a:extLst xmlns:a="http://schemas.openxmlformats.org/drawingml/2006/main">
              <a:ext uri="{FF2B5EF4-FFF2-40B4-BE49-F238E27FC236}">
                <a16:creationId xmlns:a16="http://schemas.microsoft.com/office/drawing/2014/main" id="{C645F896-E6D5-42BC-A6CB-BCD076D95A71}"/>
              </a:ext>
            </a:extLst>
          </p:cNvPr>
          <p:cNvSpPr>
            <a:spLocks xmlns:a="http://schemas.openxmlformats.org/drawingml/2006/main" noGrp="1"/>
          </p:cNvSpPr>
          <p:nvPr/>
        </p:nvSpPr>
        <p:spPr>
          <a:xfrm xmlns:a="http://schemas.openxmlformats.org/drawingml/2006/main">
            <a:off x="609600" y="5905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Qadam Delivery</a:t>
            </a:r>
          </a:p>
        </p:txBody>
      </p:sp>
      <p:sp>
        <p:nvSpPr>
          <p:cNvPr id="2" name="Доставка для малого бизнеса&#10;Алматы в Telegram">
            <a:extLst xmlns:a="http://schemas.openxmlformats.org/drawingml/2006/main">
              <a:ext uri="{FF2B5EF4-FFF2-40B4-BE49-F238E27FC236}">
                <a16:creationId xmlns:a16="http://schemas.microsoft.com/office/drawing/2014/main" id="{7FD9CF86-9691-49DA-A567-E213B7DAD860}"/>
              </a:ext>
            </a:extLst>
          </p:cNvPr>
          <p:cNvSpPr>
            <a:spLocks xmlns:a="http://schemas.openxmlformats.org/drawingml/2006/main" noGrp="1"/>
          </p:cNvSpPr>
          <p:nvPr/>
        </p:nvSpPr>
        <p:spPr>
          <a:xfrm xmlns:a="http://schemas.openxmlformats.org/drawingml/2006/main">
            <a:off x="647700" y="22669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Arial"/>
                <a:ea typeface="Arial"/>
                <a:cs typeface="Arial"/>
              </a:defRPr>
            </a:defPPr>
            <a:lvl1pPr algn="l">
              <a:defRPr sz="3600" b="0">
                <a:solidFill>
                  <a:srgbClr val="FFFFFF"/>
                </a:solidFill>
                <a:latin typeface="Arial"/>
                <a:ea typeface="Arial"/>
                <a:cs typeface="Arial"/>
              </a:defRPr>
            </a:lvl1pPr>
            <a:lvl2pPr algn="l">
              <a:defRPr sz="3600" b="0">
                <a:solidFill>
                  <a:srgbClr val="FFFFFF"/>
                </a:solidFill>
                <a:latin typeface="Arial"/>
                <a:ea typeface="Arial"/>
                <a:cs typeface="Arial"/>
              </a:defRPr>
            </a:lvl2pPr>
            <a:lvl3pPr algn="l">
              <a:defRPr sz="3600" b="0">
                <a:solidFill>
                  <a:srgbClr val="FFFFFF"/>
                </a:solidFill>
                <a:latin typeface="Arial"/>
                <a:ea typeface="Arial"/>
                <a:cs typeface="Arial"/>
              </a:defRPr>
            </a:lvl3pPr>
            <a:lvl4pPr algn="l">
              <a:defRPr sz="3600" b="0">
                <a:solidFill>
                  <a:srgbClr val="FFFFFF"/>
                </a:solidFill>
                <a:latin typeface="Arial"/>
                <a:ea typeface="Arial"/>
                <a:cs typeface="Arial"/>
              </a:defRPr>
            </a:lvl4pPr>
            <a:lvl5pPr algn="l">
              <a:defRPr sz="3600" b="0">
                <a:solidFill>
                  <a:srgbClr val="FFFFFF"/>
                </a:solidFill>
                <a:latin typeface="Arial"/>
                <a:ea typeface="Arial"/>
                <a:cs typeface="Arial"/>
              </a:defRPr>
            </a:lvl5pPr>
            <a:lvl6pPr algn="l">
              <a:defRPr sz="3600" b="0">
                <a:solidFill>
                  <a:srgbClr val="FFFFFF"/>
                </a:solidFill>
                <a:latin typeface="Arial"/>
                <a:ea typeface="Arial"/>
                <a:cs typeface="Arial"/>
              </a:defRPr>
            </a:lvl6pPr>
            <a:lvl7pPr algn="l">
              <a:defRPr sz="3600" b="0">
                <a:solidFill>
                  <a:srgbClr val="FFFFFF"/>
                </a:solidFill>
                <a:latin typeface="Arial"/>
                <a:ea typeface="Arial"/>
                <a:cs typeface="Arial"/>
              </a:defRPr>
            </a:lvl7pPr>
            <a:lvl8pPr algn="l">
              <a:defRPr sz="3600" b="0">
                <a:solidFill>
                  <a:srgbClr val="FFFFFF"/>
                </a:solidFill>
                <a:latin typeface="Arial"/>
                <a:ea typeface="Arial"/>
                <a:cs typeface="Arial"/>
              </a:defRPr>
            </a:lvl8pPr>
            <a:lvl9pPr algn="l">
              <a:defRPr sz="3600" b="0">
                <a:solidFill>
                  <a:srgbClr val="FFFFFF"/>
                </a:solidFill>
                <a:latin typeface="Arial"/>
                <a:ea typeface="Arial"/>
                <a:cs typeface="Arial"/>
              </a:defRPr>
            </a:lvl9pPr>
          </a:lstStyle>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Доставка для малого бизнеса</a:t>
            </a:r>
          </a:p>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Алматы в Telegram</a:t>
            </a:r>
          </a:p>
        </p:txBody>
      </p:sp>
      <p:sp>
        <p:nvSpPr>
          <p:cNvPr id="3" name="Primary Market Research&#10;&amp; Opportunity Defense">
            <a:extLst xmlns:a="http://schemas.openxmlformats.org/drawingml/2006/main">
              <a:ext uri="{FF2B5EF4-FFF2-40B4-BE49-F238E27FC236}">
                <a16:creationId xmlns:a16="http://schemas.microsoft.com/office/drawing/2014/main" id="{811C598D-CC0F-49BB-B9C4-482357FEBD6A}"/>
              </a:ext>
            </a:extLst>
          </p:cNvPr>
          <p:cNvSpPr>
            <a:spLocks xmlns:a="http://schemas.openxmlformats.org/drawingml/2006/main" noGrp="1"/>
          </p:cNvSpPr>
          <p:nvPr/>
        </p:nvSpPr>
        <p:spPr>
          <a:xfrm xmlns:a="http://schemas.openxmlformats.org/drawingml/2006/main">
            <a:off x="647700" y="41910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8CCDF"/>
                </a:solidFill>
                <a:latin typeface="Arial"/>
                <a:ea typeface="Arial"/>
                <a:cs typeface="Arial"/>
              </a:defRPr>
            </a:defPPr>
            <a:lvl1pPr algn="l">
              <a:defRPr sz="2250" b="0">
                <a:solidFill>
                  <a:srgbClr val="B8CCDF"/>
                </a:solidFill>
                <a:latin typeface="Arial"/>
                <a:ea typeface="Arial"/>
                <a:cs typeface="Arial"/>
              </a:defRPr>
            </a:lvl1pPr>
            <a:lvl2pPr algn="l">
              <a:defRPr sz="2250" b="0">
                <a:solidFill>
                  <a:srgbClr val="B8CCDF"/>
                </a:solidFill>
                <a:latin typeface="Arial"/>
                <a:ea typeface="Arial"/>
                <a:cs typeface="Arial"/>
              </a:defRPr>
            </a:lvl2pPr>
            <a:lvl3pPr algn="l">
              <a:defRPr sz="2250" b="0">
                <a:solidFill>
                  <a:srgbClr val="B8CCDF"/>
                </a:solidFill>
                <a:latin typeface="Arial"/>
                <a:ea typeface="Arial"/>
                <a:cs typeface="Arial"/>
              </a:defRPr>
            </a:lvl3pPr>
            <a:lvl4pPr algn="l">
              <a:defRPr sz="2250" b="0">
                <a:solidFill>
                  <a:srgbClr val="B8CCDF"/>
                </a:solidFill>
                <a:latin typeface="Arial"/>
                <a:ea typeface="Arial"/>
                <a:cs typeface="Arial"/>
              </a:defRPr>
            </a:lvl4pPr>
            <a:lvl5pPr algn="l">
              <a:defRPr sz="2250" b="0">
                <a:solidFill>
                  <a:srgbClr val="B8CCDF"/>
                </a:solidFill>
                <a:latin typeface="Arial"/>
                <a:ea typeface="Arial"/>
                <a:cs typeface="Arial"/>
              </a:defRPr>
            </a:lvl5pPr>
            <a:lvl6pPr algn="l">
              <a:defRPr sz="2250" b="0">
                <a:solidFill>
                  <a:srgbClr val="B8CCDF"/>
                </a:solidFill>
                <a:latin typeface="Arial"/>
                <a:ea typeface="Arial"/>
                <a:cs typeface="Arial"/>
              </a:defRPr>
            </a:lvl6pPr>
            <a:lvl7pPr algn="l">
              <a:defRPr sz="2250" b="0">
                <a:solidFill>
                  <a:srgbClr val="B8CCDF"/>
                </a:solidFill>
                <a:latin typeface="Arial"/>
                <a:ea typeface="Arial"/>
                <a:cs typeface="Arial"/>
              </a:defRPr>
            </a:lvl7pPr>
            <a:lvl8pPr algn="l">
              <a:defRPr sz="2250" b="0">
                <a:solidFill>
                  <a:srgbClr val="B8CCDF"/>
                </a:solidFill>
                <a:latin typeface="Arial"/>
                <a:ea typeface="Arial"/>
                <a:cs typeface="Arial"/>
              </a:defRPr>
            </a:lvl8pPr>
            <a:lvl9pPr algn="l">
              <a:defRPr sz="2250" b="0">
                <a:solidFill>
                  <a:srgbClr val="B8CCDF"/>
                </a:solidFill>
                <a:latin typeface="Arial"/>
                <a:ea typeface="Arial"/>
                <a:cs typeface="Arial"/>
              </a:defRPr>
            </a:lvl9pPr>
          </a:lstStyle>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Primary Market Research</a:t>
            </a:r>
          </a:p>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&amp; Opportunity Defense</a:t>
            </a:r>
          </a:p>
        </p:txBody>
      </p:sp>
      <p:sp>
        <p:nvSpPr>
          <p:cNvPr id="4" name="Task 3 / Midterm defense / Октябрь 2026">
            <a:extLst xmlns:a="http://schemas.openxmlformats.org/drawingml/2006/main">
              <a:ext uri="{FF2B5EF4-FFF2-40B4-BE49-F238E27FC236}">
                <a16:creationId xmlns:a16="http://schemas.microsoft.com/office/drawing/2014/main" id="{857A6AC7-7E0E-4E1D-8254-DF34ACC3659C}"/>
              </a:ext>
            </a:extLst>
          </p:cNvPr>
          <p:cNvSpPr>
            <a:spLocks xmlns:a="http://schemas.openxmlformats.org/drawingml/2006/main" noGrp="1"/>
          </p:cNvSpPr>
          <p:nvPr/>
        </p:nvSpPr>
        <p:spPr>
          <a:xfrm xmlns:a="http://schemas.openxmlformats.org/drawingml/2006/main">
            <a:off x="647700" y="5657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8CCDF"/>
                </a:solidFill>
                <a:latin typeface="Arial"/>
                <a:ea typeface="Arial"/>
                <a:cs typeface="Arial"/>
              </a:defRPr>
            </a:defPPr>
            <a:lvl1pPr algn="l">
              <a:defRPr sz="1650" b="0">
                <a:solidFill>
                  <a:srgbClr val="B8CCDF"/>
                </a:solidFill>
                <a:latin typeface="Arial"/>
                <a:ea typeface="Arial"/>
                <a:cs typeface="Arial"/>
              </a:defRPr>
            </a:lvl1pPr>
            <a:lvl2pPr algn="l">
              <a:defRPr sz="1650" b="0">
                <a:solidFill>
                  <a:srgbClr val="B8CCDF"/>
                </a:solidFill>
                <a:latin typeface="Arial"/>
                <a:ea typeface="Arial"/>
                <a:cs typeface="Arial"/>
              </a:defRPr>
            </a:lvl2pPr>
            <a:lvl3pPr algn="l">
              <a:defRPr sz="1650" b="0">
                <a:solidFill>
                  <a:srgbClr val="B8CCDF"/>
                </a:solidFill>
                <a:latin typeface="Arial"/>
                <a:ea typeface="Arial"/>
                <a:cs typeface="Arial"/>
              </a:defRPr>
            </a:lvl3pPr>
            <a:lvl4pPr algn="l">
              <a:defRPr sz="1650" b="0">
                <a:solidFill>
                  <a:srgbClr val="B8CCDF"/>
                </a:solidFill>
                <a:latin typeface="Arial"/>
                <a:ea typeface="Arial"/>
                <a:cs typeface="Arial"/>
              </a:defRPr>
            </a:lvl4pPr>
            <a:lvl5pPr algn="l">
              <a:defRPr sz="1650" b="0">
                <a:solidFill>
                  <a:srgbClr val="B8CCDF"/>
                </a:solidFill>
                <a:latin typeface="Arial"/>
                <a:ea typeface="Arial"/>
                <a:cs typeface="Arial"/>
              </a:defRPr>
            </a:lvl5pPr>
            <a:lvl6pPr algn="l">
              <a:defRPr sz="1650" b="0">
                <a:solidFill>
                  <a:srgbClr val="B8CCDF"/>
                </a:solidFill>
                <a:latin typeface="Arial"/>
                <a:ea typeface="Arial"/>
                <a:cs typeface="Arial"/>
              </a:defRPr>
            </a:lvl6pPr>
            <a:lvl7pPr algn="l">
              <a:defRPr sz="1650" b="0">
                <a:solidFill>
                  <a:srgbClr val="B8CCDF"/>
                </a:solidFill>
                <a:latin typeface="Arial"/>
                <a:ea typeface="Arial"/>
                <a:cs typeface="Arial"/>
              </a:defRPr>
            </a:lvl7pPr>
            <a:lvl8pPr algn="l">
              <a:defRPr sz="1650" b="0">
                <a:solidFill>
                  <a:srgbClr val="B8CCDF"/>
                </a:solidFill>
                <a:latin typeface="Arial"/>
                <a:ea typeface="Arial"/>
                <a:cs typeface="Arial"/>
              </a:defRPr>
            </a:lvl8pPr>
            <a:lvl9pPr algn="l">
              <a:defRPr sz="1650" b="0">
                <a:solidFill>
                  <a:srgbClr val="B8CCDF"/>
                </a:solidFill>
                <a:latin typeface="Arial"/>
                <a:ea typeface="Arial"/>
                <a:cs typeface="Arial"/>
              </a:defRPr>
            </a:lvl9pPr>
          </a:lstStyle>
          <a:p xmlns:a="http://schemas.openxmlformats.org/drawingml/2006/main">
            <a:pPr algn="l">
              <a:defRPr sz="1650" b="0">
                <a:solidFill>
                  <a:srgbClr val="B8CCDF"/>
                </a:solidFill>
                <a:latin typeface="Arial"/>
                <a:ea typeface="Arial"/>
                <a:cs typeface="Arial"/>
              </a:defRPr>
            </a:pPr>
            <a:r>
              <a:rPr sz="1650" b="0">
                <a:solidFill>
                  <a:srgbClr val="B8CCDF"/>
                </a:solidFill>
                <a:latin typeface="Arial"/>
                <a:ea typeface="Arial"/>
                <a:cs typeface="Arial"/>
              </a:rPr>
              <a:t>Task 3 / Midterm defense / Октябрь 2026</a:t>
            </a:r>
          </a:p>
        </p:txBody>
      </p:sp>
      <p:sp>
        <p:nvSpPr>
          <p:cNvPr id="5" name="Учебная модель рынка. Полевые интервью ещё предстоят.">
            <a:extLst xmlns:a="http://schemas.openxmlformats.org/drawingml/2006/main">
              <a:ext uri="{FF2B5EF4-FFF2-40B4-BE49-F238E27FC236}">
                <a16:creationId xmlns:a16="http://schemas.microsoft.com/office/drawing/2014/main" id="{5B48915B-4B0C-453E-9DF9-160C700EF1E2}"/>
              </a:ext>
            </a:extLst>
          </p:cNvPr>
          <p:cNvSpPr>
            <a:spLocks xmlns:a="http://schemas.openxmlformats.org/drawingml/2006/main" noGrp="1"/>
          </p:cNvSpPr>
          <p:nvPr/>
        </p:nvSpPr>
        <p:spPr>
          <a:xfrm xmlns:a="http://schemas.openxmlformats.org/drawingml/2006/main">
            <a:off x="647700" y="62198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8CCDF"/>
                </a:solidFill>
                <a:latin typeface="Arial"/>
                <a:ea typeface="Arial"/>
                <a:cs typeface="Arial"/>
              </a:defRPr>
            </a:defPPr>
            <a:lvl1pPr algn="l">
              <a:defRPr sz="1500" b="0">
                <a:solidFill>
                  <a:srgbClr val="B8CCDF"/>
                </a:solidFill>
                <a:latin typeface="Arial"/>
                <a:ea typeface="Arial"/>
                <a:cs typeface="Arial"/>
              </a:defRPr>
            </a:lvl1pPr>
            <a:lvl2pPr algn="l">
              <a:defRPr sz="1500" b="0">
                <a:solidFill>
                  <a:srgbClr val="B8CCDF"/>
                </a:solidFill>
                <a:latin typeface="Arial"/>
                <a:ea typeface="Arial"/>
                <a:cs typeface="Arial"/>
              </a:defRPr>
            </a:lvl2pPr>
            <a:lvl3pPr algn="l">
              <a:defRPr sz="1500" b="0">
                <a:solidFill>
                  <a:srgbClr val="B8CCDF"/>
                </a:solidFill>
                <a:latin typeface="Arial"/>
                <a:ea typeface="Arial"/>
                <a:cs typeface="Arial"/>
              </a:defRPr>
            </a:lvl3pPr>
            <a:lvl4pPr algn="l">
              <a:defRPr sz="1500" b="0">
                <a:solidFill>
                  <a:srgbClr val="B8CCDF"/>
                </a:solidFill>
                <a:latin typeface="Arial"/>
                <a:ea typeface="Arial"/>
                <a:cs typeface="Arial"/>
              </a:defRPr>
            </a:lvl4pPr>
            <a:lvl5pPr algn="l">
              <a:defRPr sz="1500" b="0">
                <a:solidFill>
                  <a:srgbClr val="B8CCDF"/>
                </a:solidFill>
                <a:latin typeface="Arial"/>
                <a:ea typeface="Arial"/>
                <a:cs typeface="Arial"/>
              </a:defRPr>
            </a:lvl5pPr>
            <a:lvl6pPr algn="l">
              <a:defRPr sz="1500" b="0">
                <a:solidFill>
                  <a:srgbClr val="B8CCDF"/>
                </a:solidFill>
                <a:latin typeface="Arial"/>
                <a:ea typeface="Arial"/>
                <a:cs typeface="Arial"/>
              </a:defRPr>
            </a:lvl6pPr>
            <a:lvl7pPr algn="l">
              <a:defRPr sz="1500" b="0">
                <a:solidFill>
                  <a:srgbClr val="B8CCDF"/>
                </a:solidFill>
                <a:latin typeface="Arial"/>
                <a:ea typeface="Arial"/>
                <a:cs typeface="Arial"/>
              </a:defRPr>
            </a:lvl7pPr>
            <a:lvl8pPr algn="l">
              <a:defRPr sz="1500" b="0">
                <a:solidFill>
                  <a:srgbClr val="B8CCDF"/>
                </a:solidFill>
                <a:latin typeface="Arial"/>
                <a:ea typeface="Arial"/>
                <a:cs typeface="Arial"/>
              </a:defRPr>
            </a:lvl8pPr>
            <a:lvl9pPr algn="l">
              <a:defRPr sz="1500" b="0">
                <a:solidFill>
                  <a:srgbClr val="B8CCDF"/>
                </a:solidFill>
                <a:latin typeface="Arial"/>
                <a:ea typeface="Arial"/>
                <a:cs typeface="Arial"/>
              </a:defRPr>
            </a:lvl9pPr>
          </a:lstStyle>
          <a:p xmlns:a="http://schemas.openxmlformats.org/drawingml/2006/main">
            <a:pPr algn="l">
              <a:defRPr sz="1500" b="0">
                <a:solidFill>
                  <a:srgbClr val="B8CCDF"/>
                </a:solidFill>
                <a:latin typeface="Arial"/>
                <a:ea typeface="Arial"/>
                <a:cs typeface="Arial"/>
              </a:defRPr>
            </a:pPr>
            <a:r>
              <a:rPr sz="1500" b="0">
                <a:solidFill>
                  <a:srgbClr val="B8CCDF"/>
                </a:solidFill>
                <a:latin typeface="Arial"/>
                <a:ea typeface="Arial"/>
                <a:cs typeface="Arial"/>
              </a:rPr>
              <a:t>Учебная модель рынка. Полевые интервью ещё предстоят.</a:t>
            </a:r>
          </a:p>
        </p:txBody>
      </p:sp>
    </p:spTree>
    <p:extLst>
      <p:ext uri="{BB962C8B-B14F-4D97-AF65-F5344CB8AC3E}">
        <p14:creationId xmlns:p14="http://schemas.microsoft.com/office/powerpoint/2010/main" val="14124942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Первый клиент: небольшой магазин Алматы">
            <a:extLst xmlns:a="http://schemas.openxmlformats.org/drawingml/2006/main">
              <a:ext uri="{FF2B5EF4-FFF2-40B4-BE49-F238E27FC236}">
                <a16:creationId xmlns:a16="http://schemas.microsoft.com/office/drawing/2014/main" id="{39558F07-D6C6-4AA1-9943-ED8679B73F1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Первый клиент: небольшой магазин Алматы</a:t>
            </a:r>
          </a:p>
        </p:txBody>
      </p:sp>
      <p:sp>
        <p:nvSpPr>
          <p:cNvPr id="2" name="Рабочая гипотеза для B2B-пилота">
            <a:extLst xmlns:a="http://schemas.openxmlformats.org/drawingml/2006/main">
              <a:ext uri="{FF2B5EF4-FFF2-40B4-BE49-F238E27FC236}">
                <a16:creationId xmlns:a16="http://schemas.microsoft.com/office/drawing/2014/main" id="{EFC33852-E9DD-48FB-95EC-FAC6D1237D92}"/>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Рабочая гипотеза для B2B-пилота</a:t>
            </a:r>
          </a:p>
        </p:txBody>
      </p:sp>
      <p:sp>
        <p:nvSpPr>
          <p:cNvPr id="3" name="Qadam Delivery">
            <a:extLst xmlns:a="http://schemas.openxmlformats.org/drawingml/2006/main">
              <a:ext uri="{FF2B5EF4-FFF2-40B4-BE49-F238E27FC236}">
                <a16:creationId xmlns:a16="http://schemas.microsoft.com/office/drawing/2014/main" id="{64987EB3-AA9F-4215-A223-5D02C1FFF73B}"/>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2">
            <a:extLst xmlns:a="http://schemas.openxmlformats.org/drawingml/2006/main">
              <a:ext uri="{FF2B5EF4-FFF2-40B4-BE49-F238E27FC236}">
                <a16:creationId xmlns:a16="http://schemas.microsoft.com/office/drawing/2014/main" id="{E14DA740-1ABA-4A25-BB89-9B1BD02C3A0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02</a:t>
            </a:r>
          </a:p>
        </p:txBody>
      </p:sp>
      <p:sp>
        <p:nvSpPr>
          <p:cNvPr id="5" name="Кто принимает решение">
            <a:extLst xmlns:a="http://schemas.openxmlformats.org/drawingml/2006/main">
              <a:ext uri="{FF2B5EF4-FFF2-40B4-BE49-F238E27FC236}">
                <a16:creationId xmlns:a16="http://schemas.microsoft.com/office/drawing/2014/main" id="{E1AE54B6-87BF-4EA3-A49E-FAFD80DED2FB}"/>
              </a:ext>
            </a:extLst>
          </p:cNvPr>
          <p:cNvSpPr>
            <a:spLocks xmlns:a="http://schemas.openxmlformats.org/drawingml/2006/main" noGrp="1"/>
          </p:cNvSpPr>
          <p:nvPr/>
        </p:nvSpPr>
        <p:spPr>
          <a:xfrm xmlns:a="http://schemas.openxmlformats.org/drawingml/2006/main">
            <a:off x="609600" y="22098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Кто принимает решение</a:t>
            </a:r>
          </a:p>
        </p:txBody>
      </p:sp>
      <p:sp>
        <p:nvSpPr>
          <p:cNvPr id="6" name="Владелец или администратор магазина,&#10;который организует доставку ">
            <a:extLst xmlns:a="http://schemas.openxmlformats.org/drawingml/2006/main">
              <a:ext uri="{FF2B5EF4-FFF2-40B4-BE49-F238E27FC236}">
                <a16:creationId xmlns:a16="http://schemas.microsoft.com/office/drawing/2014/main" id="{1E7C1CEC-4D63-4616-A179-6428A4644E0F}"/>
              </a:ext>
            </a:extLst>
          </p:cNvPr>
          <p:cNvSpPr>
            <a:spLocks xmlns:a="http://schemas.openxmlformats.org/drawingml/2006/main" noGrp="1"/>
          </p:cNvSpPr>
          <p:nvPr/>
        </p:nvSpPr>
        <p:spPr>
          <a:xfrm xmlns:a="http://schemas.openxmlformats.org/drawingml/2006/main">
            <a:off x="609600" y="26479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Владелец или администратор магазина,</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который организует доставку покупателю.</a:t>
            </a:r>
          </a:p>
        </p:txBody>
      </p:sp>
      <p:sp>
        <p:nvSpPr>
          <p:cNvPr id="7" name="Первый сегмент">
            <a:extLst xmlns:a="http://schemas.openxmlformats.org/drawingml/2006/main">
              <a:ext uri="{FF2B5EF4-FFF2-40B4-BE49-F238E27FC236}">
                <a16:creationId xmlns:a16="http://schemas.microsoft.com/office/drawing/2014/main" id="{3E1921F2-19FF-48EB-BE1E-13232D2439E3}"/>
              </a:ext>
            </a:extLst>
          </p:cNvPr>
          <p:cNvSpPr>
            <a:spLocks xmlns:a="http://schemas.openxmlformats.org/drawingml/2006/main" noGrp="1"/>
          </p:cNvSpPr>
          <p:nvPr/>
        </p:nvSpPr>
        <p:spPr>
          <a:xfrm xmlns:a="http://schemas.openxmlformats.org/drawingml/2006/main">
            <a:off x="609600" y="37433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Первый сегмент</a:t>
            </a:r>
          </a:p>
        </p:txBody>
      </p:sp>
      <p:sp>
        <p:nvSpPr>
          <p:cNvPr id="8" name="Цветочные и подарочные магазины,&#10;небольшие продавцы через социаль">
            <a:extLst xmlns:a="http://schemas.openxmlformats.org/drawingml/2006/main">
              <a:ext uri="{FF2B5EF4-FFF2-40B4-BE49-F238E27FC236}">
                <a16:creationId xmlns:a16="http://schemas.microsoft.com/office/drawing/2014/main" id="{E24E19EA-8AFA-4E04-9AAA-6516BF9937C9}"/>
              </a:ext>
            </a:extLst>
          </p:cNvPr>
          <p:cNvSpPr>
            <a:spLocks xmlns:a="http://schemas.openxmlformats.org/drawingml/2006/main" noGrp="1"/>
          </p:cNvSpPr>
          <p:nvPr/>
        </p:nvSpPr>
        <p:spPr>
          <a:xfrm xmlns:a="http://schemas.openxmlformats.org/drawingml/2006/main">
            <a:off x="609600" y="4181475"/>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Цветочные и подарочные магазины,</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небольшие продавцы через социальные сети.</a:t>
            </a:r>
          </a:p>
        </p:txBody>
      </p:sp>
      <p:sp>
        <p:nvSpPr>
          <p:cNvPr id="9" name="6,7">
            <a:extLst xmlns:a="http://schemas.openxmlformats.org/drawingml/2006/main">
              <a:ext uri="{FF2B5EF4-FFF2-40B4-BE49-F238E27FC236}">
                <a16:creationId xmlns:a16="http://schemas.microsoft.com/office/drawing/2014/main" id="{0E92D4BF-950E-4A5B-BD94-261C363F9DE4}"/>
              </a:ext>
            </a:extLst>
          </p:cNvPr>
          <p:cNvSpPr>
            <a:spLocks xmlns:a="http://schemas.openxmlformats.org/drawingml/2006/main" noGrp="1"/>
          </p:cNvSpPr>
          <p:nvPr/>
        </p:nvSpPr>
        <p:spPr>
          <a:xfrm xmlns:a="http://schemas.openxmlformats.org/drawingml/2006/main">
            <a:off x="7781925" y="215265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00" b="1">
                <a:solidFill>
                  <a:srgbClr val="2855DF"/>
                </a:solidFill>
                <a:latin typeface="Arial"/>
                <a:ea typeface="Arial"/>
                <a:cs typeface="Arial"/>
              </a:defRPr>
            </a:defPPr>
            <a:lvl1pPr algn="l">
              <a:defRPr sz="7800" b="1">
                <a:solidFill>
                  <a:srgbClr val="2855DF"/>
                </a:solidFill>
                <a:latin typeface="Arial"/>
                <a:ea typeface="Arial"/>
                <a:cs typeface="Arial"/>
              </a:defRPr>
            </a:lvl1pPr>
            <a:lvl2pPr algn="l">
              <a:defRPr sz="7800" b="1">
                <a:solidFill>
                  <a:srgbClr val="2855DF"/>
                </a:solidFill>
                <a:latin typeface="Arial"/>
                <a:ea typeface="Arial"/>
                <a:cs typeface="Arial"/>
              </a:defRPr>
            </a:lvl2pPr>
            <a:lvl3pPr algn="l">
              <a:defRPr sz="7800" b="1">
                <a:solidFill>
                  <a:srgbClr val="2855DF"/>
                </a:solidFill>
                <a:latin typeface="Arial"/>
                <a:ea typeface="Arial"/>
                <a:cs typeface="Arial"/>
              </a:defRPr>
            </a:lvl3pPr>
            <a:lvl4pPr algn="l">
              <a:defRPr sz="7800" b="1">
                <a:solidFill>
                  <a:srgbClr val="2855DF"/>
                </a:solidFill>
                <a:latin typeface="Arial"/>
                <a:ea typeface="Arial"/>
                <a:cs typeface="Arial"/>
              </a:defRPr>
            </a:lvl4pPr>
            <a:lvl5pPr algn="l">
              <a:defRPr sz="7800" b="1">
                <a:solidFill>
                  <a:srgbClr val="2855DF"/>
                </a:solidFill>
                <a:latin typeface="Arial"/>
                <a:ea typeface="Arial"/>
                <a:cs typeface="Arial"/>
              </a:defRPr>
            </a:lvl5pPr>
            <a:lvl6pPr algn="l">
              <a:defRPr sz="7800" b="1">
                <a:solidFill>
                  <a:srgbClr val="2855DF"/>
                </a:solidFill>
                <a:latin typeface="Arial"/>
                <a:ea typeface="Arial"/>
                <a:cs typeface="Arial"/>
              </a:defRPr>
            </a:lvl6pPr>
            <a:lvl7pPr algn="l">
              <a:defRPr sz="7800" b="1">
                <a:solidFill>
                  <a:srgbClr val="2855DF"/>
                </a:solidFill>
                <a:latin typeface="Arial"/>
                <a:ea typeface="Arial"/>
                <a:cs typeface="Arial"/>
              </a:defRPr>
            </a:lvl7pPr>
            <a:lvl8pPr algn="l">
              <a:defRPr sz="7800" b="1">
                <a:solidFill>
                  <a:srgbClr val="2855DF"/>
                </a:solidFill>
                <a:latin typeface="Arial"/>
                <a:ea typeface="Arial"/>
                <a:cs typeface="Arial"/>
              </a:defRPr>
            </a:lvl8pPr>
            <a:lvl9pPr algn="l">
              <a:defRPr sz="7800" b="1">
                <a:solidFill>
                  <a:srgbClr val="2855DF"/>
                </a:solidFill>
                <a:latin typeface="Arial"/>
                <a:ea typeface="Arial"/>
                <a:cs typeface="Arial"/>
              </a:defRPr>
            </a:lvl9pPr>
          </a:lstStyle>
          <a:p xmlns:a="http://schemas.openxmlformats.org/drawingml/2006/main">
            <a:pPr algn="l">
              <a:defRPr sz="7800" b="1">
                <a:solidFill>
                  <a:srgbClr val="2855DF"/>
                </a:solidFill>
                <a:latin typeface="Arial"/>
                <a:ea typeface="Arial"/>
                <a:cs typeface="Arial"/>
              </a:defRPr>
            </a:pPr>
            <a:r>
              <a:rPr sz="7800" b="1">
                <a:solidFill>
                  <a:srgbClr val="2855DF"/>
                </a:solidFill>
                <a:latin typeface="Arial"/>
                <a:ea typeface="Arial"/>
                <a:cs typeface="Arial"/>
              </a:rPr>
              <a:t>6,7</a:t>
            </a:r>
          </a:p>
        </p:txBody>
      </p:sp>
      <p:sp>
        <p:nvSpPr>
          <p:cNvPr id="10" name="часа координации в месяц">
            <a:extLst xmlns:a="http://schemas.openxmlformats.org/drawingml/2006/main">
              <a:ext uri="{FF2B5EF4-FFF2-40B4-BE49-F238E27FC236}">
                <a16:creationId xmlns:a16="http://schemas.microsoft.com/office/drawing/2014/main" id="{4D854AD7-1E99-4402-A078-786EFC35143F}"/>
              </a:ext>
            </a:extLst>
          </p:cNvPr>
          <p:cNvSpPr>
            <a:spLocks xmlns:a="http://schemas.openxmlformats.org/drawingml/2006/main" noGrp="1"/>
          </p:cNvSpPr>
          <p:nvPr/>
        </p:nvSpPr>
        <p:spPr>
          <a:xfrm xmlns:a="http://schemas.openxmlformats.org/drawingml/2006/main">
            <a:off x="7620000" y="350520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часа координации в месяц</a:t>
            </a:r>
          </a:p>
        </p:txBody>
      </p:sp>
      <p:sp>
        <p:nvSpPr>
          <p:cNvPr id="11" name="40 доставок × 10 минут ÷ 60">
            <a:extLst xmlns:a="http://schemas.openxmlformats.org/drawingml/2006/main">
              <a:ext uri="{FF2B5EF4-FFF2-40B4-BE49-F238E27FC236}">
                <a16:creationId xmlns:a16="http://schemas.microsoft.com/office/drawing/2014/main" id="{BD92EDAA-A480-4B77-8B16-AB6117BE9DD7}"/>
              </a:ext>
            </a:extLst>
          </p:cNvPr>
          <p:cNvSpPr>
            <a:spLocks xmlns:a="http://schemas.openxmlformats.org/drawingml/2006/main" noGrp="1"/>
          </p:cNvSpPr>
          <p:nvPr/>
        </p:nvSpPr>
        <p:spPr>
          <a:xfrm xmlns:a="http://schemas.openxmlformats.org/drawingml/2006/main">
            <a:off x="7620000" y="43434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40 доставок × 10 минут ÷ 60</a:t>
            </a:r>
          </a:p>
        </p:txBody>
      </p:sp>
      <p:sp>
        <p:nvSpPr>
          <p:cNvPr id="12" name="Допущение: время уходит на поиск курьера, передачу адреса и уточн">
            <a:extLst xmlns:a="http://schemas.openxmlformats.org/drawingml/2006/main">
              <a:ext uri="{FF2B5EF4-FFF2-40B4-BE49-F238E27FC236}">
                <a16:creationId xmlns:a16="http://schemas.microsoft.com/office/drawing/2014/main" id="{75210FCA-7339-4873-896C-1BF872CD633F}"/>
              </a:ext>
            </a:extLst>
          </p:cNvPr>
          <p:cNvSpPr>
            <a:spLocks xmlns:a="http://schemas.openxmlformats.org/drawingml/2006/main" noGrp="1"/>
          </p:cNvSpPr>
          <p:nvPr/>
        </p:nvSpPr>
        <p:spPr>
          <a:xfrm xmlns:a="http://schemas.openxmlformats.org/drawingml/2006/main">
            <a:off x="609600" y="54673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65A12"/>
                </a:solidFill>
                <a:latin typeface="Arial"/>
                <a:ea typeface="Arial"/>
                <a:cs typeface="Arial"/>
              </a:defRPr>
            </a:defPPr>
            <a:lvl1pPr algn="l">
              <a:defRPr sz="1725" b="0">
                <a:solidFill>
                  <a:srgbClr val="965A12"/>
                </a:solidFill>
                <a:latin typeface="Arial"/>
                <a:ea typeface="Arial"/>
                <a:cs typeface="Arial"/>
              </a:defRPr>
            </a:lvl1pPr>
            <a:lvl2pPr algn="l">
              <a:defRPr sz="1725" b="0">
                <a:solidFill>
                  <a:srgbClr val="965A12"/>
                </a:solidFill>
                <a:latin typeface="Arial"/>
                <a:ea typeface="Arial"/>
                <a:cs typeface="Arial"/>
              </a:defRPr>
            </a:lvl2pPr>
            <a:lvl3pPr algn="l">
              <a:defRPr sz="1725" b="0">
                <a:solidFill>
                  <a:srgbClr val="965A12"/>
                </a:solidFill>
                <a:latin typeface="Arial"/>
                <a:ea typeface="Arial"/>
                <a:cs typeface="Arial"/>
              </a:defRPr>
            </a:lvl3pPr>
            <a:lvl4pPr algn="l">
              <a:defRPr sz="1725" b="0">
                <a:solidFill>
                  <a:srgbClr val="965A12"/>
                </a:solidFill>
                <a:latin typeface="Arial"/>
                <a:ea typeface="Arial"/>
                <a:cs typeface="Arial"/>
              </a:defRPr>
            </a:lvl4pPr>
            <a:lvl5pPr algn="l">
              <a:defRPr sz="1725" b="0">
                <a:solidFill>
                  <a:srgbClr val="965A12"/>
                </a:solidFill>
                <a:latin typeface="Arial"/>
                <a:ea typeface="Arial"/>
                <a:cs typeface="Arial"/>
              </a:defRPr>
            </a:lvl5pPr>
            <a:lvl6pPr algn="l">
              <a:defRPr sz="1725" b="0">
                <a:solidFill>
                  <a:srgbClr val="965A12"/>
                </a:solidFill>
                <a:latin typeface="Arial"/>
                <a:ea typeface="Arial"/>
                <a:cs typeface="Arial"/>
              </a:defRPr>
            </a:lvl6pPr>
            <a:lvl7pPr algn="l">
              <a:defRPr sz="1725" b="0">
                <a:solidFill>
                  <a:srgbClr val="965A12"/>
                </a:solidFill>
                <a:latin typeface="Arial"/>
                <a:ea typeface="Arial"/>
                <a:cs typeface="Arial"/>
              </a:defRPr>
            </a:lvl7pPr>
            <a:lvl8pPr algn="l">
              <a:defRPr sz="1725" b="0">
                <a:solidFill>
                  <a:srgbClr val="965A12"/>
                </a:solidFill>
                <a:latin typeface="Arial"/>
                <a:ea typeface="Arial"/>
                <a:cs typeface="Arial"/>
              </a:defRPr>
            </a:lvl8pPr>
            <a:lvl9pPr algn="l">
              <a:defRPr sz="1725" b="0">
                <a:solidFill>
                  <a:srgbClr val="965A12"/>
                </a:solidFill>
                <a:latin typeface="Arial"/>
                <a:ea typeface="Arial"/>
                <a:cs typeface="Arial"/>
              </a:defRPr>
            </a:lvl9pPr>
          </a:lstStyle>
          <a:p xmlns:a="http://schemas.openxmlformats.org/drawingml/2006/main">
            <a:pPr algn="l">
              <a:defRPr sz="1725" b="0">
                <a:solidFill>
                  <a:srgbClr val="965A12"/>
                </a:solidFill>
                <a:latin typeface="Arial"/>
                <a:ea typeface="Arial"/>
                <a:cs typeface="Arial"/>
              </a:defRPr>
            </a:pPr>
            <a:r>
              <a:rPr sz="1725" b="0">
                <a:solidFill>
                  <a:srgbClr val="965A12"/>
                </a:solidFill>
                <a:latin typeface="Arial"/>
                <a:ea typeface="Arial"/>
                <a:cs typeface="Arial"/>
              </a:rPr>
              <a:t>Допущение: время уходит на поиск курьера, передачу адреса и уточнение статуса.</a:t>
            </a:r>
          </a:p>
        </p:txBody>
      </p:sp>
    </p:spTree>
    <p:extLst>
      <p:ext uri="{BB962C8B-B14F-4D97-AF65-F5344CB8AC3E}">
        <p14:creationId xmlns:p14="http://schemas.microsoft.com/office/powerpoint/2010/main" val="397694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Интервью по The Mom Test">
            <a:extLst xmlns:a="http://schemas.openxmlformats.org/drawingml/2006/main">
              <a:ext uri="{FF2B5EF4-FFF2-40B4-BE49-F238E27FC236}">
                <a16:creationId xmlns:a16="http://schemas.microsoft.com/office/drawing/2014/main" id="{CDE17172-1AAF-4A7A-975D-22F90C08479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Интервью по The Mom Test</a:t>
            </a:r>
          </a:p>
        </p:txBody>
      </p:sp>
      <p:sp>
        <p:nvSpPr>
          <p:cNvPr id="2" name="План исследования: конкретный прошлый опыт и текущие расходы">
            <a:extLst xmlns:a="http://schemas.openxmlformats.org/drawingml/2006/main">
              <a:ext uri="{FF2B5EF4-FFF2-40B4-BE49-F238E27FC236}">
                <a16:creationId xmlns:a16="http://schemas.microsoft.com/office/drawing/2014/main" id="{E0FBE7F4-52FA-4940-B224-C421BA632B61}"/>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План исследования: конкретный прошлый опыт и текущие расходы</a:t>
            </a:r>
          </a:p>
        </p:txBody>
      </p:sp>
      <p:sp>
        <p:nvSpPr>
          <p:cNvPr id="3" name="Qadam Delivery">
            <a:extLst xmlns:a="http://schemas.openxmlformats.org/drawingml/2006/main">
              <a:ext uri="{FF2B5EF4-FFF2-40B4-BE49-F238E27FC236}">
                <a16:creationId xmlns:a16="http://schemas.microsoft.com/office/drawing/2014/main" id="{FECE1472-4D47-4F5E-9CE8-8F735D88913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3">
            <a:extLst xmlns:a="http://schemas.openxmlformats.org/drawingml/2006/main">
              <a:ext uri="{FF2B5EF4-FFF2-40B4-BE49-F238E27FC236}">
                <a16:creationId xmlns:a16="http://schemas.microsoft.com/office/drawing/2014/main" id="{5558BAF3-F369-402F-96D2-0B69ADCC6FF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03</a:t>
            </a:r>
          </a:p>
        </p:txBody>
      </p:sp>
      <p:sp>
        <p:nvSpPr>
          <p:cNvPr id="5" name="12">
            <a:extLst xmlns:a="http://schemas.openxmlformats.org/drawingml/2006/main">
              <a:ext uri="{FF2B5EF4-FFF2-40B4-BE49-F238E27FC236}">
                <a16:creationId xmlns:a16="http://schemas.microsoft.com/office/drawing/2014/main" id="{6595C916-3ADE-4FEB-BA4F-7410788D6879}"/>
              </a:ext>
            </a:extLst>
          </p:cNvPr>
          <p:cNvSpPr>
            <a:spLocks xmlns:a="http://schemas.openxmlformats.org/drawingml/2006/main" noGrp="1"/>
          </p:cNvSpPr>
          <p:nvPr/>
        </p:nvSpPr>
        <p:spPr>
          <a:xfrm xmlns:a="http://schemas.openxmlformats.org/drawingml/2006/main">
            <a:off x="609600" y="2190750"/>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855DF"/>
                </a:solidFill>
                <a:latin typeface="Arial"/>
                <a:ea typeface="Arial"/>
                <a:cs typeface="Arial"/>
              </a:defRPr>
            </a:defPPr>
            <a:lvl1pPr algn="l">
              <a:defRPr sz="6300" b="1">
                <a:solidFill>
                  <a:srgbClr val="2855DF"/>
                </a:solidFill>
                <a:latin typeface="Arial"/>
                <a:ea typeface="Arial"/>
                <a:cs typeface="Arial"/>
              </a:defRPr>
            </a:lvl1pPr>
            <a:lvl2pPr algn="l">
              <a:defRPr sz="6300" b="1">
                <a:solidFill>
                  <a:srgbClr val="2855DF"/>
                </a:solidFill>
                <a:latin typeface="Arial"/>
                <a:ea typeface="Arial"/>
                <a:cs typeface="Arial"/>
              </a:defRPr>
            </a:lvl2pPr>
            <a:lvl3pPr algn="l">
              <a:defRPr sz="6300" b="1">
                <a:solidFill>
                  <a:srgbClr val="2855DF"/>
                </a:solidFill>
                <a:latin typeface="Arial"/>
                <a:ea typeface="Arial"/>
                <a:cs typeface="Arial"/>
              </a:defRPr>
            </a:lvl3pPr>
            <a:lvl4pPr algn="l">
              <a:defRPr sz="6300" b="1">
                <a:solidFill>
                  <a:srgbClr val="2855DF"/>
                </a:solidFill>
                <a:latin typeface="Arial"/>
                <a:ea typeface="Arial"/>
                <a:cs typeface="Arial"/>
              </a:defRPr>
            </a:lvl4pPr>
            <a:lvl5pPr algn="l">
              <a:defRPr sz="6300" b="1">
                <a:solidFill>
                  <a:srgbClr val="2855DF"/>
                </a:solidFill>
                <a:latin typeface="Arial"/>
                <a:ea typeface="Arial"/>
                <a:cs typeface="Arial"/>
              </a:defRPr>
            </a:lvl5pPr>
            <a:lvl6pPr algn="l">
              <a:defRPr sz="6300" b="1">
                <a:solidFill>
                  <a:srgbClr val="2855DF"/>
                </a:solidFill>
                <a:latin typeface="Arial"/>
                <a:ea typeface="Arial"/>
                <a:cs typeface="Arial"/>
              </a:defRPr>
            </a:lvl6pPr>
            <a:lvl7pPr algn="l">
              <a:defRPr sz="6300" b="1">
                <a:solidFill>
                  <a:srgbClr val="2855DF"/>
                </a:solidFill>
                <a:latin typeface="Arial"/>
                <a:ea typeface="Arial"/>
                <a:cs typeface="Arial"/>
              </a:defRPr>
            </a:lvl7pPr>
            <a:lvl8pPr algn="l">
              <a:defRPr sz="6300" b="1">
                <a:solidFill>
                  <a:srgbClr val="2855DF"/>
                </a:solidFill>
                <a:latin typeface="Arial"/>
                <a:ea typeface="Arial"/>
                <a:cs typeface="Arial"/>
              </a:defRPr>
            </a:lvl8pPr>
            <a:lvl9pPr algn="l">
              <a:defRPr sz="6300" b="1">
                <a:solidFill>
                  <a:srgbClr val="2855DF"/>
                </a:solidFill>
                <a:latin typeface="Arial"/>
                <a:ea typeface="Arial"/>
                <a:cs typeface="Arial"/>
              </a:defRPr>
            </a:lvl9pPr>
          </a:lstStyle>
          <a:p xmlns:a="http://schemas.openxmlformats.org/drawingml/2006/main">
            <a:pPr algn="l">
              <a:defRPr sz="6300" b="1">
                <a:solidFill>
                  <a:srgbClr val="2855DF"/>
                </a:solidFill>
                <a:latin typeface="Arial"/>
                <a:ea typeface="Arial"/>
                <a:cs typeface="Arial"/>
              </a:defRPr>
            </a:pPr>
            <a:r>
              <a:rPr sz="6300" b="1">
                <a:solidFill>
                  <a:srgbClr val="2855DF"/>
                </a:solidFill>
                <a:latin typeface="Arial"/>
                <a:ea typeface="Arial"/>
                <a:cs typeface="Arial"/>
              </a:rPr>
              <a:t>12</a:t>
            </a:r>
          </a:p>
        </p:txBody>
      </p:sp>
      <p:sp>
        <p:nvSpPr>
          <p:cNvPr id="6" name="интервью с бизнесами">
            <a:extLst xmlns:a="http://schemas.openxmlformats.org/drawingml/2006/main">
              <a:ext uri="{FF2B5EF4-FFF2-40B4-BE49-F238E27FC236}">
                <a16:creationId xmlns:a16="http://schemas.microsoft.com/office/drawing/2014/main" id="{F864664B-9F4D-4BEF-9FAB-849CB1224EFD}"/>
              </a:ext>
            </a:extLst>
          </p:cNvPr>
          <p:cNvSpPr>
            <a:spLocks xmlns:a="http://schemas.openxmlformats.org/drawingml/2006/main" noGrp="1"/>
          </p:cNvSpPr>
          <p:nvPr/>
        </p:nvSpPr>
        <p:spPr>
          <a:xfrm xmlns:a="http://schemas.openxmlformats.org/drawingml/2006/main">
            <a:off x="609600" y="32575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интервью с бизнесами</a:t>
            </a:r>
          </a:p>
        </p:txBody>
      </p:sp>
      <p:sp>
        <p:nvSpPr>
          <p:cNvPr id="7" name="По 4 из каждого сегмента:&#10;цветы, подарки, онлайн-магазины.">
            <a:extLst xmlns:a="http://schemas.openxmlformats.org/drawingml/2006/main">
              <a:ext uri="{FF2B5EF4-FFF2-40B4-BE49-F238E27FC236}">
                <a16:creationId xmlns:a16="http://schemas.microsoft.com/office/drawing/2014/main" id="{29567367-7E3E-481A-BEA6-CB2BE567F215}"/>
              </a:ext>
            </a:extLst>
          </p:cNvPr>
          <p:cNvSpPr>
            <a:spLocks xmlns:a="http://schemas.openxmlformats.org/drawingml/2006/main" noGrp="1"/>
          </p:cNvSpPr>
          <p:nvPr/>
        </p:nvSpPr>
        <p:spPr>
          <a:xfrm xmlns:a="http://schemas.openxmlformats.org/drawingml/2006/main">
            <a:off x="609600" y="378142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По 4 из каждого сегмента:</a:t>
            </a:r>
          </a:p>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цветы, подарки, онлайн-магазины.</a:t>
            </a:r>
          </a:p>
        </p:txBody>
      </p:sp>
      <p:sp>
        <p:nvSpPr>
          <p:cNvPr id="8" name="4 интервью с курьерами">
            <a:extLst xmlns:a="http://schemas.openxmlformats.org/drawingml/2006/main">
              <a:ext uri="{FF2B5EF4-FFF2-40B4-BE49-F238E27FC236}">
                <a16:creationId xmlns:a16="http://schemas.microsoft.com/office/drawing/2014/main" id="{CD3CEB79-0154-4097-9AF9-9D5844C006C3}"/>
              </a:ext>
            </a:extLst>
          </p:cNvPr>
          <p:cNvSpPr>
            <a:spLocks xmlns:a="http://schemas.openxmlformats.org/drawingml/2006/main" noGrp="1"/>
          </p:cNvSpPr>
          <p:nvPr/>
        </p:nvSpPr>
        <p:spPr>
          <a:xfrm xmlns:a="http://schemas.openxmlformats.org/drawingml/2006/main">
            <a:off x="609600" y="5105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4 интервью с курьерами</a:t>
            </a:r>
          </a:p>
        </p:txBody>
      </p:sp>
      <p:sp>
        <p:nvSpPr>
          <p:cNvPr id="9" name="Доход, простой и условия работы">
            <a:extLst xmlns:a="http://schemas.openxmlformats.org/drawingml/2006/main">
              <a:ext uri="{FF2B5EF4-FFF2-40B4-BE49-F238E27FC236}">
                <a16:creationId xmlns:a16="http://schemas.microsoft.com/office/drawing/2014/main" id="{84720F44-6183-4EAC-A348-33C961E35DB9}"/>
              </a:ext>
            </a:extLst>
          </p:cNvPr>
          <p:cNvSpPr>
            <a:spLocks xmlns:a="http://schemas.openxmlformats.org/drawingml/2006/main" noGrp="1"/>
          </p:cNvSpPr>
          <p:nvPr/>
        </p:nvSpPr>
        <p:spPr>
          <a:xfrm xmlns:a="http://schemas.openxmlformats.org/drawingml/2006/main">
            <a:off x="609600" y="5562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Доход, простой и условия работы</a:t>
            </a:r>
          </a:p>
        </p:txBody>
      </p:sp>
      <p:sp>
        <p:nvSpPr>
          <p:cNvPr id="10" name="01">
            <a:extLst xmlns:a="http://schemas.openxmlformats.org/drawingml/2006/main">
              <a:ext uri="{FF2B5EF4-FFF2-40B4-BE49-F238E27FC236}">
                <a16:creationId xmlns:a16="http://schemas.microsoft.com/office/drawing/2014/main" id="{20880F43-D651-4420-B31C-524504024E6C}"/>
              </a:ext>
            </a:extLst>
          </p:cNvPr>
          <p:cNvSpPr>
            <a:spLocks xmlns:a="http://schemas.openxmlformats.org/drawingml/2006/main" noGrp="1"/>
          </p:cNvSpPr>
          <p:nvPr/>
        </p:nvSpPr>
        <p:spPr>
          <a:xfrm xmlns:a="http://schemas.openxmlformats.org/drawingml/2006/main">
            <a:off x="5410200" y="22098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01</a:t>
            </a:r>
          </a:p>
        </p:txBody>
      </p:sp>
      <p:sp>
        <p:nvSpPr>
          <p:cNvPr id="11" name="Как прошла ваша последняя доставка?">
            <a:extLst xmlns:a="http://schemas.openxmlformats.org/drawingml/2006/main">
              <a:ext uri="{FF2B5EF4-FFF2-40B4-BE49-F238E27FC236}">
                <a16:creationId xmlns:a16="http://schemas.microsoft.com/office/drawing/2014/main" id="{BF19C1F4-2034-4187-BC87-89BC31539762}"/>
              </a:ext>
            </a:extLst>
          </p:cNvPr>
          <p:cNvSpPr>
            <a:spLocks xmlns:a="http://schemas.openxmlformats.org/drawingml/2006/main" noGrp="1"/>
          </p:cNvSpPr>
          <p:nvPr/>
        </p:nvSpPr>
        <p:spPr>
          <a:xfrm xmlns:a="http://schemas.openxmlformats.org/drawingml/2006/main">
            <a:off x="6057900" y="22098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Как прошла ваша последняя доставка?</a:t>
            </a:r>
          </a:p>
        </p:txBody>
      </p:sp>
      <p:sp>
        <p:nvSpPr>
          <p:cNvPr id="12" name="02">
            <a:extLst xmlns:a="http://schemas.openxmlformats.org/drawingml/2006/main">
              <a:ext uri="{FF2B5EF4-FFF2-40B4-BE49-F238E27FC236}">
                <a16:creationId xmlns:a16="http://schemas.microsoft.com/office/drawing/2014/main" id="{8C75B133-1377-4A76-A0D4-57C78D939B6C}"/>
              </a:ext>
            </a:extLst>
          </p:cNvPr>
          <p:cNvSpPr>
            <a:spLocks xmlns:a="http://schemas.openxmlformats.org/drawingml/2006/main" noGrp="1"/>
          </p:cNvSpPr>
          <p:nvPr/>
        </p:nvSpPr>
        <p:spPr>
          <a:xfrm xmlns:a="http://schemas.openxmlformats.org/drawingml/2006/main">
            <a:off x="5410200" y="292417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02</a:t>
            </a:r>
          </a:p>
        </p:txBody>
      </p:sp>
      <p:sp>
        <p:nvSpPr>
          <p:cNvPr id="13" name="Сколько доставок было за 30 дней?">
            <a:extLst xmlns:a="http://schemas.openxmlformats.org/drawingml/2006/main">
              <a:ext uri="{FF2B5EF4-FFF2-40B4-BE49-F238E27FC236}">
                <a16:creationId xmlns:a16="http://schemas.microsoft.com/office/drawing/2014/main" id="{EE76685E-12CD-4113-8A81-0CA0CAFD4AD8}"/>
              </a:ext>
            </a:extLst>
          </p:cNvPr>
          <p:cNvSpPr>
            <a:spLocks xmlns:a="http://schemas.openxmlformats.org/drawingml/2006/main" noGrp="1"/>
          </p:cNvSpPr>
          <p:nvPr/>
        </p:nvSpPr>
        <p:spPr>
          <a:xfrm xmlns:a="http://schemas.openxmlformats.org/drawingml/2006/main">
            <a:off x="6057900" y="29241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Сколько доставок было за 30 дней?</a:t>
            </a:r>
          </a:p>
        </p:txBody>
      </p:sp>
      <p:sp>
        <p:nvSpPr>
          <p:cNvPr id="14" name="03">
            <a:extLst xmlns:a="http://schemas.openxmlformats.org/drawingml/2006/main">
              <a:ext uri="{FF2B5EF4-FFF2-40B4-BE49-F238E27FC236}">
                <a16:creationId xmlns:a16="http://schemas.microsoft.com/office/drawing/2014/main" id="{B705771D-65C7-42E4-B7F8-5144E94302ED}"/>
              </a:ext>
            </a:extLst>
          </p:cNvPr>
          <p:cNvSpPr>
            <a:spLocks xmlns:a="http://schemas.openxmlformats.org/drawingml/2006/main" noGrp="1"/>
          </p:cNvSpPr>
          <p:nvPr/>
        </p:nvSpPr>
        <p:spPr>
          <a:xfrm xmlns:a="http://schemas.openxmlformats.org/drawingml/2006/main">
            <a:off x="5410200" y="363855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03</a:t>
            </a:r>
          </a:p>
        </p:txBody>
      </p:sp>
      <p:sp>
        <p:nvSpPr>
          <p:cNvPr id="15" name="Как нашли курьера и сколько заплатили?">
            <a:extLst xmlns:a="http://schemas.openxmlformats.org/drawingml/2006/main">
              <a:ext uri="{FF2B5EF4-FFF2-40B4-BE49-F238E27FC236}">
                <a16:creationId xmlns:a16="http://schemas.microsoft.com/office/drawing/2014/main" id="{40CD38BA-A194-4BE5-A1FE-9B818153BE40}"/>
              </a:ext>
            </a:extLst>
          </p:cNvPr>
          <p:cNvSpPr>
            <a:spLocks xmlns:a="http://schemas.openxmlformats.org/drawingml/2006/main" noGrp="1"/>
          </p:cNvSpPr>
          <p:nvPr/>
        </p:nvSpPr>
        <p:spPr>
          <a:xfrm xmlns:a="http://schemas.openxmlformats.org/drawingml/2006/main">
            <a:off x="6057900" y="36385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Как нашли курьера и сколько заплатили?</a:t>
            </a:r>
          </a:p>
        </p:txBody>
      </p:sp>
      <p:sp>
        <p:nvSpPr>
          <p:cNvPr id="16" name="04">
            <a:extLst xmlns:a="http://schemas.openxmlformats.org/drawingml/2006/main">
              <a:ext uri="{FF2B5EF4-FFF2-40B4-BE49-F238E27FC236}">
                <a16:creationId xmlns:a16="http://schemas.microsoft.com/office/drawing/2014/main" id="{F3373676-7635-4984-9B76-F323CBC2E0A1}"/>
              </a:ext>
            </a:extLst>
          </p:cNvPr>
          <p:cNvSpPr>
            <a:spLocks xmlns:a="http://schemas.openxmlformats.org/drawingml/2006/main" noGrp="1"/>
          </p:cNvSpPr>
          <p:nvPr/>
        </p:nvSpPr>
        <p:spPr>
          <a:xfrm xmlns:a="http://schemas.openxmlformats.org/drawingml/2006/main">
            <a:off x="5410200" y="435292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04</a:t>
            </a:r>
          </a:p>
        </p:txBody>
      </p:sp>
      <p:sp>
        <p:nvSpPr>
          <p:cNvPr id="17" name="Когда был сбой и чего он вам стоил?">
            <a:extLst xmlns:a="http://schemas.openxmlformats.org/drawingml/2006/main">
              <a:ext uri="{FF2B5EF4-FFF2-40B4-BE49-F238E27FC236}">
                <a16:creationId xmlns:a16="http://schemas.microsoft.com/office/drawing/2014/main" id="{82D89ED3-55A6-423A-8387-692E63897B7E}"/>
              </a:ext>
            </a:extLst>
          </p:cNvPr>
          <p:cNvSpPr>
            <a:spLocks xmlns:a="http://schemas.openxmlformats.org/drawingml/2006/main" noGrp="1"/>
          </p:cNvSpPr>
          <p:nvPr/>
        </p:nvSpPr>
        <p:spPr>
          <a:xfrm xmlns:a="http://schemas.openxmlformats.org/drawingml/2006/main">
            <a:off x="6057900" y="43529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Когда был сбой и чего он вам стоил?</a:t>
            </a:r>
          </a:p>
        </p:txBody>
      </p:sp>
      <p:sp>
        <p:nvSpPr>
          <p:cNvPr id="18" name="05">
            <a:extLst xmlns:a="http://schemas.openxmlformats.org/drawingml/2006/main">
              <a:ext uri="{FF2B5EF4-FFF2-40B4-BE49-F238E27FC236}">
                <a16:creationId xmlns:a16="http://schemas.microsoft.com/office/drawing/2014/main" id="{EB02D5F8-B440-4E2A-AF69-47322BD3D89C}"/>
              </a:ext>
            </a:extLst>
          </p:cNvPr>
          <p:cNvSpPr>
            <a:spLocks xmlns:a="http://schemas.openxmlformats.org/drawingml/2006/main" noGrp="1"/>
          </p:cNvSpPr>
          <p:nvPr/>
        </p:nvSpPr>
        <p:spPr>
          <a:xfrm xmlns:a="http://schemas.openxmlformats.org/drawingml/2006/main">
            <a:off x="5410200" y="50673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05</a:t>
            </a:r>
          </a:p>
        </p:txBody>
      </p:sp>
      <p:sp>
        <p:nvSpPr>
          <p:cNvPr id="19" name="Какие альтернативы уже пробовали?">
            <a:extLst xmlns:a="http://schemas.openxmlformats.org/drawingml/2006/main">
              <a:ext uri="{FF2B5EF4-FFF2-40B4-BE49-F238E27FC236}">
                <a16:creationId xmlns:a16="http://schemas.microsoft.com/office/drawing/2014/main" id="{5CA2CDDB-177B-407C-AC38-332FD734A82A}"/>
              </a:ext>
            </a:extLst>
          </p:cNvPr>
          <p:cNvSpPr>
            <a:spLocks xmlns:a="http://schemas.openxmlformats.org/drawingml/2006/main" noGrp="1"/>
          </p:cNvSpPr>
          <p:nvPr/>
        </p:nvSpPr>
        <p:spPr>
          <a:xfrm xmlns:a="http://schemas.openxmlformats.org/drawingml/2006/main">
            <a:off x="6057900" y="50673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Какие альтернативы уже пробовали?</a:t>
            </a:r>
          </a:p>
        </p:txBody>
      </p:sp>
    </p:spTree>
    <p:extLst>
      <p:ext uri="{BB962C8B-B14F-4D97-AF65-F5344CB8AC3E}">
        <p14:creationId xmlns:p14="http://schemas.microsoft.com/office/powerpoint/2010/main" val="2032975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Как будем проверять спрос">
            <a:extLst xmlns:a="http://schemas.openxmlformats.org/drawingml/2006/main">
              <a:ext uri="{FF2B5EF4-FFF2-40B4-BE49-F238E27FC236}">
                <a16:creationId xmlns:a16="http://schemas.microsoft.com/office/drawing/2014/main" id="{F6F8004F-2C52-4819-91F1-E6932F25320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Как будем проверять спрос</a:t>
            </a:r>
          </a:p>
        </p:txBody>
      </p:sp>
      <p:sp>
        <p:nvSpPr>
          <p:cNvPr id="2" name="Критерии команды до начала исследования, а не полученные результа">
            <a:extLst xmlns:a="http://schemas.openxmlformats.org/drawingml/2006/main">
              <a:ext uri="{FF2B5EF4-FFF2-40B4-BE49-F238E27FC236}">
                <a16:creationId xmlns:a16="http://schemas.microsoft.com/office/drawing/2014/main" id="{1D352C79-828D-44B2-8447-448BBB425BC8}"/>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Критерии команды до начала исследования, а не полученные результаты</a:t>
            </a:r>
          </a:p>
        </p:txBody>
      </p:sp>
      <p:sp>
        <p:nvSpPr>
          <p:cNvPr id="3" name="Qadam Delivery">
            <a:extLst xmlns:a="http://schemas.openxmlformats.org/drawingml/2006/main">
              <a:ext uri="{FF2B5EF4-FFF2-40B4-BE49-F238E27FC236}">
                <a16:creationId xmlns:a16="http://schemas.microsoft.com/office/drawing/2014/main" id="{AD1C8DFE-160D-451F-AB89-562704CAC4D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4">
            <a:extLst xmlns:a="http://schemas.openxmlformats.org/drawingml/2006/main">
              <a:ext uri="{FF2B5EF4-FFF2-40B4-BE49-F238E27FC236}">
                <a16:creationId xmlns:a16="http://schemas.microsoft.com/office/drawing/2014/main" id="{F742472D-8138-47C0-8B85-06B68E6CBE0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B844540-B9ED-4831-BDA3-5F900B1BA9FE}"/>
              </a:ext>
            </a:extLst>
          </p:cNvPr>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a:tblGrid>
                <a:gridCol w="2876550"/>
                <a:gridCol w="3952875"/>
                <a:gridCol w="4143375"/>
              </a:tblGrid>
              <a:tr h="590550">
                <a:tc>
                  <a:txBody>
                    <a:bodyPr/>
                    <a:lstStyle/>
                    <a:p>
                      <a:r>
                        <a:rPr sz="1725" b="1">
                          <a:solidFill>
                            <a:srgbClr val="FFFFFF"/>
                          </a:solidFill>
                          <a:latin typeface="Arial"/>
                          <a:ea typeface="Arial"/>
                          <a:cs typeface="Arial"/>
                        </a:rPr>
                        <a:t>Гипотеза</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Какие данные нужны</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Критерий проверки</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09613">
                <a:tc>
                  <a:txBody>
                    <a:bodyPr/>
                    <a:lstStyle/>
                    <a:p>
                      <a:r>
                        <a:rPr sz="1800" b="0">
                          <a:solidFill>
                            <a:srgbClr val="143243"/>
                          </a:solidFill>
                          <a:latin typeface="Arial"/>
                          <a:ea typeface="Arial"/>
                          <a:cs typeface="Arial"/>
                        </a:rPr>
                        <a:t>Частая потребность</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Доставки за последние 30 дней</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≥40 у 6 из 12 бизнесов</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800" b="0">
                          <a:solidFill>
                            <a:srgbClr val="143243"/>
                          </a:solidFill>
                          <a:latin typeface="Arial"/>
                          <a:ea typeface="Arial"/>
                          <a:cs typeface="Arial"/>
                        </a:rPr>
                        <a:t>Заметные затраты времени</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Координация последней доставки</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≥10 минут у 6 из 12</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09613">
                <a:tc>
                  <a:txBody>
                    <a:bodyPr/>
                    <a:lstStyle/>
                    <a:p>
                      <a:r>
                        <a:rPr sz="1800" b="0">
                          <a:solidFill>
                            <a:srgbClr val="143243"/>
                          </a:solidFill>
                          <a:latin typeface="Arial"/>
                          <a:ea typeface="Arial"/>
                          <a:cs typeface="Arial"/>
                        </a:rPr>
                        <a:t>Готовность платить</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Подтверждение платного пилота</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из 5 приглашённых</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800" b="0">
                          <a:solidFill>
                            <a:srgbClr val="143243"/>
                          </a:solidFill>
                          <a:latin typeface="Arial"/>
                          <a:ea typeface="Arial"/>
                          <a:cs typeface="Arial"/>
                        </a:rPr>
                        <a:t>Повторное использование</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Новые заказы после первой недели</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из 5 участников пилота</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Статус: полевые результаты пока отсутствуют">
            <a:extLst xmlns:a="http://schemas.openxmlformats.org/drawingml/2006/main">
              <a:ext uri="{FF2B5EF4-FFF2-40B4-BE49-F238E27FC236}">
                <a16:creationId xmlns:a16="http://schemas.microsoft.com/office/drawing/2014/main" id="{4AEE8FAD-24BB-44BD-B94E-A702BE8755E4}"/>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65A12"/>
                </a:solidFill>
                <a:latin typeface="Arial"/>
                <a:ea typeface="Arial"/>
                <a:cs typeface="Arial"/>
              </a:defRPr>
            </a:defPPr>
            <a:lvl1pPr algn="l">
              <a:defRPr sz="2025" b="1">
                <a:solidFill>
                  <a:srgbClr val="965A12"/>
                </a:solidFill>
                <a:latin typeface="Arial"/>
                <a:ea typeface="Arial"/>
                <a:cs typeface="Arial"/>
              </a:defRPr>
            </a:lvl1pPr>
            <a:lvl2pPr algn="l">
              <a:defRPr sz="2025" b="1">
                <a:solidFill>
                  <a:srgbClr val="965A12"/>
                </a:solidFill>
                <a:latin typeface="Arial"/>
                <a:ea typeface="Arial"/>
                <a:cs typeface="Arial"/>
              </a:defRPr>
            </a:lvl2pPr>
            <a:lvl3pPr algn="l">
              <a:defRPr sz="2025" b="1">
                <a:solidFill>
                  <a:srgbClr val="965A12"/>
                </a:solidFill>
                <a:latin typeface="Arial"/>
                <a:ea typeface="Arial"/>
                <a:cs typeface="Arial"/>
              </a:defRPr>
            </a:lvl3pPr>
            <a:lvl4pPr algn="l">
              <a:defRPr sz="2025" b="1">
                <a:solidFill>
                  <a:srgbClr val="965A12"/>
                </a:solidFill>
                <a:latin typeface="Arial"/>
                <a:ea typeface="Arial"/>
                <a:cs typeface="Arial"/>
              </a:defRPr>
            </a:lvl4pPr>
            <a:lvl5pPr algn="l">
              <a:defRPr sz="2025" b="1">
                <a:solidFill>
                  <a:srgbClr val="965A12"/>
                </a:solidFill>
                <a:latin typeface="Arial"/>
                <a:ea typeface="Arial"/>
                <a:cs typeface="Arial"/>
              </a:defRPr>
            </a:lvl5pPr>
            <a:lvl6pPr algn="l">
              <a:defRPr sz="2025" b="1">
                <a:solidFill>
                  <a:srgbClr val="965A12"/>
                </a:solidFill>
                <a:latin typeface="Arial"/>
                <a:ea typeface="Arial"/>
                <a:cs typeface="Arial"/>
              </a:defRPr>
            </a:lvl6pPr>
            <a:lvl7pPr algn="l">
              <a:defRPr sz="2025" b="1">
                <a:solidFill>
                  <a:srgbClr val="965A12"/>
                </a:solidFill>
                <a:latin typeface="Arial"/>
                <a:ea typeface="Arial"/>
                <a:cs typeface="Arial"/>
              </a:defRPr>
            </a:lvl7pPr>
            <a:lvl8pPr algn="l">
              <a:defRPr sz="2025" b="1">
                <a:solidFill>
                  <a:srgbClr val="965A12"/>
                </a:solidFill>
                <a:latin typeface="Arial"/>
                <a:ea typeface="Arial"/>
                <a:cs typeface="Arial"/>
              </a:defRPr>
            </a:lvl8pPr>
            <a:lvl9pPr algn="l">
              <a:defRPr sz="2025" b="1">
                <a:solidFill>
                  <a:srgbClr val="965A12"/>
                </a:solidFill>
                <a:latin typeface="Arial"/>
                <a:ea typeface="Arial"/>
                <a:cs typeface="Arial"/>
              </a:defRPr>
            </a:lvl9pPr>
          </a:lstStyle>
          <a:p xmlns:a="http://schemas.openxmlformats.org/drawingml/2006/main">
            <a:pPr algn="l">
              <a:defRPr sz="2025" b="1">
                <a:solidFill>
                  <a:srgbClr val="965A12"/>
                </a:solidFill>
                <a:latin typeface="Arial"/>
                <a:ea typeface="Arial"/>
                <a:cs typeface="Arial"/>
              </a:defRPr>
            </a:pPr>
            <a:r>
              <a:rPr sz="2025" b="1">
                <a:solidFill>
                  <a:srgbClr val="965A12"/>
                </a:solidFill>
                <a:latin typeface="Arial"/>
                <a:ea typeface="Arial"/>
                <a:cs typeface="Arial"/>
              </a:rPr>
              <a:t>Статус: полевые результаты пока отсутствуют</a:t>
            </a:r>
          </a:p>
        </p:txBody>
      </p:sp>
    </p:spTree>
    <p:extLst>
      <p:ext uri="{BB962C8B-B14F-4D97-AF65-F5344CB8AC3E}">
        <p14:creationId xmlns:p14="http://schemas.microsoft.com/office/powerpoint/2010/main" val="2128851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Электронная торговля Казахстана растёт">
            <a:extLst xmlns:a="http://schemas.openxmlformats.org/drawingml/2006/main">
              <a:ext uri="{FF2B5EF4-FFF2-40B4-BE49-F238E27FC236}">
                <a16:creationId xmlns:a16="http://schemas.microsoft.com/office/drawing/2014/main" id="{99240611-D1B6-44A9-91C4-FE150D92DB8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Электронная торговля Казахстана растёт</a:t>
            </a:r>
          </a:p>
        </p:txBody>
      </p:sp>
      <p:sp>
        <p:nvSpPr>
          <p:cNvPr id="2" name="Оборот розничной электронной коммерции, трлн ₸, с учётом маркетпл">
            <a:extLst xmlns:a="http://schemas.openxmlformats.org/drawingml/2006/main">
              <a:ext uri="{FF2B5EF4-FFF2-40B4-BE49-F238E27FC236}">
                <a16:creationId xmlns:a16="http://schemas.microsoft.com/office/drawing/2014/main" id="{ABB605E1-832C-418C-94F8-A0CA28B2EDA0}"/>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Оборот розничной электронной коммерции, трлн ₸, с учётом маркетплейсов</a:t>
            </a:r>
          </a:p>
        </p:txBody>
      </p:sp>
      <p:sp>
        <p:nvSpPr>
          <p:cNvPr id="3" name="Qadam Delivery">
            <a:extLst xmlns:a="http://schemas.openxmlformats.org/drawingml/2006/main">
              <a:ext uri="{FF2B5EF4-FFF2-40B4-BE49-F238E27FC236}">
                <a16:creationId xmlns:a16="http://schemas.microsoft.com/office/drawing/2014/main" id="{178C3C5C-2D3B-4BA8-8B18-65A04E1A78F1}"/>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5">
            <a:extLst xmlns:a="http://schemas.openxmlformats.org/drawingml/2006/main">
              <a:ext uri="{FF2B5EF4-FFF2-40B4-BE49-F238E27FC236}">
                <a16:creationId xmlns:a16="http://schemas.microsoft.com/office/drawing/2014/main" id="{A1B71E21-7E2E-4958-9766-5FC0A51A69F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9EE04C0-7D96-455A-8223-F404559B55CE}"/>
              </a:ext>
            </a:extLst>
          </p:cNvPr>
          <p:cNvGraphicFramePr/>
          <p:nvPr/>
        </p:nvGraphicFramePr>
        <p:xfrm>
          <a:off xmlns:a="http://schemas.openxmlformats.org/drawingml/2006/main" x="609600" y="2190750"/>
          <a:ext xmlns:a="http://schemas.openxmlformats.org/drawingml/2006/main" cx="7000875" cy="3333750"/>
        </p:xfrm>
        <a:graphic xmlns:a="http://schemas.openxmlformats.org/drawingml/2006/main">
          <a:graphicData uri="http://schemas.openxmlformats.org/drawingml/2006/chart">
            <c:chart xmlns:r="http://schemas.openxmlformats.org/officeDocument/2006/relationships" xmlns:c="http://schemas.openxmlformats.org/drawingml/2006/chart" r:id="R942aa10d088c4c6b"/>
          </a:graphicData>
        </a:graphic>
      </p:graphicFrame>
      <p:sp>
        <p:nvSpPr>
          <p:cNvPr id="6" name="24,3%">
            <a:extLst xmlns:a="http://schemas.openxmlformats.org/drawingml/2006/main">
              <a:ext uri="{FF2B5EF4-FFF2-40B4-BE49-F238E27FC236}">
                <a16:creationId xmlns:a16="http://schemas.microsoft.com/office/drawing/2014/main" id="{9262D7DB-265E-483B-8B38-6DCDA0F3F76D}"/>
              </a:ext>
            </a:extLst>
          </p:cNvPr>
          <p:cNvSpPr>
            <a:spLocks xmlns:a="http://schemas.openxmlformats.org/drawingml/2006/main" noGrp="1"/>
          </p:cNvSpPr>
          <p:nvPr/>
        </p:nvSpPr>
        <p:spPr>
          <a:xfrm xmlns:a="http://schemas.openxmlformats.org/drawingml/2006/main">
            <a:off x="8096250" y="230505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2855DF"/>
                </a:solidFill>
                <a:latin typeface="Arial"/>
                <a:ea typeface="Arial"/>
                <a:cs typeface="Arial"/>
              </a:defRPr>
            </a:defPPr>
            <a:lvl1pPr algn="l">
              <a:defRPr sz="6000" b="1">
                <a:solidFill>
                  <a:srgbClr val="2855DF"/>
                </a:solidFill>
                <a:latin typeface="Arial"/>
                <a:ea typeface="Arial"/>
                <a:cs typeface="Arial"/>
              </a:defRPr>
            </a:lvl1pPr>
            <a:lvl2pPr algn="l">
              <a:defRPr sz="6000" b="1">
                <a:solidFill>
                  <a:srgbClr val="2855DF"/>
                </a:solidFill>
                <a:latin typeface="Arial"/>
                <a:ea typeface="Arial"/>
                <a:cs typeface="Arial"/>
              </a:defRPr>
            </a:lvl2pPr>
            <a:lvl3pPr algn="l">
              <a:defRPr sz="6000" b="1">
                <a:solidFill>
                  <a:srgbClr val="2855DF"/>
                </a:solidFill>
                <a:latin typeface="Arial"/>
                <a:ea typeface="Arial"/>
                <a:cs typeface="Arial"/>
              </a:defRPr>
            </a:lvl3pPr>
            <a:lvl4pPr algn="l">
              <a:defRPr sz="6000" b="1">
                <a:solidFill>
                  <a:srgbClr val="2855DF"/>
                </a:solidFill>
                <a:latin typeface="Arial"/>
                <a:ea typeface="Arial"/>
                <a:cs typeface="Arial"/>
              </a:defRPr>
            </a:lvl4pPr>
            <a:lvl5pPr algn="l">
              <a:defRPr sz="6000" b="1">
                <a:solidFill>
                  <a:srgbClr val="2855DF"/>
                </a:solidFill>
                <a:latin typeface="Arial"/>
                <a:ea typeface="Arial"/>
                <a:cs typeface="Arial"/>
              </a:defRPr>
            </a:lvl5pPr>
            <a:lvl6pPr algn="l">
              <a:defRPr sz="6000" b="1">
                <a:solidFill>
                  <a:srgbClr val="2855DF"/>
                </a:solidFill>
                <a:latin typeface="Arial"/>
                <a:ea typeface="Arial"/>
                <a:cs typeface="Arial"/>
              </a:defRPr>
            </a:lvl6pPr>
            <a:lvl7pPr algn="l">
              <a:defRPr sz="6000" b="1">
                <a:solidFill>
                  <a:srgbClr val="2855DF"/>
                </a:solidFill>
                <a:latin typeface="Arial"/>
                <a:ea typeface="Arial"/>
                <a:cs typeface="Arial"/>
              </a:defRPr>
            </a:lvl7pPr>
            <a:lvl8pPr algn="l">
              <a:defRPr sz="6000" b="1">
                <a:solidFill>
                  <a:srgbClr val="2855DF"/>
                </a:solidFill>
                <a:latin typeface="Arial"/>
                <a:ea typeface="Arial"/>
                <a:cs typeface="Arial"/>
              </a:defRPr>
            </a:lvl8pPr>
            <a:lvl9pPr algn="l">
              <a:defRPr sz="6000" b="1">
                <a:solidFill>
                  <a:srgbClr val="2855DF"/>
                </a:solidFill>
                <a:latin typeface="Arial"/>
                <a:ea typeface="Arial"/>
                <a:cs typeface="Arial"/>
              </a:defRPr>
            </a:lvl9pPr>
          </a:lstStyle>
          <a:p xmlns:a="http://schemas.openxmlformats.org/drawingml/2006/main">
            <a:pPr algn="l">
              <a:defRPr sz="6000" b="1">
                <a:solidFill>
                  <a:srgbClr val="2855DF"/>
                </a:solidFill>
                <a:latin typeface="Arial"/>
                <a:ea typeface="Arial"/>
                <a:cs typeface="Arial"/>
              </a:defRPr>
            </a:pPr>
            <a:r>
              <a:rPr sz="6000" b="1">
                <a:solidFill>
                  <a:srgbClr val="2855DF"/>
                </a:solidFill>
                <a:latin typeface="Arial"/>
                <a:ea typeface="Arial"/>
                <a:cs typeface="Arial"/>
              </a:rPr>
              <a:t>24,3%</a:t>
            </a:r>
          </a:p>
        </p:txBody>
      </p:sp>
      <p:sp>
        <p:nvSpPr>
          <p:cNvPr id="7" name="CAGR за 2022–2025">
            <a:extLst xmlns:a="http://schemas.openxmlformats.org/drawingml/2006/main">
              <a:ext uri="{FF2B5EF4-FFF2-40B4-BE49-F238E27FC236}">
                <a16:creationId xmlns:a16="http://schemas.microsoft.com/office/drawing/2014/main" id="{B19B555D-EE5D-46DB-A03D-A5500C3A44A6}"/>
              </a:ext>
            </a:extLst>
          </p:cNvPr>
          <p:cNvSpPr>
            <a:spLocks xmlns:a="http://schemas.openxmlformats.org/drawingml/2006/main" noGrp="1"/>
          </p:cNvSpPr>
          <p:nvPr/>
        </p:nvSpPr>
        <p:spPr>
          <a:xfrm xmlns:a="http://schemas.openxmlformats.org/drawingml/2006/main">
            <a:off x="8096250" y="351472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3243"/>
                </a:solidFill>
                <a:latin typeface="Arial"/>
                <a:ea typeface="Arial"/>
                <a:cs typeface="Arial"/>
              </a:defRPr>
            </a:defPPr>
            <a:lvl1pPr algn="l">
              <a:defRPr sz="2100" b="1">
                <a:solidFill>
                  <a:srgbClr val="143243"/>
                </a:solidFill>
                <a:latin typeface="Arial"/>
                <a:ea typeface="Arial"/>
                <a:cs typeface="Arial"/>
              </a:defRPr>
            </a:lvl1pPr>
            <a:lvl2pPr algn="l">
              <a:defRPr sz="2100" b="1">
                <a:solidFill>
                  <a:srgbClr val="143243"/>
                </a:solidFill>
                <a:latin typeface="Arial"/>
                <a:ea typeface="Arial"/>
                <a:cs typeface="Arial"/>
              </a:defRPr>
            </a:lvl2pPr>
            <a:lvl3pPr algn="l">
              <a:defRPr sz="2100" b="1">
                <a:solidFill>
                  <a:srgbClr val="143243"/>
                </a:solidFill>
                <a:latin typeface="Arial"/>
                <a:ea typeface="Arial"/>
                <a:cs typeface="Arial"/>
              </a:defRPr>
            </a:lvl3pPr>
            <a:lvl4pPr algn="l">
              <a:defRPr sz="2100" b="1">
                <a:solidFill>
                  <a:srgbClr val="143243"/>
                </a:solidFill>
                <a:latin typeface="Arial"/>
                <a:ea typeface="Arial"/>
                <a:cs typeface="Arial"/>
              </a:defRPr>
            </a:lvl4pPr>
            <a:lvl5pPr algn="l">
              <a:defRPr sz="2100" b="1">
                <a:solidFill>
                  <a:srgbClr val="143243"/>
                </a:solidFill>
                <a:latin typeface="Arial"/>
                <a:ea typeface="Arial"/>
                <a:cs typeface="Arial"/>
              </a:defRPr>
            </a:lvl5pPr>
            <a:lvl6pPr algn="l">
              <a:defRPr sz="2100" b="1">
                <a:solidFill>
                  <a:srgbClr val="143243"/>
                </a:solidFill>
                <a:latin typeface="Arial"/>
                <a:ea typeface="Arial"/>
                <a:cs typeface="Arial"/>
              </a:defRPr>
            </a:lvl6pPr>
            <a:lvl7pPr algn="l">
              <a:defRPr sz="2100" b="1">
                <a:solidFill>
                  <a:srgbClr val="143243"/>
                </a:solidFill>
                <a:latin typeface="Arial"/>
                <a:ea typeface="Arial"/>
                <a:cs typeface="Arial"/>
              </a:defRPr>
            </a:lvl7pPr>
            <a:lvl8pPr algn="l">
              <a:defRPr sz="2100" b="1">
                <a:solidFill>
                  <a:srgbClr val="143243"/>
                </a:solidFill>
                <a:latin typeface="Arial"/>
                <a:ea typeface="Arial"/>
                <a:cs typeface="Arial"/>
              </a:defRPr>
            </a:lvl8pPr>
            <a:lvl9pPr algn="l">
              <a:defRPr sz="2100" b="1">
                <a:solidFill>
                  <a:srgbClr val="143243"/>
                </a:solidFill>
                <a:latin typeface="Arial"/>
                <a:ea typeface="Arial"/>
                <a:cs typeface="Arial"/>
              </a:defRPr>
            </a:lvl9pPr>
          </a:lstStyle>
          <a:p xmlns:a="http://schemas.openxmlformats.org/drawingml/2006/main">
            <a:pPr algn="l">
              <a:defRPr sz="2100" b="1">
                <a:solidFill>
                  <a:srgbClr val="143243"/>
                </a:solidFill>
                <a:latin typeface="Arial"/>
                <a:ea typeface="Arial"/>
                <a:cs typeface="Arial"/>
              </a:defRPr>
            </a:pPr>
            <a:r>
              <a:rPr sz="2100" b="1">
                <a:solidFill>
                  <a:srgbClr val="143243"/>
                </a:solidFill>
                <a:latin typeface="Arial"/>
                <a:ea typeface="Arial"/>
                <a:cs typeface="Arial"/>
              </a:rPr>
              <a:t>CAGR за 2022–2025</a:t>
            </a:r>
          </a:p>
        </p:txBody>
      </p:sp>
      <p:sp>
        <p:nvSpPr>
          <p:cNvPr id="8" name="[(3,7688 / 1,9635)^(1/3) − 1] × 100%">
            <a:extLst xmlns:a="http://schemas.openxmlformats.org/drawingml/2006/main">
              <a:ext uri="{FF2B5EF4-FFF2-40B4-BE49-F238E27FC236}">
                <a16:creationId xmlns:a16="http://schemas.microsoft.com/office/drawing/2014/main" id="{D8AE44E0-9D08-417E-BADB-A729E925E4CA}"/>
              </a:ext>
            </a:extLst>
          </p:cNvPr>
          <p:cNvSpPr>
            <a:spLocks xmlns:a="http://schemas.openxmlformats.org/drawingml/2006/main" noGrp="1"/>
          </p:cNvSpPr>
          <p:nvPr/>
        </p:nvSpPr>
        <p:spPr>
          <a:xfrm xmlns:a="http://schemas.openxmlformats.org/drawingml/2006/main">
            <a:off x="8096250" y="40386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[(3,7688 / 1,9635)^(1/3) − 1] × 100%</a:t>
            </a:r>
          </a:p>
        </p:txBody>
      </p:sp>
      <p:sp>
        <p:nvSpPr>
          <p:cNvPr id="9" name="Номинальный рост оборота товаров.&#10;Темп рынка курьерских услуг&#10;нуж">
            <a:extLst xmlns:a="http://schemas.openxmlformats.org/drawingml/2006/main">
              <a:ext uri="{FF2B5EF4-FFF2-40B4-BE49-F238E27FC236}">
                <a16:creationId xmlns:a16="http://schemas.microsoft.com/office/drawing/2014/main" id="{C9E5D49C-58BC-4329-BC1B-85B2E32AC8C5}"/>
              </a:ext>
            </a:extLst>
          </p:cNvPr>
          <p:cNvSpPr>
            <a:spLocks xmlns:a="http://schemas.openxmlformats.org/drawingml/2006/main" noGrp="1"/>
          </p:cNvSpPr>
          <p:nvPr/>
        </p:nvSpPr>
        <p:spPr>
          <a:xfrm xmlns:a="http://schemas.openxmlformats.org/drawingml/2006/main">
            <a:off x="8096250" y="4772025"/>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Номинальный рост оборота товаров.</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Темп рынка курьерских услуг</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нужно исследовать отдельно.</a:t>
            </a:r>
          </a:p>
        </p:txBody>
      </p:sp>
      <p:sp>
        <p:nvSpPr>
          <p:cNvPr id="10" name="Источник: Бюро национальной статистики РК, «Об электронной коммер">
            <a:extLst xmlns:a="http://schemas.openxmlformats.org/drawingml/2006/main">
              <a:ext uri="{FF2B5EF4-FFF2-40B4-BE49-F238E27FC236}">
                <a16:creationId xmlns:a16="http://schemas.microsoft.com/office/drawing/2014/main" id="{3E8A008B-BBFE-4BF0-BB62-FB7110C8B0DE}"/>
              </a:ext>
            </a:extLst>
          </p:cNvPr>
          <p:cNvSpPr>
            <a:spLocks xmlns:a="http://schemas.openxmlformats.org/drawingml/2006/main" noGrp="1"/>
          </p:cNvSpPr>
          <p:nvPr/>
        </p:nvSpPr>
        <p:spPr>
          <a:xfrm xmlns:a="http://schemas.openxmlformats.org/drawingml/2006/main">
            <a:off x="609600" y="5895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Источник: Бюро национальной статистики РК, «Об электронной коммерции», 2025 г.</a:t>
            </a:r>
          </a:p>
        </p:txBody>
      </p:sp>
    </p:spTree>
    <p:extLst>
      <p:ext uri="{BB962C8B-B14F-4D97-AF65-F5344CB8AC3E}">
        <p14:creationId xmlns:p14="http://schemas.microsoft.com/office/powerpoint/2010/main" val="15980532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Возможности учебного MVP">
            <a:extLst xmlns:a="http://schemas.openxmlformats.org/drawingml/2006/main">
              <a:ext uri="{FF2B5EF4-FFF2-40B4-BE49-F238E27FC236}">
                <a16:creationId xmlns:a16="http://schemas.microsoft.com/office/drawing/2014/main" id="{7FB4D3FB-05C9-4CDB-857C-114A5D4F4CB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Возможности учебного MVP</a:t>
            </a:r>
          </a:p>
        </p:txBody>
      </p:sp>
      <p:sp>
        <p:nvSpPr>
          <p:cNvPr id="2" name="Telegram Mini App и браузерная версия для полного сценария достав">
            <a:extLst xmlns:a="http://schemas.openxmlformats.org/drawingml/2006/main">
              <a:ext uri="{FF2B5EF4-FFF2-40B4-BE49-F238E27FC236}">
                <a16:creationId xmlns:a16="http://schemas.microsoft.com/office/drawing/2014/main" id="{AF1714DA-4315-4DEF-B470-3950553D87AE}"/>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Telegram Mini App и браузерная версия для полного сценария доставки</a:t>
            </a:r>
          </a:p>
        </p:txBody>
      </p:sp>
      <p:sp>
        <p:nvSpPr>
          <p:cNvPr id="3" name="Qadam Delivery">
            <a:extLst xmlns:a="http://schemas.openxmlformats.org/drawingml/2006/main">
              <a:ext uri="{FF2B5EF4-FFF2-40B4-BE49-F238E27FC236}">
                <a16:creationId xmlns:a16="http://schemas.microsoft.com/office/drawing/2014/main" id="{1108ED8D-5DC4-452E-988A-29927A24496C}"/>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6">
            <a:extLst xmlns:a="http://schemas.openxmlformats.org/drawingml/2006/main">
              <a:ext uri="{FF2B5EF4-FFF2-40B4-BE49-F238E27FC236}">
                <a16:creationId xmlns:a16="http://schemas.microsoft.com/office/drawing/2014/main" id="{A2F27834-B254-40CC-8F79-7DBE6FE4A097}"/>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74F36C06-5FF8-480C-9CDE-796F2B23892E}"/>
              </a:ext>
            </a:extLst>
          </p:cNvPr>
          <p:cNvPicPr>
            <a:picLocks xmlns:a="http://schemas.openxmlformats.org/drawingml/2006/main" noChangeAspect="1"/>
          </p:cNvPicPr>
          <p:nvPr/>
        </p:nvPicPr>
        <p:blipFill>
          <a:blip xmlns:r="http://schemas.openxmlformats.org/officeDocument/2006/relationships" xmlns:a="http://schemas.openxmlformats.org/drawingml/2006/main" r:embed="R04babf7cfece4901"/>
          <a:stretch xmlns:a="http://schemas.openxmlformats.org/drawingml/2006/main"/>
        </p:blipFill>
        <p:spPr>
          <a:xfrm xmlns:a="http://schemas.openxmlformats.org/drawingml/2006/main">
            <a:off x="609600" y="2124670"/>
            <a:ext cx="7143750" cy="4018359"/>
          </a:xfrm>
          <a:prstGeom xmlns:a="http://schemas.openxmlformats.org/drawingml/2006/main" prst="rect">
            <a:avLst/>
          </a:prstGeom>
        </p:spPr>
      </p:pic>
      <p:sp>
        <p:nvSpPr>
          <p:cNvPr id="6" name="01">
            <a:extLst xmlns:a="http://schemas.openxmlformats.org/drawingml/2006/main">
              <a:ext uri="{FF2B5EF4-FFF2-40B4-BE49-F238E27FC236}">
                <a16:creationId xmlns:a16="http://schemas.microsoft.com/office/drawing/2014/main" id="{405973A2-D525-4DE9-AE2A-28855D16ED19}"/>
              </a:ext>
            </a:extLst>
          </p:cNvPr>
          <p:cNvSpPr>
            <a:spLocks xmlns:a="http://schemas.openxmlformats.org/drawingml/2006/main" noGrp="1"/>
          </p:cNvSpPr>
          <p:nvPr/>
        </p:nvSpPr>
        <p:spPr>
          <a:xfrm xmlns:a="http://schemas.openxmlformats.org/drawingml/2006/main">
            <a:off x="8134350" y="22002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01</a:t>
            </a:r>
          </a:p>
        </p:txBody>
      </p:sp>
      <p:sp>
        <p:nvSpPr>
          <p:cNvPr id="7" name="Создание заказа">
            <a:extLst xmlns:a="http://schemas.openxmlformats.org/drawingml/2006/main">
              <a:ext uri="{FF2B5EF4-FFF2-40B4-BE49-F238E27FC236}">
                <a16:creationId xmlns:a16="http://schemas.microsoft.com/office/drawing/2014/main" id="{0CC4DD0B-EA47-4E96-ACE0-A8C34FB6BBC9}"/>
              </a:ext>
            </a:extLst>
          </p:cNvPr>
          <p:cNvSpPr>
            <a:spLocks xmlns:a="http://schemas.openxmlformats.org/drawingml/2006/main" noGrp="1"/>
          </p:cNvSpPr>
          <p:nvPr/>
        </p:nvSpPr>
        <p:spPr>
          <a:xfrm xmlns:a="http://schemas.openxmlformats.org/drawingml/2006/main">
            <a:off x="8743950" y="22002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Создание заказа</a:t>
            </a:r>
          </a:p>
        </p:txBody>
      </p:sp>
      <p:sp>
        <p:nvSpPr>
          <p:cNvPr id="8" name="02">
            <a:extLst xmlns:a="http://schemas.openxmlformats.org/drawingml/2006/main">
              <a:ext uri="{FF2B5EF4-FFF2-40B4-BE49-F238E27FC236}">
                <a16:creationId xmlns:a16="http://schemas.microsoft.com/office/drawing/2014/main" id="{8313433D-00D9-44E4-8310-E86660AA1933}"/>
              </a:ext>
            </a:extLst>
          </p:cNvPr>
          <p:cNvSpPr>
            <a:spLocks xmlns:a="http://schemas.openxmlformats.org/drawingml/2006/main" noGrp="1"/>
          </p:cNvSpPr>
          <p:nvPr/>
        </p:nvSpPr>
        <p:spPr>
          <a:xfrm xmlns:a="http://schemas.openxmlformats.org/drawingml/2006/main">
            <a:off x="8134350" y="28860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02</a:t>
            </a:r>
          </a:p>
        </p:txBody>
      </p:sp>
      <p:sp>
        <p:nvSpPr>
          <p:cNvPr id="9" name="Принятие курьером">
            <a:extLst xmlns:a="http://schemas.openxmlformats.org/drawingml/2006/main">
              <a:ext uri="{FF2B5EF4-FFF2-40B4-BE49-F238E27FC236}">
                <a16:creationId xmlns:a16="http://schemas.microsoft.com/office/drawing/2014/main" id="{17A06220-7515-4074-9A25-AE855E401B4D}"/>
              </a:ext>
            </a:extLst>
          </p:cNvPr>
          <p:cNvSpPr>
            <a:spLocks xmlns:a="http://schemas.openxmlformats.org/drawingml/2006/main" noGrp="1"/>
          </p:cNvSpPr>
          <p:nvPr/>
        </p:nvSpPr>
        <p:spPr>
          <a:xfrm xmlns:a="http://schemas.openxmlformats.org/drawingml/2006/main">
            <a:off x="8743950" y="2886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Принятие курьером</a:t>
            </a:r>
          </a:p>
        </p:txBody>
      </p:sp>
      <p:sp>
        <p:nvSpPr>
          <p:cNvPr id="10" name="03">
            <a:extLst xmlns:a="http://schemas.openxmlformats.org/drawingml/2006/main">
              <a:ext uri="{FF2B5EF4-FFF2-40B4-BE49-F238E27FC236}">
                <a16:creationId xmlns:a16="http://schemas.microsoft.com/office/drawing/2014/main" id="{05C5D759-E29B-4937-8D9C-EBD2825B5269}"/>
              </a:ext>
            </a:extLst>
          </p:cNvPr>
          <p:cNvSpPr>
            <a:spLocks xmlns:a="http://schemas.openxmlformats.org/drawingml/2006/main" noGrp="1"/>
          </p:cNvSpPr>
          <p:nvPr/>
        </p:nvSpPr>
        <p:spPr>
          <a:xfrm xmlns:a="http://schemas.openxmlformats.org/drawingml/2006/main">
            <a:off x="8134350" y="35718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03</a:t>
            </a:r>
          </a:p>
        </p:txBody>
      </p:sp>
      <p:sp>
        <p:nvSpPr>
          <p:cNvPr id="11" name="Обновление статусов">
            <a:extLst xmlns:a="http://schemas.openxmlformats.org/drawingml/2006/main">
              <a:ext uri="{FF2B5EF4-FFF2-40B4-BE49-F238E27FC236}">
                <a16:creationId xmlns:a16="http://schemas.microsoft.com/office/drawing/2014/main" id="{9A980196-D3F1-4819-B1DB-2548C00419AE}"/>
              </a:ext>
            </a:extLst>
          </p:cNvPr>
          <p:cNvSpPr>
            <a:spLocks xmlns:a="http://schemas.openxmlformats.org/drawingml/2006/main" noGrp="1"/>
          </p:cNvSpPr>
          <p:nvPr/>
        </p:nvSpPr>
        <p:spPr>
          <a:xfrm xmlns:a="http://schemas.openxmlformats.org/drawingml/2006/main">
            <a:off x="8743950" y="3571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Обновление статусов</a:t>
            </a:r>
          </a:p>
        </p:txBody>
      </p:sp>
      <p:sp>
        <p:nvSpPr>
          <p:cNvPr id="12" name="04">
            <a:extLst xmlns:a="http://schemas.openxmlformats.org/drawingml/2006/main">
              <a:ext uri="{FF2B5EF4-FFF2-40B4-BE49-F238E27FC236}">
                <a16:creationId xmlns:a16="http://schemas.microsoft.com/office/drawing/2014/main" id="{92A33643-AAB4-4227-A188-F5D968577084}"/>
              </a:ext>
            </a:extLst>
          </p:cNvPr>
          <p:cNvSpPr>
            <a:spLocks xmlns:a="http://schemas.openxmlformats.org/drawingml/2006/main" noGrp="1"/>
          </p:cNvSpPr>
          <p:nvPr/>
        </p:nvSpPr>
        <p:spPr>
          <a:xfrm xmlns:a="http://schemas.openxmlformats.org/drawingml/2006/main">
            <a:off x="8134350" y="42576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04</a:t>
            </a:r>
          </a:p>
        </p:txBody>
      </p:sp>
      <p:sp>
        <p:nvSpPr>
          <p:cNvPr id="13" name="История после открытия">
            <a:extLst xmlns:a="http://schemas.openxmlformats.org/drawingml/2006/main">
              <a:ext uri="{FF2B5EF4-FFF2-40B4-BE49-F238E27FC236}">
                <a16:creationId xmlns:a16="http://schemas.microsoft.com/office/drawing/2014/main" id="{51942859-525E-4864-91A9-FC5FF4DCD9E3}"/>
              </a:ext>
            </a:extLst>
          </p:cNvPr>
          <p:cNvSpPr>
            <a:spLocks xmlns:a="http://schemas.openxmlformats.org/drawingml/2006/main" noGrp="1"/>
          </p:cNvSpPr>
          <p:nvPr/>
        </p:nvSpPr>
        <p:spPr>
          <a:xfrm xmlns:a="http://schemas.openxmlformats.org/drawingml/2006/main">
            <a:off x="8743950" y="42576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История после открытия</a:t>
            </a:r>
          </a:p>
        </p:txBody>
      </p:sp>
      <p:sp>
        <p:nvSpPr>
          <p:cNvPr id="14" name="B2B-пилот использует общий&#10;клиентский сценарий MVP.">
            <a:extLst xmlns:a="http://schemas.openxmlformats.org/drawingml/2006/main">
              <a:ext uri="{FF2B5EF4-FFF2-40B4-BE49-F238E27FC236}">
                <a16:creationId xmlns:a16="http://schemas.microsoft.com/office/drawing/2014/main" id="{355927F7-3271-4B1C-81AC-0CC9F666F265}"/>
              </a:ext>
            </a:extLst>
          </p:cNvPr>
          <p:cNvSpPr>
            <a:spLocks xmlns:a="http://schemas.openxmlformats.org/drawingml/2006/main" noGrp="1"/>
          </p:cNvSpPr>
          <p:nvPr/>
        </p:nvSpPr>
        <p:spPr>
          <a:xfrm xmlns:a="http://schemas.openxmlformats.org/drawingml/2006/main">
            <a:off x="8134350" y="51244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B2B-пилот использует общий</a:t>
            </a:r>
          </a:p>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клиентский сценарий MVP.</a:t>
            </a:r>
          </a:p>
        </p:txBody>
      </p:sp>
      <p:sp>
        <p:nvSpPr>
          <p:cNvPr id="15" name="GPS обновляется при открытом&#10;приложении с разрешением.">
            <a:extLst xmlns:a="http://schemas.openxmlformats.org/drawingml/2006/main">
              <a:ext uri="{FF2B5EF4-FFF2-40B4-BE49-F238E27FC236}">
                <a16:creationId xmlns:a16="http://schemas.microsoft.com/office/drawing/2014/main" id="{7B91F9B8-9D9C-4D00-8F8F-8BBAA58D42A0}"/>
              </a:ext>
            </a:extLst>
          </p:cNvPr>
          <p:cNvSpPr>
            <a:spLocks xmlns:a="http://schemas.openxmlformats.org/drawingml/2006/main" noGrp="1"/>
          </p:cNvSpPr>
          <p:nvPr/>
        </p:nvSpPr>
        <p:spPr>
          <a:xfrm xmlns:a="http://schemas.openxmlformats.org/drawingml/2006/main">
            <a:off x="8134350" y="58578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GPS обновляется при открытом</a:t>
            </a:r>
          </a:p>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приложении с разрешением.</a:t>
            </a:r>
          </a:p>
        </p:txBody>
      </p:sp>
    </p:spTree>
    <p:extLst>
      <p:ext uri="{BB962C8B-B14F-4D97-AF65-F5344CB8AC3E}">
        <p14:creationId xmlns:p14="http://schemas.microsoft.com/office/powerpoint/2010/main" val="1586331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Цифровые альтернативы и проникновение">
            <a:extLst xmlns:a="http://schemas.openxmlformats.org/drawingml/2006/main">
              <a:ext uri="{FF2B5EF4-FFF2-40B4-BE49-F238E27FC236}">
                <a16:creationId xmlns:a16="http://schemas.microsoft.com/office/drawing/2014/main" id="{927A2DC6-2A05-4AA9-B78A-51C5F9A89F1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Цифровые альтернативы и проникновение</a:t>
            </a:r>
          </a:p>
        </p:txBody>
      </p:sp>
      <p:sp>
        <p:nvSpPr>
          <p:cNvPr id="2" name="Локальную долю бизнеса с цифровой доставкой измерим в PMR">
            <a:extLst xmlns:a="http://schemas.openxmlformats.org/drawingml/2006/main">
              <a:ext uri="{FF2B5EF4-FFF2-40B4-BE49-F238E27FC236}">
                <a16:creationId xmlns:a16="http://schemas.microsoft.com/office/drawing/2014/main" id="{A65E1BD8-A211-4B69-9525-E56CBA130BA4}"/>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Локальную долю бизнеса с цифровой доставкой измерим в PMR</a:t>
            </a:r>
          </a:p>
        </p:txBody>
      </p:sp>
      <p:sp>
        <p:nvSpPr>
          <p:cNvPr id="3" name="Qadam Delivery">
            <a:extLst xmlns:a="http://schemas.openxmlformats.org/drawingml/2006/main">
              <a:ext uri="{FF2B5EF4-FFF2-40B4-BE49-F238E27FC236}">
                <a16:creationId xmlns:a16="http://schemas.microsoft.com/office/drawing/2014/main" id="{E2A615A5-F21D-4EED-A6FF-609AA41E11D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7">
            <a:extLst xmlns:a="http://schemas.openxmlformats.org/drawingml/2006/main">
              <a:ext uri="{FF2B5EF4-FFF2-40B4-BE49-F238E27FC236}">
                <a16:creationId xmlns:a16="http://schemas.microsoft.com/office/drawing/2014/main" id="{E331D805-57D0-4A38-AA6D-08996166F428}"/>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07</a:t>
            </a:r>
          </a:p>
        </p:txBody>
      </p:sp>
      <p:sp>
        <p:nvSpPr>
          <p:cNvPr id="5" name="14,3%">
            <a:extLst xmlns:a="http://schemas.openxmlformats.org/drawingml/2006/main">
              <a:ext uri="{FF2B5EF4-FFF2-40B4-BE49-F238E27FC236}">
                <a16:creationId xmlns:a16="http://schemas.microsoft.com/office/drawing/2014/main" id="{6E27C6A1-AB7E-4B87-A320-401EF8532601}"/>
              </a:ext>
            </a:extLst>
          </p:cNvPr>
          <p:cNvSpPr>
            <a:spLocks xmlns:a="http://schemas.openxmlformats.org/drawingml/2006/main" noGrp="1"/>
          </p:cNvSpPr>
          <p:nvPr/>
        </p:nvSpPr>
        <p:spPr>
          <a:xfrm xmlns:a="http://schemas.openxmlformats.org/drawingml/2006/main">
            <a:off x="609600" y="21145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2855DF"/>
                </a:solidFill>
                <a:latin typeface="Arial"/>
                <a:ea typeface="Arial"/>
                <a:cs typeface="Arial"/>
              </a:defRPr>
            </a:defPPr>
            <a:lvl1pPr algn="l">
              <a:defRPr sz="5700" b="1">
                <a:solidFill>
                  <a:srgbClr val="2855DF"/>
                </a:solidFill>
                <a:latin typeface="Arial"/>
                <a:ea typeface="Arial"/>
                <a:cs typeface="Arial"/>
              </a:defRPr>
            </a:lvl1pPr>
            <a:lvl2pPr algn="l">
              <a:defRPr sz="5700" b="1">
                <a:solidFill>
                  <a:srgbClr val="2855DF"/>
                </a:solidFill>
                <a:latin typeface="Arial"/>
                <a:ea typeface="Arial"/>
                <a:cs typeface="Arial"/>
              </a:defRPr>
            </a:lvl2pPr>
            <a:lvl3pPr algn="l">
              <a:defRPr sz="5700" b="1">
                <a:solidFill>
                  <a:srgbClr val="2855DF"/>
                </a:solidFill>
                <a:latin typeface="Arial"/>
                <a:ea typeface="Arial"/>
                <a:cs typeface="Arial"/>
              </a:defRPr>
            </a:lvl3pPr>
            <a:lvl4pPr algn="l">
              <a:defRPr sz="5700" b="1">
                <a:solidFill>
                  <a:srgbClr val="2855DF"/>
                </a:solidFill>
                <a:latin typeface="Arial"/>
                <a:ea typeface="Arial"/>
                <a:cs typeface="Arial"/>
              </a:defRPr>
            </a:lvl4pPr>
            <a:lvl5pPr algn="l">
              <a:defRPr sz="5700" b="1">
                <a:solidFill>
                  <a:srgbClr val="2855DF"/>
                </a:solidFill>
                <a:latin typeface="Arial"/>
                <a:ea typeface="Arial"/>
                <a:cs typeface="Arial"/>
              </a:defRPr>
            </a:lvl5pPr>
            <a:lvl6pPr algn="l">
              <a:defRPr sz="5700" b="1">
                <a:solidFill>
                  <a:srgbClr val="2855DF"/>
                </a:solidFill>
                <a:latin typeface="Arial"/>
                <a:ea typeface="Arial"/>
                <a:cs typeface="Arial"/>
              </a:defRPr>
            </a:lvl6pPr>
            <a:lvl7pPr algn="l">
              <a:defRPr sz="5700" b="1">
                <a:solidFill>
                  <a:srgbClr val="2855DF"/>
                </a:solidFill>
                <a:latin typeface="Arial"/>
                <a:ea typeface="Arial"/>
                <a:cs typeface="Arial"/>
              </a:defRPr>
            </a:lvl7pPr>
            <a:lvl8pPr algn="l">
              <a:defRPr sz="5700" b="1">
                <a:solidFill>
                  <a:srgbClr val="2855DF"/>
                </a:solidFill>
                <a:latin typeface="Arial"/>
                <a:ea typeface="Arial"/>
                <a:cs typeface="Arial"/>
              </a:defRPr>
            </a:lvl8pPr>
            <a:lvl9pPr algn="l">
              <a:defRPr sz="5700" b="1">
                <a:solidFill>
                  <a:srgbClr val="2855DF"/>
                </a:solidFill>
                <a:latin typeface="Arial"/>
                <a:ea typeface="Arial"/>
                <a:cs typeface="Arial"/>
              </a:defRPr>
            </a:lvl9pPr>
          </a:lstStyle>
          <a:p xmlns:a="http://schemas.openxmlformats.org/drawingml/2006/main">
            <a:pPr algn="l">
              <a:defRPr sz="5700" b="1">
                <a:solidFill>
                  <a:srgbClr val="2855DF"/>
                </a:solidFill>
                <a:latin typeface="Arial"/>
                <a:ea typeface="Arial"/>
                <a:cs typeface="Arial"/>
              </a:defRPr>
            </a:pPr>
            <a:r>
              <a:rPr sz="5700" b="1">
                <a:solidFill>
                  <a:srgbClr val="2855DF"/>
                </a:solidFill>
                <a:latin typeface="Arial"/>
                <a:ea typeface="Arial"/>
                <a:cs typeface="Arial"/>
              </a:rPr>
              <a:t>14,3%</a:t>
            </a:r>
          </a:p>
        </p:txBody>
      </p:sp>
      <p:sp>
        <p:nvSpPr>
          <p:cNvPr id="6" name="Доля онлайн-продаж&#10;в рознице РК за 2025 год">
            <a:extLst xmlns:a="http://schemas.openxmlformats.org/drawingml/2006/main">
              <a:ext uri="{FF2B5EF4-FFF2-40B4-BE49-F238E27FC236}">
                <a16:creationId xmlns:a16="http://schemas.microsoft.com/office/drawing/2014/main" id="{00F4C51A-626F-46AE-A70F-F1646242B347}"/>
              </a:ext>
            </a:extLst>
          </p:cNvPr>
          <p:cNvSpPr>
            <a:spLocks xmlns:a="http://schemas.openxmlformats.org/drawingml/2006/main" noGrp="1"/>
          </p:cNvSpPr>
          <p:nvPr/>
        </p:nvSpPr>
        <p:spPr>
          <a:xfrm xmlns:a="http://schemas.openxmlformats.org/drawingml/2006/main">
            <a:off x="609600" y="3228975"/>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Доля онлайн-продаж</a:t>
            </a:r>
          </a:p>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в рознице РК за 2025 год</a:t>
            </a:r>
          </a:p>
        </p:txBody>
      </p:sp>
      <p:sp>
        <p:nvSpPr>
          <p:cNvPr id="7" name="Показатель относится к обороту.&#10;Он не показывает долю бизнесов,&#10;и">
            <a:extLst xmlns:a="http://schemas.openxmlformats.org/drawingml/2006/main">
              <a:ext uri="{FF2B5EF4-FFF2-40B4-BE49-F238E27FC236}">
                <a16:creationId xmlns:a16="http://schemas.microsoft.com/office/drawing/2014/main" id="{E1818A17-379D-43D4-A4FB-12C7AF4CBDF1}"/>
              </a:ext>
            </a:extLst>
          </p:cNvPr>
          <p:cNvSpPr>
            <a:spLocks xmlns:a="http://schemas.openxmlformats.org/drawingml/2006/main" noGrp="1"/>
          </p:cNvSpPr>
          <p:nvPr/>
        </p:nvSpPr>
        <p:spPr>
          <a:xfrm xmlns:a="http://schemas.openxmlformats.org/drawingml/2006/main">
            <a:off x="609600" y="4457700"/>
            <a:ext cx="3619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Показатель относится к обороту.</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Он не показывает долю бизнесов,</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использующих цифровую доставку.</a:t>
            </a:r>
          </a:p>
        </p:txBody>
      </p:sp>
      <p:graphicFrame>
        <p:nvGraphicFramePr>
          <p:cNvPr id="8" name="">
            <a:extLst xmlns:a="http://schemas.openxmlformats.org/drawingml/2006/main">
              <a:ext uri="{FF2B5EF4-FFF2-40B4-BE49-F238E27FC236}">
                <a16:creationId xmlns:a16="http://schemas.microsoft.com/office/drawing/2014/main" id="{A9962162-BD49-462D-8B2E-E51728737410}"/>
              </a:ext>
            </a:extLst>
          </p:cNvPr>
          <p:cNvGraphicFramePr/>
          <p:nvPr/>
        </p:nvGraphicFramePr>
        <p:xfrm>
          <a:off xmlns:a="http://schemas.openxmlformats.org/drawingml/2006/main" x="4876800" y="2124075"/>
          <a:ext xmlns:a="http://schemas.openxmlformats.org/drawingml/2006/main" cx="6705600" cy="2667000"/>
        </p:xfrm>
        <a:graphic xmlns:a="http://schemas.openxmlformats.org/drawingml/2006/main">
          <a:graphicData uri="http://schemas.openxmlformats.org/drawingml/2006/table">
            <a:tbl>
              <a:tblPr/>
              <a:tblGrid>
                <a:gridCol w="2714625"/>
                <a:gridCol w="3990975"/>
              </a:tblGrid>
              <a:tr h="590550">
                <a:tc>
                  <a:txBody>
                    <a:bodyPr/>
                    <a:lstStyle/>
                    <a:p>
                      <a:r>
                        <a:rPr sz="1650" b="1">
                          <a:solidFill>
                            <a:srgbClr val="FFFFFF"/>
                          </a:solidFill>
                          <a:latin typeface="Arial"/>
                          <a:ea typeface="Arial"/>
                          <a:cs typeface="Arial"/>
                        </a:rPr>
                        <a:t>Текущий способ</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650" b="1">
                          <a:solidFill>
                            <a:srgbClr val="FFFFFF"/>
                          </a:solidFill>
                          <a:latin typeface="Arial"/>
                          <a:ea typeface="Arial"/>
                          <a:cs typeface="Arial"/>
                        </a:rPr>
                        <a:t>Что выясняем</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1725" b="0">
                          <a:solidFill>
                            <a:srgbClr val="143243"/>
                          </a:solidFill>
                          <a:latin typeface="Arial"/>
                          <a:ea typeface="Arial"/>
                          <a:cs typeface="Arial"/>
                        </a:rPr>
                        <a:t>Сервис доставки</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Частота, цена, условия выбора</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1725" b="0">
                          <a:solidFill>
                            <a:srgbClr val="143243"/>
                          </a:solidFill>
                          <a:latin typeface="Arial"/>
                          <a:ea typeface="Arial"/>
                          <a:cs typeface="Arial"/>
                        </a:rPr>
                        <a:t>Постоянный курьер</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Доступность и способ замены</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1725" b="0">
                          <a:solidFill>
                            <a:srgbClr val="143243"/>
                          </a:solidFill>
                          <a:latin typeface="Arial"/>
                          <a:ea typeface="Arial"/>
                          <a:cs typeface="Arial"/>
                        </a:rPr>
                        <a:t>Ручные договорённости</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Время и ошибки передачи данных</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9" name="Проникновение = n / N × 100%">
            <a:extLst xmlns:a="http://schemas.openxmlformats.org/drawingml/2006/main">
              <a:ext uri="{FF2B5EF4-FFF2-40B4-BE49-F238E27FC236}">
                <a16:creationId xmlns:a16="http://schemas.microsoft.com/office/drawing/2014/main" id="{F90AD7F1-FECD-40B8-9312-9DFEC9096507}"/>
              </a:ext>
            </a:extLst>
          </p:cNvPr>
          <p:cNvSpPr>
            <a:spLocks xmlns:a="http://schemas.openxmlformats.org/drawingml/2006/main" noGrp="1"/>
          </p:cNvSpPr>
          <p:nvPr/>
        </p:nvSpPr>
        <p:spPr>
          <a:xfrm xmlns:a="http://schemas.openxmlformats.org/drawingml/2006/main">
            <a:off x="4876800" y="5095875"/>
            <a:ext cx="670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Проникновение = n / N × 100%</a:t>
            </a:r>
          </a:p>
        </p:txBody>
      </p:sp>
      <p:sp>
        <p:nvSpPr>
          <p:cNvPr id="10" name="n — пользуются цифровым сервисом доставки&#10;N — все опрошенные бизн">
            <a:extLst xmlns:a="http://schemas.openxmlformats.org/drawingml/2006/main">
              <a:ext uri="{FF2B5EF4-FFF2-40B4-BE49-F238E27FC236}">
                <a16:creationId xmlns:a16="http://schemas.microsoft.com/office/drawing/2014/main" id="{86647305-1FB4-4249-866C-31DBFA983C80}"/>
              </a:ext>
            </a:extLst>
          </p:cNvPr>
          <p:cNvSpPr>
            <a:spLocks xmlns:a="http://schemas.openxmlformats.org/drawingml/2006/main" noGrp="1"/>
          </p:cNvSpPr>
          <p:nvPr/>
        </p:nvSpPr>
        <p:spPr>
          <a:xfrm xmlns:a="http://schemas.openxmlformats.org/drawingml/2006/main">
            <a:off x="4876800" y="5619750"/>
            <a:ext cx="6705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пользуются цифровым сервисом доставки</a:t>
            </a:r>
          </a:p>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все опрошенные бизнесы целевого сегмента</a:t>
            </a:r>
          </a:p>
        </p:txBody>
      </p:sp>
    </p:spTree>
    <p:extLst>
      <p:ext uri="{BB962C8B-B14F-4D97-AF65-F5344CB8AC3E}">
        <p14:creationId xmlns:p14="http://schemas.microsoft.com/office/powerpoint/2010/main" val="3676836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AM / SAM / SOM: базовый сценарий">
            <a:extLst xmlns:a="http://schemas.openxmlformats.org/drawingml/2006/main">
              <a:ext uri="{FF2B5EF4-FFF2-40B4-BE49-F238E27FC236}">
                <a16:creationId xmlns:a16="http://schemas.microsoft.com/office/drawing/2014/main" id="{7FBFC3DE-F76D-4C04-8D47-7509EB3A5C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TAM / SAM / SOM: базовый сценарий</a:t>
            </a:r>
          </a:p>
        </p:txBody>
      </p:sp>
      <p:sp>
        <p:nvSpPr>
          <p:cNvPr id="2" name="Все размеры клиентской базы и параметры монетизации ниже — допуще">
            <a:extLst xmlns:a="http://schemas.openxmlformats.org/drawingml/2006/main">
              <a:ext uri="{FF2B5EF4-FFF2-40B4-BE49-F238E27FC236}">
                <a16:creationId xmlns:a16="http://schemas.microsoft.com/office/drawing/2014/main" id="{AE6F3796-6975-446F-9E2E-003D09877B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Все размеры клиентской базы и параметры монетизации ниже — допущения</a:t>
            </a:r>
          </a:p>
        </p:txBody>
      </p:sp>
      <p:sp>
        <p:nvSpPr>
          <p:cNvPr id="3" name="Qadam Delivery">
            <a:extLst xmlns:a="http://schemas.openxmlformats.org/drawingml/2006/main">
              <a:ext uri="{FF2B5EF4-FFF2-40B4-BE49-F238E27FC236}">
                <a16:creationId xmlns:a16="http://schemas.microsoft.com/office/drawing/2014/main" id="{84063E45-7800-4A71-96BB-21AEC40F385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8">
            <a:extLst xmlns:a="http://schemas.openxmlformats.org/drawingml/2006/main">
              <a:ext uri="{FF2B5EF4-FFF2-40B4-BE49-F238E27FC236}">
                <a16:creationId xmlns:a16="http://schemas.microsoft.com/office/drawing/2014/main" id="{E80C5E45-330C-4BDC-A108-0A691C9959F0}"/>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E1888A2-E7A8-4E0A-8418-FAD01BAC2A97}"/>
              </a:ext>
            </a:extLst>
          </p:cNvPr>
          <p:cNvGraphicFramePr/>
          <p:nvPr/>
        </p:nvGraphicFramePr>
        <p:xfrm>
          <a:off xmlns:a="http://schemas.openxmlformats.org/drawingml/2006/main" x="609600" y="2114550"/>
          <a:ext xmlns:a="http://schemas.openxmlformats.org/drawingml/2006/main" cx="10972800" cy="2667000"/>
        </p:xfrm>
        <a:graphic xmlns:a="http://schemas.openxmlformats.org/drawingml/2006/main">
          <a:graphicData uri="http://schemas.openxmlformats.org/drawingml/2006/table">
            <a:tbl>
              <a:tblPr/>
              <a:tblGrid>
                <a:gridCol w="4524375"/>
                <a:gridCol w="2762250"/>
                <a:gridCol w="3686175"/>
              </a:tblGrid>
              <a:tr h="590550">
                <a:tc>
                  <a:txBody>
                    <a:bodyPr/>
                    <a:lstStyle/>
                    <a:p>
                      <a:r>
                        <a:rPr sz="1950" b="1">
                          <a:solidFill>
                            <a:srgbClr val="FFFFFF"/>
                          </a:solidFill>
                          <a:latin typeface="Arial"/>
                          <a:ea typeface="Arial"/>
                          <a:cs typeface="Arial"/>
                        </a:rPr>
                        <a:t>Уровень рынка</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Подходящие бизнесы</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Выручка Qadam в год</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2025" b="0">
                          <a:solidFill>
                            <a:srgbClr val="143243"/>
                          </a:solidFill>
                          <a:latin typeface="Arial"/>
                          <a:ea typeface="Arial"/>
                          <a:cs typeface="Arial"/>
                        </a:rPr>
                        <a:t>TAM: Казахстан</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10 000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1,44 млрд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2025" b="0">
                          <a:solidFill>
                            <a:srgbClr val="143243"/>
                          </a:solidFill>
                          <a:latin typeface="Arial"/>
                          <a:ea typeface="Arial"/>
                          <a:cs typeface="Arial"/>
                        </a:rPr>
                        <a:t>SAM: Алматы</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1 500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216 млн ₸</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2025" b="0">
                          <a:solidFill>
                            <a:srgbClr val="143243"/>
                          </a:solidFill>
                          <a:latin typeface="Arial"/>
                          <a:ea typeface="Arial"/>
                          <a:cs typeface="Arial"/>
                        </a:rPr>
                        <a:t>SOM: первые 1–2 года</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7,2 млн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50 бизнесов × 40 доставок × 300 ₸ × 12 = 7,2 млн ₸">
            <a:extLst xmlns:a="http://schemas.openxmlformats.org/drawingml/2006/main">
              <a:ext uri="{FF2B5EF4-FFF2-40B4-BE49-F238E27FC236}">
                <a16:creationId xmlns:a16="http://schemas.microsoft.com/office/drawing/2014/main" id="{627F776B-222C-43F0-9501-C615DBC31FC9}"/>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2855DF"/>
                </a:solidFill>
                <a:latin typeface="Arial"/>
                <a:ea typeface="Arial"/>
                <a:cs typeface="Arial"/>
              </a:defRPr>
            </a:defPPr>
            <a:lvl1pPr algn="l">
              <a:defRPr sz="2475" b="1">
                <a:solidFill>
                  <a:srgbClr val="2855DF"/>
                </a:solidFill>
                <a:latin typeface="Arial"/>
                <a:ea typeface="Arial"/>
                <a:cs typeface="Arial"/>
              </a:defRPr>
            </a:lvl1pPr>
            <a:lvl2pPr algn="l">
              <a:defRPr sz="2475" b="1">
                <a:solidFill>
                  <a:srgbClr val="2855DF"/>
                </a:solidFill>
                <a:latin typeface="Arial"/>
                <a:ea typeface="Arial"/>
                <a:cs typeface="Arial"/>
              </a:defRPr>
            </a:lvl2pPr>
            <a:lvl3pPr algn="l">
              <a:defRPr sz="2475" b="1">
                <a:solidFill>
                  <a:srgbClr val="2855DF"/>
                </a:solidFill>
                <a:latin typeface="Arial"/>
                <a:ea typeface="Arial"/>
                <a:cs typeface="Arial"/>
              </a:defRPr>
            </a:lvl3pPr>
            <a:lvl4pPr algn="l">
              <a:defRPr sz="2475" b="1">
                <a:solidFill>
                  <a:srgbClr val="2855DF"/>
                </a:solidFill>
                <a:latin typeface="Arial"/>
                <a:ea typeface="Arial"/>
                <a:cs typeface="Arial"/>
              </a:defRPr>
            </a:lvl4pPr>
            <a:lvl5pPr algn="l">
              <a:defRPr sz="2475" b="1">
                <a:solidFill>
                  <a:srgbClr val="2855DF"/>
                </a:solidFill>
                <a:latin typeface="Arial"/>
                <a:ea typeface="Arial"/>
                <a:cs typeface="Arial"/>
              </a:defRPr>
            </a:lvl5pPr>
            <a:lvl6pPr algn="l">
              <a:defRPr sz="2475" b="1">
                <a:solidFill>
                  <a:srgbClr val="2855DF"/>
                </a:solidFill>
                <a:latin typeface="Arial"/>
                <a:ea typeface="Arial"/>
                <a:cs typeface="Arial"/>
              </a:defRPr>
            </a:lvl6pPr>
            <a:lvl7pPr algn="l">
              <a:defRPr sz="2475" b="1">
                <a:solidFill>
                  <a:srgbClr val="2855DF"/>
                </a:solidFill>
                <a:latin typeface="Arial"/>
                <a:ea typeface="Arial"/>
                <a:cs typeface="Arial"/>
              </a:defRPr>
            </a:lvl7pPr>
            <a:lvl8pPr algn="l">
              <a:defRPr sz="2475" b="1">
                <a:solidFill>
                  <a:srgbClr val="2855DF"/>
                </a:solidFill>
                <a:latin typeface="Arial"/>
                <a:ea typeface="Arial"/>
                <a:cs typeface="Arial"/>
              </a:defRPr>
            </a:lvl8pPr>
            <a:lvl9pPr algn="l">
              <a:defRPr sz="2475" b="1">
                <a:solidFill>
                  <a:srgbClr val="2855DF"/>
                </a:solidFill>
                <a:latin typeface="Arial"/>
                <a:ea typeface="Arial"/>
                <a:cs typeface="Arial"/>
              </a:defRPr>
            </a:lvl9pPr>
          </a:lstStyle>
          <a:p xmlns:a="http://schemas.openxmlformats.org/drawingml/2006/main">
            <a:pPr algn="l">
              <a:defRPr sz="2475" b="1">
                <a:solidFill>
                  <a:srgbClr val="2855DF"/>
                </a:solidFill>
                <a:latin typeface="Arial"/>
                <a:ea typeface="Arial"/>
                <a:cs typeface="Arial"/>
              </a:defRPr>
            </a:pPr>
            <a:r>
              <a:rPr sz="2475" b="1">
                <a:solidFill>
                  <a:srgbClr val="2855DF"/>
                </a:solidFill>
                <a:latin typeface="Arial"/>
                <a:ea typeface="Arial"/>
                <a:cs typeface="Arial"/>
              </a:rPr>
              <a:t>50 бизнесов × 40 доставок × 300 ₸ × 12 = 7,2 млн ₸</a:t>
            </a:r>
          </a:p>
        </p:txBody>
      </p:sp>
      <p:sp>
        <p:nvSpPr>
          <p:cNvPr id="7" name="300 ₸ — предполагаемый доход платформы с заказа. Выплата курьеру ">
            <a:extLst xmlns:a="http://schemas.openxmlformats.org/drawingml/2006/main">
              <a:ext uri="{FF2B5EF4-FFF2-40B4-BE49-F238E27FC236}">
                <a16:creationId xmlns:a16="http://schemas.microsoft.com/office/drawing/2014/main" id="{B74B3157-970B-42BD-8D02-CEEF4BFF0340}"/>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300 ₸ — предполагаемый доход платформы с заказа. Выплата курьеру считается отдельно.</a:t>
            </a:r>
          </a:p>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SOM — годовой объём при достижении масштаба. Выручка указана до расходов.</a:t>
            </a:r>
          </a:p>
        </p:txBody>
      </p:sp>
    </p:spTree>
    <p:extLst>
      <p:ext uri="{BB962C8B-B14F-4D97-AF65-F5344CB8AC3E}">
        <p14:creationId xmlns:p14="http://schemas.microsoft.com/office/powerpoint/2010/main" val="2020511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Устойчивость модели и достижимость SOM">
            <a:extLst xmlns:a="http://schemas.openxmlformats.org/drawingml/2006/main">
              <a:ext uri="{FF2B5EF4-FFF2-40B4-BE49-F238E27FC236}">
                <a16:creationId xmlns:a16="http://schemas.microsoft.com/office/drawing/2014/main" id="{45E483B4-BB52-4208-84E6-DE3946C13A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Устойчивость модели и достижимость SOM</a:t>
            </a:r>
          </a:p>
        </p:txBody>
      </p:sp>
      <p:sp>
        <p:nvSpPr>
          <p:cNvPr id="2" name="Сценарии при 50 активных бизнесах. Это расчёт, а не прогноз прода">
            <a:extLst xmlns:a="http://schemas.openxmlformats.org/drawingml/2006/main">
              <a:ext uri="{FF2B5EF4-FFF2-40B4-BE49-F238E27FC236}">
                <a16:creationId xmlns:a16="http://schemas.microsoft.com/office/drawing/2014/main" id="{FD0B0099-4238-4C36-8082-046C394A27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Сценарии при 50 активных бизнесах. Это расчёт, а не прогноз продаж</a:t>
            </a:r>
          </a:p>
        </p:txBody>
      </p:sp>
      <p:sp>
        <p:nvSpPr>
          <p:cNvPr id="3" name="Qadam Delivery">
            <a:extLst xmlns:a="http://schemas.openxmlformats.org/drawingml/2006/main">
              <a:ext uri="{FF2B5EF4-FFF2-40B4-BE49-F238E27FC236}">
                <a16:creationId xmlns:a16="http://schemas.microsoft.com/office/drawing/2014/main" id="{1F8336C0-02C0-45DB-A8C4-517BD39CAEF2}"/>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9">
            <a:extLst xmlns:a="http://schemas.openxmlformats.org/drawingml/2006/main">
              <a:ext uri="{FF2B5EF4-FFF2-40B4-BE49-F238E27FC236}">
                <a16:creationId xmlns:a16="http://schemas.microsoft.com/office/drawing/2014/main" id="{420955E1-FE58-4988-B587-64464C912C8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B10EB39-9EAC-451A-AEA8-CE90DF5B11E8}"/>
              </a:ext>
            </a:extLst>
          </p:cNvPr>
          <p:cNvGraphicFramePr/>
          <p:nvPr/>
        </p:nvGraphicFramePr>
        <p:xfrm>
          <a:off xmlns:a="http://schemas.openxmlformats.org/drawingml/2006/main" x="609600" y="2114550"/>
          <a:ext xmlns:a="http://schemas.openxmlformats.org/drawingml/2006/main" cx="8810625" cy="2857500"/>
        </p:xfrm>
        <a:graphic xmlns:a="http://schemas.openxmlformats.org/drawingml/2006/main">
          <a:graphicData uri="http://schemas.openxmlformats.org/drawingml/2006/table">
            <a:tbl>
              <a:tblPr/>
              <a:tblGrid>
                <a:gridCol w="2286000"/>
                <a:gridCol w="2286000"/>
                <a:gridCol w="1809750"/>
                <a:gridCol w="2428875"/>
              </a:tblGrid>
              <a:tr h="590550">
                <a:tc>
                  <a:txBody>
                    <a:bodyPr/>
                    <a:lstStyle/>
                    <a:p>
                      <a:r>
                        <a:rPr sz="1725" b="1">
                          <a:solidFill>
                            <a:srgbClr val="FFFFFF"/>
                          </a:solidFill>
                          <a:latin typeface="Arial"/>
                          <a:ea typeface="Arial"/>
                          <a:cs typeface="Arial"/>
                        </a:rPr>
                        <a:t>Сценарий</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Доставок / месяц</a:t>
                      </a:r>
                    </a:p>
                    <a:p>
                      <a:r>
                        <a:rPr sz="1725" b="1">
                          <a:solidFill>
                            <a:srgbClr val="FFFFFF"/>
                          </a:solidFill>
                          <a:latin typeface="Arial"/>
                          <a:ea typeface="Arial"/>
                          <a:cs typeface="Arial"/>
                        </a:rPr>
                        <a:t>на бизнес</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Доход с</a:t>
                      </a:r>
                    </a:p>
                    <a:p>
                      <a:r>
                        <a:rPr sz="1725" b="1">
                          <a:solidFill>
                            <a:srgbClr val="FFFFFF"/>
                          </a:solidFill>
                          <a:latin typeface="Arial"/>
                          <a:ea typeface="Arial"/>
                          <a:cs typeface="Arial"/>
                        </a:rPr>
                        <a:t>заказа</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Выручка</a:t>
                      </a:r>
                    </a:p>
                    <a:p>
                      <a:r>
                        <a:rPr sz="1725" b="1">
                          <a:solidFill>
                            <a:srgbClr val="FFFFFF"/>
                          </a:solidFill>
                          <a:latin typeface="Arial"/>
                          <a:ea typeface="Arial"/>
                          <a:cs typeface="Arial"/>
                        </a:rPr>
                        <a:t>в год</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55650">
                <a:tc>
                  <a:txBody>
                    <a:bodyPr/>
                    <a:lstStyle/>
                    <a:p>
                      <a:r>
                        <a:rPr sz="1800" b="0">
                          <a:solidFill>
                            <a:srgbClr val="143243"/>
                          </a:solidFill>
                          <a:latin typeface="Arial"/>
                          <a:ea typeface="Arial"/>
                          <a:cs typeface="Arial"/>
                        </a:rPr>
                        <a:t>Осторожный</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25</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200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3,0 млн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55650">
                <a:tc>
                  <a:txBody>
                    <a:bodyPr/>
                    <a:lstStyle/>
                    <a:p>
                      <a:r>
                        <a:rPr sz="1800" b="0">
                          <a:solidFill>
                            <a:srgbClr val="143243"/>
                          </a:solidFill>
                          <a:latin typeface="Arial"/>
                          <a:ea typeface="Arial"/>
                          <a:cs typeface="Arial"/>
                        </a:rPr>
                        <a:t>Базовый</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40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300 ₸</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7,2 млн ₸</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55650">
                <a:tc>
                  <a:txBody>
                    <a:bodyPr/>
                    <a:lstStyle/>
                    <a:p>
                      <a:r>
                        <a:rPr sz="1800" b="0">
                          <a:solidFill>
                            <a:srgbClr val="143243"/>
                          </a:solidFill>
                          <a:latin typeface="Arial"/>
                          <a:ea typeface="Arial"/>
                          <a:cs typeface="Arial"/>
                        </a:rPr>
                        <a:t>Высокий</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60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350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12,6 млн ₸</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2 000">
            <a:extLst xmlns:a="http://schemas.openxmlformats.org/drawingml/2006/main">
              <a:ext uri="{FF2B5EF4-FFF2-40B4-BE49-F238E27FC236}">
                <a16:creationId xmlns:a16="http://schemas.microsoft.com/office/drawing/2014/main" id="{7B443F37-0E09-4CB6-8086-E689A301ACCE}"/>
              </a:ext>
            </a:extLst>
          </p:cNvPr>
          <p:cNvSpPr>
            <a:spLocks xmlns:a="http://schemas.openxmlformats.org/drawingml/2006/main" noGrp="1"/>
          </p:cNvSpPr>
          <p:nvPr/>
        </p:nvSpPr>
        <p:spPr>
          <a:xfrm xmlns:a="http://schemas.openxmlformats.org/drawingml/2006/main">
            <a:off x="9734550" y="220980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855DF"/>
                </a:solidFill>
                <a:latin typeface="Arial"/>
                <a:ea typeface="Arial"/>
                <a:cs typeface="Arial"/>
              </a:defRPr>
            </a:defPPr>
            <a:lvl1pPr algn="l">
              <a:defRPr sz="4050" b="1">
                <a:solidFill>
                  <a:srgbClr val="2855DF"/>
                </a:solidFill>
                <a:latin typeface="Arial"/>
                <a:ea typeface="Arial"/>
                <a:cs typeface="Arial"/>
              </a:defRPr>
            </a:lvl1pPr>
            <a:lvl2pPr algn="l">
              <a:defRPr sz="4050" b="1">
                <a:solidFill>
                  <a:srgbClr val="2855DF"/>
                </a:solidFill>
                <a:latin typeface="Arial"/>
                <a:ea typeface="Arial"/>
                <a:cs typeface="Arial"/>
              </a:defRPr>
            </a:lvl2pPr>
            <a:lvl3pPr algn="l">
              <a:defRPr sz="4050" b="1">
                <a:solidFill>
                  <a:srgbClr val="2855DF"/>
                </a:solidFill>
                <a:latin typeface="Arial"/>
                <a:ea typeface="Arial"/>
                <a:cs typeface="Arial"/>
              </a:defRPr>
            </a:lvl3pPr>
            <a:lvl4pPr algn="l">
              <a:defRPr sz="4050" b="1">
                <a:solidFill>
                  <a:srgbClr val="2855DF"/>
                </a:solidFill>
                <a:latin typeface="Arial"/>
                <a:ea typeface="Arial"/>
                <a:cs typeface="Arial"/>
              </a:defRPr>
            </a:lvl4pPr>
            <a:lvl5pPr algn="l">
              <a:defRPr sz="4050" b="1">
                <a:solidFill>
                  <a:srgbClr val="2855DF"/>
                </a:solidFill>
                <a:latin typeface="Arial"/>
                <a:ea typeface="Arial"/>
                <a:cs typeface="Arial"/>
              </a:defRPr>
            </a:lvl5pPr>
            <a:lvl6pPr algn="l">
              <a:defRPr sz="4050" b="1">
                <a:solidFill>
                  <a:srgbClr val="2855DF"/>
                </a:solidFill>
                <a:latin typeface="Arial"/>
                <a:ea typeface="Arial"/>
                <a:cs typeface="Arial"/>
              </a:defRPr>
            </a:lvl6pPr>
            <a:lvl7pPr algn="l">
              <a:defRPr sz="4050" b="1">
                <a:solidFill>
                  <a:srgbClr val="2855DF"/>
                </a:solidFill>
                <a:latin typeface="Arial"/>
                <a:ea typeface="Arial"/>
                <a:cs typeface="Arial"/>
              </a:defRPr>
            </a:lvl7pPr>
            <a:lvl8pPr algn="l">
              <a:defRPr sz="4050" b="1">
                <a:solidFill>
                  <a:srgbClr val="2855DF"/>
                </a:solidFill>
                <a:latin typeface="Arial"/>
                <a:ea typeface="Arial"/>
                <a:cs typeface="Arial"/>
              </a:defRPr>
            </a:lvl8pPr>
            <a:lvl9pPr algn="l">
              <a:defRPr sz="4050" b="1">
                <a:solidFill>
                  <a:srgbClr val="2855DF"/>
                </a:solidFill>
                <a:latin typeface="Arial"/>
                <a:ea typeface="Arial"/>
                <a:cs typeface="Arial"/>
              </a:defRPr>
            </a:lvl9pPr>
          </a:lstStyle>
          <a:p xmlns:a="http://schemas.openxmlformats.org/drawingml/2006/main">
            <a:pPr algn="l">
              <a:defRPr sz="4050" b="1">
                <a:solidFill>
                  <a:srgbClr val="2855DF"/>
                </a:solidFill>
                <a:latin typeface="Arial"/>
                <a:ea typeface="Arial"/>
                <a:cs typeface="Arial"/>
              </a:defRPr>
            </a:pPr>
            <a:r>
              <a:rPr sz="4050" b="1">
                <a:solidFill>
                  <a:srgbClr val="2855DF"/>
                </a:solidFill>
                <a:latin typeface="Arial"/>
                <a:ea typeface="Arial"/>
                <a:cs typeface="Arial"/>
              </a:rPr>
              <a:t>2 000</a:t>
            </a:r>
          </a:p>
        </p:txBody>
      </p:sp>
      <p:sp>
        <p:nvSpPr>
          <p:cNvPr id="7" name="доставок&#10;в месяц&#10;в базовом&#10;сценарии">
            <a:extLst xmlns:a="http://schemas.openxmlformats.org/drawingml/2006/main">
              <a:ext uri="{FF2B5EF4-FFF2-40B4-BE49-F238E27FC236}">
                <a16:creationId xmlns:a16="http://schemas.microsoft.com/office/drawing/2014/main" id="{9E29DB43-E0FA-413F-BE50-E061005CD9A6}"/>
              </a:ext>
            </a:extLst>
          </p:cNvPr>
          <p:cNvSpPr>
            <a:spLocks xmlns:a="http://schemas.openxmlformats.org/drawingml/2006/main" noGrp="1"/>
          </p:cNvSpPr>
          <p:nvPr/>
        </p:nvSpPr>
        <p:spPr>
          <a:xfrm xmlns:a="http://schemas.openxmlformats.org/drawingml/2006/main">
            <a:off x="9734550" y="3200400"/>
            <a:ext cx="190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доставок</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в месяц</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в базовом</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сценарии</a:t>
            </a:r>
          </a:p>
        </p:txBody>
      </p:sp>
      <p:sp>
        <p:nvSpPr>
          <p:cNvPr id="8" name="Привлечение: 5 участников пилота, 20 активных бизнесов к 12-му ме">
            <a:extLst xmlns:a="http://schemas.openxmlformats.org/drawingml/2006/main">
              <a:ext uri="{FF2B5EF4-FFF2-40B4-BE49-F238E27FC236}">
                <a16:creationId xmlns:a16="http://schemas.microsoft.com/office/drawing/2014/main" id="{33C2B080-0E2E-4FB2-9B09-D3D9123ADDFA}"/>
              </a:ext>
            </a:extLst>
          </p:cNvPr>
          <p:cNvSpPr>
            <a:spLocks xmlns:a="http://schemas.openxmlformats.org/drawingml/2006/main" noGrp="1"/>
          </p:cNvSpPr>
          <p:nvPr/>
        </p:nvSpPr>
        <p:spPr>
          <a:xfrm xmlns:a="http://schemas.openxmlformats.org/drawingml/2006/main">
            <a:off x="609600" y="5334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Привлечение: 5 участников пилота, 20 активных бизнесов к 12-му месяцу, 50 к 24-му.</a:t>
            </a:r>
          </a:p>
        </p:txBody>
      </p:sp>
      <p:sp>
        <p:nvSpPr>
          <p:cNvPr id="9" name="Проверка мощности: 12 курьеров × 8 доставок × 26 дней = 2 496 дос">
            <a:extLst xmlns:a="http://schemas.openxmlformats.org/drawingml/2006/main">
              <a:ext uri="{FF2B5EF4-FFF2-40B4-BE49-F238E27FC236}">
                <a16:creationId xmlns:a16="http://schemas.microsoft.com/office/drawing/2014/main" id="{01B08A26-54EC-4CFB-A182-7FEDF67265AD}"/>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Проверка мощности: 12 курьеров × 8 доставок × 26 дней = 2 496 доставок в месяц. Допущение.</a:t>
            </a:r>
          </a:p>
        </p:txBody>
      </p:sp>
    </p:spTree>
    <p:extLst>
      <p:ext uri="{BB962C8B-B14F-4D97-AF65-F5344CB8AC3E}">
        <p14:creationId xmlns:p14="http://schemas.microsoft.com/office/powerpoint/2010/main" val="1331451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илот на реальных заказах">
            <a:extLst xmlns:a="http://schemas.openxmlformats.org/drawingml/2006/main">
              <a:ext uri="{FF2B5EF4-FFF2-40B4-BE49-F238E27FC236}">
                <a16:creationId xmlns:a16="http://schemas.microsoft.com/office/drawing/2014/main" id="{014CFE63-A29A-4B42-AE84-7EC62DF3D8C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Пилот на реальных заказах</a:t>
            </a:r>
          </a:p>
        </p:txBody>
      </p:sp>
      <p:sp>
        <p:nvSpPr>
          <p:cNvPr id="2" name="План на 4 недели: 5 бизнесов, 4 курьера, цель — 50 завершённых до">
            <a:extLst xmlns:a="http://schemas.openxmlformats.org/drawingml/2006/main">
              <a:ext uri="{FF2B5EF4-FFF2-40B4-BE49-F238E27FC236}">
                <a16:creationId xmlns:a16="http://schemas.microsoft.com/office/drawing/2014/main" id="{3D08D957-1667-448D-96BF-A94CFB127886}"/>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План на 4 недели: 5 бизнесов, 4 курьера, цель — 50 завершённых доставок</a:t>
            </a:r>
          </a:p>
        </p:txBody>
      </p:sp>
      <p:sp>
        <p:nvSpPr>
          <p:cNvPr id="3" name="Qadam Delivery">
            <a:extLst xmlns:a="http://schemas.openxmlformats.org/drawingml/2006/main">
              <a:ext uri="{FF2B5EF4-FFF2-40B4-BE49-F238E27FC236}">
                <a16:creationId xmlns:a16="http://schemas.microsoft.com/office/drawing/2014/main" id="{354C8F22-344A-419E-82B1-7536546CA54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10">
            <a:extLst xmlns:a="http://schemas.openxmlformats.org/drawingml/2006/main">
              <a:ext uri="{FF2B5EF4-FFF2-40B4-BE49-F238E27FC236}">
                <a16:creationId xmlns:a16="http://schemas.microsoft.com/office/drawing/2014/main" id="{C13389D7-6E67-4BB4-B635-3D6B64D7434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B1E4EFD-6AF5-493D-9031-394882D7A71B}"/>
              </a:ext>
            </a:extLst>
          </p:cNvPr>
          <p:cNvGraphicFramePr/>
          <p:nvPr/>
        </p:nvGraphicFramePr>
        <p:xfrm>
          <a:off xmlns:a="http://schemas.openxmlformats.org/drawingml/2006/main" x="609600" y="2114550"/>
          <a:ext xmlns:a="http://schemas.openxmlformats.org/drawingml/2006/main" cx="10972800" cy="3190875"/>
        </p:xfrm>
        <a:graphic xmlns:a="http://schemas.openxmlformats.org/drawingml/2006/main">
          <a:graphicData uri="http://schemas.openxmlformats.org/drawingml/2006/table">
            <a:tbl>
              <a:tblPr/>
              <a:tblGrid>
                <a:gridCol w="3048000"/>
                <a:gridCol w="7924800"/>
              </a:tblGrid>
              <a:tr h="590550">
                <a:tc>
                  <a:txBody>
                    <a:bodyPr/>
                    <a:lstStyle/>
                    <a:p>
                      <a:r>
                        <a:rPr sz="1725" b="1">
                          <a:solidFill>
                            <a:srgbClr val="FFFFFF"/>
                          </a:solidFill>
                          <a:latin typeface="Arial"/>
                          <a:ea typeface="Arial"/>
                          <a:cs typeface="Arial"/>
                        </a:rPr>
                        <a:t>Проверка</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Условие продолжения</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50081">
                <a:tc>
                  <a:txBody>
                    <a:bodyPr/>
                    <a:lstStyle/>
                    <a:p>
                      <a:r>
                        <a:rPr sz="1800" b="0">
                          <a:solidFill>
                            <a:srgbClr val="143243"/>
                          </a:solidFill>
                          <a:latin typeface="Arial"/>
                          <a:ea typeface="Arial"/>
                          <a:cs typeface="Arial"/>
                        </a:rPr>
                        <a:t>Платёжный спрос</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из 5 бизнесов оплачивают согласованный пилот</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Повторные заказы</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из 5 бизнесов возвращаются после первой недели</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50081">
                <a:tc>
                  <a:txBody>
                    <a:bodyPr/>
                    <a:lstStyle/>
                    <a:p>
                      <a:r>
                        <a:rPr sz="1800" b="0">
                          <a:solidFill>
                            <a:srgbClr val="143243"/>
                          </a:solidFill>
                          <a:latin typeface="Arial"/>
                          <a:ea typeface="Arial"/>
                          <a:cs typeface="Arial"/>
                        </a:rPr>
                        <a:t>Польза и надёжность</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Координация быстрее на 30%. ≥90% доставок в срок</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Экономика заказа</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Положительный вклад после переменных затрат</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Основа пилота — учебный MVP Qadam Delivery">
            <a:extLst xmlns:a="http://schemas.openxmlformats.org/drawingml/2006/main">
              <a:ext uri="{FF2B5EF4-FFF2-40B4-BE49-F238E27FC236}">
                <a16:creationId xmlns:a16="http://schemas.microsoft.com/office/drawing/2014/main" id="{5B41EBC9-9559-45B0-8CE4-4E8EEDEB6EBD}"/>
              </a:ext>
            </a:extLst>
          </p:cNvPr>
          <p:cNvSpPr>
            <a:spLocks xmlns:a="http://schemas.openxmlformats.org/drawingml/2006/main" noGrp="1"/>
          </p:cNvSpPr>
          <p:nvPr/>
        </p:nvSpPr>
        <p:spPr>
          <a:xfrm xmlns:a="http://schemas.openxmlformats.org/drawingml/2006/main">
            <a:off x="609600" y="5600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55DF"/>
                </a:solidFill>
                <a:latin typeface="Arial"/>
                <a:ea typeface="Arial"/>
                <a:cs typeface="Arial"/>
              </a:defRPr>
            </a:defPPr>
            <a:lvl1pPr algn="l">
              <a:defRPr sz="2325" b="1">
                <a:solidFill>
                  <a:srgbClr val="2855DF"/>
                </a:solidFill>
                <a:latin typeface="Arial"/>
                <a:ea typeface="Arial"/>
                <a:cs typeface="Arial"/>
              </a:defRPr>
            </a:lvl1pPr>
            <a:lvl2pPr algn="l">
              <a:defRPr sz="2325" b="1">
                <a:solidFill>
                  <a:srgbClr val="2855DF"/>
                </a:solidFill>
                <a:latin typeface="Arial"/>
                <a:ea typeface="Arial"/>
                <a:cs typeface="Arial"/>
              </a:defRPr>
            </a:lvl2pPr>
            <a:lvl3pPr algn="l">
              <a:defRPr sz="2325" b="1">
                <a:solidFill>
                  <a:srgbClr val="2855DF"/>
                </a:solidFill>
                <a:latin typeface="Arial"/>
                <a:ea typeface="Arial"/>
                <a:cs typeface="Arial"/>
              </a:defRPr>
            </a:lvl3pPr>
            <a:lvl4pPr algn="l">
              <a:defRPr sz="2325" b="1">
                <a:solidFill>
                  <a:srgbClr val="2855DF"/>
                </a:solidFill>
                <a:latin typeface="Arial"/>
                <a:ea typeface="Arial"/>
                <a:cs typeface="Arial"/>
              </a:defRPr>
            </a:lvl4pPr>
            <a:lvl5pPr algn="l">
              <a:defRPr sz="2325" b="1">
                <a:solidFill>
                  <a:srgbClr val="2855DF"/>
                </a:solidFill>
                <a:latin typeface="Arial"/>
                <a:ea typeface="Arial"/>
                <a:cs typeface="Arial"/>
              </a:defRPr>
            </a:lvl5pPr>
            <a:lvl6pPr algn="l">
              <a:defRPr sz="2325" b="1">
                <a:solidFill>
                  <a:srgbClr val="2855DF"/>
                </a:solidFill>
                <a:latin typeface="Arial"/>
                <a:ea typeface="Arial"/>
                <a:cs typeface="Arial"/>
              </a:defRPr>
            </a:lvl6pPr>
            <a:lvl7pPr algn="l">
              <a:defRPr sz="2325" b="1">
                <a:solidFill>
                  <a:srgbClr val="2855DF"/>
                </a:solidFill>
                <a:latin typeface="Arial"/>
                <a:ea typeface="Arial"/>
                <a:cs typeface="Arial"/>
              </a:defRPr>
            </a:lvl7pPr>
            <a:lvl8pPr algn="l">
              <a:defRPr sz="2325" b="1">
                <a:solidFill>
                  <a:srgbClr val="2855DF"/>
                </a:solidFill>
                <a:latin typeface="Arial"/>
                <a:ea typeface="Arial"/>
                <a:cs typeface="Arial"/>
              </a:defRPr>
            </a:lvl8pPr>
            <a:lvl9pPr algn="l">
              <a:defRPr sz="2325" b="1">
                <a:solidFill>
                  <a:srgbClr val="2855DF"/>
                </a:solidFill>
                <a:latin typeface="Arial"/>
                <a:ea typeface="Arial"/>
                <a:cs typeface="Arial"/>
              </a:defRPr>
            </a:lvl9pPr>
          </a:lstStyle>
          <a:p xmlns:a="http://schemas.openxmlformats.org/drawingml/2006/main">
            <a:pPr algn="l">
              <a:defRPr sz="2325" b="1">
                <a:solidFill>
                  <a:srgbClr val="2855DF"/>
                </a:solidFill>
                <a:latin typeface="Arial"/>
                <a:ea typeface="Arial"/>
                <a:cs typeface="Arial"/>
              </a:defRPr>
            </a:pPr>
            <a:r>
              <a:rPr sz="2325" b="1">
                <a:solidFill>
                  <a:srgbClr val="2855DF"/>
                </a:solidFill>
                <a:latin typeface="Arial"/>
                <a:ea typeface="Arial"/>
                <a:cs typeface="Arial"/>
              </a:rPr>
              <a:t>Основа пилота — учебный MVP Qadam Delivery</a:t>
            </a:r>
          </a:p>
        </p:txBody>
      </p:sp>
      <p:sp>
        <p:nvSpPr>
          <p:cNvPr id="7" name="Проблему, цену и локальное проникновение подтвердим полевым иссле">
            <a:extLst xmlns:a="http://schemas.openxmlformats.org/drawingml/2006/main">
              <a:ext uri="{FF2B5EF4-FFF2-40B4-BE49-F238E27FC236}">
                <a16:creationId xmlns:a16="http://schemas.microsoft.com/office/drawing/2014/main" id="{5EA3068E-81C1-4961-A02D-E42B5DA775F8}"/>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Проблему, цену и локальное проникновение подтвердим полевым исследованием.</a:t>
            </a:r>
          </a:p>
        </p:txBody>
      </p:sp>
    </p:spTree>
    <p:extLst>
      <p:ext uri="{BB962C8B-B14F-4D97-AF65-F5344CB8AC3E}">
        <p14:creationId xmlns:p14="http://schemas.microsoft.com/office/powerpoint/2010/main" val="2113616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2026-10-23T12:43:58.6160000Z</dcterms:created>
  <dcterms:modified xsi:type="dcterms:W3CDTF">2026-10-23T12:43:58.6160000Z</dcterms:modified>
</coreProperties>
</file>